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finished product. This is the real application using a scratch SQLite database, not a mock. The intentionally narrow scope keeps the review on correctness, architectural boundaries, and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exercise is deliberately smaller than a retail bank. Two accounts and three operations are enough to expose the financial rules. Everything else is excluded until a real requirement earns the complexity.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Solid arrows show dependencies pointing inward. Infrastructure implements Application ports. Web references Infrastructure only in the composition root. ADR-0002 records this modular-monolith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ADRs explain why each choice fits the exercise. This slide keeps the tradeoff visible: every simplification accepts a constraint. The common choice is the smallest architecture that keeps rules and boundaries legible.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screenshot is a real rejected overdraft. The typed value stays visible, the error names the available balance, and persisted state is unchanged. Account versions turn stale writes into a safe retry instead of lost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Domain tests are pure. Application tests use hand-written fakes. Integration and HTTP tests exercise the real host with an isolated SQLite file per test, including concurrency conflicts, atomic rollback, Post/Redirect/Get, security, and accessibility structure. Commands: dotnet restore Atm.sln; dotnet build Atm.sln --no-restore; dotnet test Atm.sln --no-build.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omissions are conscious. The roadmap begins with the correctness gap that Post/Redirect/Get does not solve: a retried network request. The phone capture proves the existing presentation adapter already reflows at 380 pixels.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85216" y="45720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85216" y="850392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ATM</a:t>
            </a:r>
            <a:endParaRPr lang="en-US" sz="4700" dirty="0"/>
          </a:p>
        </p:txBody>
      </p:sp>
      <p:sp>
        <p:nvSpPr>
          <p:cNvPr id="4" name="Text 2"/>
          <p:cNvSpPr txBox="1"/>
          <p:nvPr/>
        </p:nvSpPr>
        <p:spPr>
          <a:xfrm>
            <a:off x="585216" y="1463040"/>
            <a:ext cx="3182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Coding Exercise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2267712"/>
            <a:ext cx="2926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Financial correctness,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made inspectable.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3493008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accounts, persisted locally,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covered by 143 tests.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813048" y="457200"/>
            <a:ext cx="4745736" cy="3694176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8" name="Image 0" descr="/Users/john/theborg/repos/atm/design/screenshot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9624" y="493776"/>
            <a:ext cx="4672584" cy="362102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813048" y="4279392"/>
            <a:ext cx="474573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Real application. Real transactions.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F67F00"/>
          </a:solidFill>
          <a:ln w="12700">
            <a:solidFill>
              <a:srgbClr val="F67F0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Problem framing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225296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GOALS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4645152" y="1225296"/>
            <a:ext cx="3429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BOUNDARIES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315968" y="1197864"/>
            <a:ext cx="0" cy="2560320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" y="1764792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Two persistent accounts</a:t>
            </a:r>
            <a:endParaRPr lang="en-US" sz="185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2404872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Deposit, withdraw, transfer</a:t>
            </a:r>
            <a:endParaRPr lang="en-US" sz="1850" dirty="0"/>
          </a:p>
        </p:txBody>
      </p:sp>
      <p:sp>
        <p:nvSpPr>
          <p:cNvPr id="12" name="Text 9"/>
          <p:cNvSpPr txBox="1"/>
          <p:nvPr/>
        </p:nvSpPr>
        <p:spPr>
          <a:xfrm>
            <a:off x="585216" y="3044952"/>
            <a:ext cx="3493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Explain every balance</a:t>
            </a:r>
            <a:endParaRPr lang="en-US" sz="1850" dirty="0"/>
          </a:p>
        </p:txBody>
      </p:sp>
      <p:sp>
        <p:nvSpPr>
          <p:cNvPr id="13" name="Text 10"/>
          <p:cNvSpPr txBox="1"/>
          <p:nvPr/>
        </p:nvSpPr>
        <p:spPr>
          <a:xfrm>
            <a:off x="4645152" y="1764792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One local user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4645152" y="2624328"/>
            <a:ext cx="36941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No speculative infrastructure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85216" y="3913632"/>
            <a:ext cx="7973568" cy="0"/>
          </a:xfrm>
          <a:prstGeom prst="line">
            <a:avLst/>
          </a:prstGeom>
          <a:noFill/>
          <a:ln w="27940">
            <a:solidFill>
              <a:srgbClr val="F67F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5216" y="4096512"/>
            <a:ext cx="797356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Clarity is the quality bar.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77F6"/>
          </a:solidFill>
          <a:ln w="12700">
            <a:solidFill>
              <a:srgbClr val="0077F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Architecture and dependency direction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85216" y="1572768"/>
            <a:ext cx="1280160" cy="100584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6656" y="1901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Browser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139696" y="1572768"/>
            <a:ext cx="1426464" cy="100584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31136" y="1901952"/>
            <a:ext cx="1243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Web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931920" y="1572768"/>
            <a:ext cx="1627632" cy="100584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023360" y="1901952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934456" y="1572768"/>
            <a:ext cx="2624328" cy="1005840"/>
          </a:xfrm>
          <a:prstGeom prst="rect">
            <a:avLst/>
          </a:prstGeom>
          <a:solidFill>
            <a:srgbClr val="0077F6"/>
          </a:solidFill>
          <a:ln w="16510">
            <a:solidFill>
              <a:srgbClr val="0077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025896" y="1901952"/>
            <a:ext cx="2441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Domain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1865376" y="2075688"/>
            <a:ext cx="274320" cy="914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3566160" y="2075688"/>
            <a:ext cx="365760" cy="914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559552" y="2075688"/>
            <a:ext cx="374904" cy="914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3931920" y="3154680"/>
            <a:ext cx="1627632" cy="73152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041648" y="3383280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 flipV="1">
            <a:off x="4745736" y="2578608"/>
            <a:ext cx="914" cy="576072"/>
          </a:xfrm>
          <a:prstGeom prst="line">
            <a:avLst/>
          </a:prstGeom>
          <a:noFill/>
          <a:ln w="19050">
            <a:solidFill>
              <a:srgbClr val="0077F6"/>
            </a:solidFill>
            <a:prstDash val="solid"/>
            <a:tailEnd type="triangle"/>
          </a:ln>
        </p:spPr>
      </p:sp>
      <p:sp>
        <p:nvSpPr>
          <p:cNvPr id="21" name="Text 18"/>
          <p:cNvSpPr txBox="1"/>
          <p:nvPr/>
        </p:nvSpPr>
        <p:spPr>
          <a:xfrm>
            <a:off x="4919472" y="2779776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implements ports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871216" y="2578608"/>
            <a:ext cx="1060704" cy="932688"/>
          </a:xfrm>
          <a:prstGeom prst="line">
            <a:avLst/>
          </a:prstGeom>
          <a:noFill/>
          <a:ln w="19050">
            <a:solidFill>
              <a:srgbClr val="A9ADB3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2633472" y="3127248"/>
            <a:ext cx="1133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composition only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85216" y="4242816"/>
            <a:ext cx="79735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Business rules depend on nothing external.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F67F00"/>
          </a:solidFill>
          <a:ln w="12700">
            <a:solidFill>
              <a:srgbClr val="F67F0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Decisions and costs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" y="1161288"/>
          <a:ext cx="7973568" cy="3346704"/>
        </p:xfrm>
        <a:graphic>
          <a:graphicData uri="http://schemas.openxmlformats.org/drawingml/2006/table">
            <a:tbl>
              <a:tblPr/>
              <a:tblGrid>
                <a:gridCol w="3977640"/>
                <a:gridCol w="399592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7F0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DECISION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7F00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COST</a:t>
                      </a:r>
                      <a:endParaRPr lang="en-US" sz="125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Razor Pages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Less client interactivity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Modular monolith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Extra project structure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SQLite + EF Core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Single-writer ceiling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decimal Money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USD remains implicit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5F5F5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Single user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A9ADB3"/>
                          </a:solidFill>
                          <a:latin typeface="Avenir Next" pitchFamily="34" charset="0"/>
                          <a:ea typeface="Avenir Next" pitchFamily="34" charset="-122"/>
                          <a:cs typeface="Avenir Next" pitchFamily="34" charset="-120"/>
                        </a:rPr>
                        <a:t>No user isolation</a:t>
                      </a:r>
                      <a:endParaRPr lang="en-US" sz="1700" dirty="0">
                        <a:latin typeface="Avenir Next" charset="0"/>
                        <a:ea typeface="Avenir Next" charset="0"/>
                        <a:cs typeface="Avenir Next" charset="0"/>
                      </a:endParaRPr>
                    </a:p>
                  </a:txBody>
                  <a:tcPr marL="91440" marR="91440" marT="91440" marB="91440" anchor="mid">
                    <a:lnL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333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F67F00"/>
          </a:solidFill>
          <a:ln w="12700">
            <a:solidFill>
              <a:srgbClr val="F67F0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Failure leaves no partial state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05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30759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1115568" y="126187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Validate before mutation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585216" y="231343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2677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Commit balance and history together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585216" y="33192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03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1115568" y="327355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Reject stale writes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233672" y="1133856"/>
            <a:ext cx="4325112" cy="3282696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14" name="Image 0" descr="/Users/john/theborg/repos/atm/design/screenshots/overdra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0248" y="1170432"/>
            <a:ext cx="4251960" cy="32095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4233672" y="4489704"/>
            <a:ext cx="4325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67F0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Rejected overdraft. Persisted state stays unchanged.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F604"/>
          </a:solidFill>
          <a:ln w="12700">
            <a:solidFill>
              <a:srgbClr val="00F604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143 tests. Every boundary.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225296"/>
            <a:ext cx="841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75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508760" y="1243584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Domain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1572768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Invariants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85216" y="2203704"/>
            <a:ext cx="841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33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221992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Application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508760" y="2551176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Orchestration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85216" y="3182112"/>
            <a:ext cx="841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35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1508760" y="3200400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Integration + HTTP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508760" y="3529584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Persistence and HTTP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800600" y="1115568"/>
            <a:ext cx="3758184" cy="2926080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17" name="Image 0" descr="/Users/john/theborg/repos/atm/design/screenshots/receip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7176" y="1152144"/>
            <a:ext cx="3685032" cy="285292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800600" y="4187952"/>
            <a:ext cx="3758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00F604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 real receipt after redirect.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356616"/>
            <a:ext cx="91440" cy="438912"/>
          </a:xfrm>
          <a:prstGeom prst="rect">
            <a:avLst/>
          </a:prstGeom>
          <a:solidFill>
            <a:srgbClr val="0077F6"/>
          </a:solidFill>
          <a:ln w="12700">
            <a:solidFill>
              <a:srgbClr val="0077F6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32104" y="356616"/>
            <a:ext cx="7726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Tradeoffs and roadmap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85216" y="4745736"/>
            <a:ext cx="7973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156448" y="4791456"/>
            <a:ext cx="4023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DB3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07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85216" y="11887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OMITTED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85216" y="1627632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Identity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585216" y="228600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Banking breadth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585216" y="2944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Distributed operations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3054096" y="1179576"/>
            <a:ext cx="0" cy="3054096"/>
          </a:xfrm>
          <a:prstGeom prst="line">
            <a:avLst/>
          </a:prstGeom>
          <a:noFill/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383280" y="118872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NEXT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3383280" y="1536192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Idempotency, auditing, authentication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3383280" y="2167128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THEN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2514600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Accessibility, observability, load tests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383280" y="314553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LATER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3383280" y="3493008"/>
            <a:ext cx="24871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Deployment, browser coverage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986016" y="1078992"/>
            <a:ext cx="1005840" cy="3310128"/>
          </a:xfrm>
          <a:prstGeom prst="rect">
            <a:avLst/>
          </a:prstGeom>
          <a:solidFill>
            <a:srgbClr val="1B1B1B"/>
          </a:solidFill>
          <a:ln w="10160">
            <a:solidFill>
              <a:srgbClr val="333333"/>
            </a:solidFill>
            <a:prstDash val="solid"/>
          </a:ln>
        </p:spPr>
      </p:sp>
      <p:pic>
        <p:nvPicPr>
          <p:cNvPr id="19" name="Image 0" descr="/Users/john/theborg/repos/atm/design/screenshots/ph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2" y="1115568"/>
            <a:ext cx="932688" cy="323697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309360" y="4489704"/>
            <a:ext cx="23591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0077F6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Responsive at 380 px.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venir Nex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venir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ATM Coding Exercise</dc:title>
  <dc:subject>ATM coding exercise: architecture, correctness, and delivery</dc:subject>
  <dc:creator>John DiFini</dc:creator>
  <cp:lastModifiedBy>John DiFini</cp:lastModifiedBy>
  <cp:revision>1</cp:revision>
  <dcterms:created xsi:type="dcterms:W3CDTF">2026-09-22T16:41:17Z</dcterms:created>
  <dcterms:modified xsi:type="dcterms:W3CDTF">2026-09-22T16:41:17Z</dcterms:modified>
</cp:coreProperties>
</file>