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exercise in one breath: a web ATM, one user, two accounts, real persistence. The point is not features; it is showing how a small system is organised so that correctness is easy to see and verify. The screenshot is the real app, not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prioritised organisation, separation of concerns and error handling over UI polish. So every choice was made to keep the interesting rules in one obvious place and to make the rest thin. Non-goals were written down first so scope could not creep.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monolith, four projects, one deployable. Read the arrows: everything points inward. The web project references Infrastructure only to register adapters in the composition root; no business behaviour lives there. ADR-0002 records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an ADR in docs/adr. The tradeoff column is the honest cost; none of these are free. The through-line is: choose the smallest thing that makes the architecture legible.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rules top to bottom. The screenshot is a real overdraft attempt: the error is inline, the typed value is preserved, and the database is untouched. Concurrency: the Version column is the EF Core token; a stale write updates zero rows and the user sees a retry message, never a silent overwrite.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boundaries mirror production boundaries. Domain tests are pure. Application tests use a hand-written fake that records write order, which is how we know history is appended before commit. Integration tests run the real host over a throwaway SQLite file per test, including a genuine concurrency conflict and a forced primary-key violation to prove atomicity. Setup is four commands on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what was left out on purpose, and why that was the right call for this exercise. Right is the order I would add things with more time, starting with idempotency keys because Post/Redirect/Get handles refreshes but not a retried network request. The phone view shows the responsive layout already holds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502920"/>
            <a:ext cx="3840480" cy="274320"/>
          </a:xfrm>
          <a:prstGeom prst="rect">
            <a:avLst/>
          </a:prstGeom>
          <a:noFill/>
          <a:ln/>
        </p:spPr>
        <p:txBody>
          <a:bodyPr wrap="square" lIns="0" tIns="0" rIns="0" bIns="0" rtlCol="0" anchor="ctr"/>
          <a:lstStyle/>
          <a:p>
            <a:pPr indent="0" marL="0">
              <a:buNone/>
            </a:pPr>
            <a:r>
              <a:rPr lang="en-US" sz="1100" b="1" spc="200" kern="0" dirty="0">
                <a:solidFill>
                  <a:srgbClr val="667085"/>
                </a:solidFill>
                <a:latin typeface="Calibri" pitchFamily="34" charset="0"/>
                <a:ea typeface="Calibri" pitchFamily="34" charset="-122"/>
                <a:cs typeface="Calibri" pitchFamily="34" charset="-120"/>
              </a:rPr>
              <a:t>CODING EXERCISE</a:t>
            </a:r>
            <a:endParaRPr lang="en-US" sz="1100" dirty="0"/>
          </a:p>
        </p:txBody>
      </p:sp>
      <p:sp>
        <p:nvSpPr>
          <p:cNvPr id="3" name="Text 1"/>
          <p:cNvSpPr txBox="1"/>
          <p:nvPr/>
        </p:nvSpPr>
        <p:spPr>
          <a:xfrm>
            <a:off x="548640" y="777240"/>
            <a:ext cx="3840480" cy="822960"/>
          </a:xfrm>
          <a:prstGeom prst="rect">
            <a:avLst/>
          </a:prstGeom>
          <a:noFill/>
          <a:ln/>
        </p:spPr>
        <p:txBody>
          <a:bodyPr wrap="square" lIns="0" tIns="0" rIns="0" bIns="0" rtlCol="0" anchor="ctr"/>
          <a:lstStyle/>
          <a:p>
            <a:pPr indent="0" marL="0">
              <a:buNone/>
            </a:pPr>
            <a:r>
              <a:rPr lang="en-US" sz="4800" b="1" dirty="0">
                <a:solidFill>
                  <a:srgbClr val="174A7E"/>
                </a:solidFill>
                <a:latin typeface="Calibri" pitchFamily="34" charset="0"/>
                <a:ea typeface="Calibri" pitchFamily="34" charset="-122"/>
                <a:cs typeface="Calibri" pitchFamily="34" charset="-120"/>
              </a:rPr>
              <a:t>ATM</a:t>
            </a:r>
            <a:endParaRPr lang="en-US" sz="4800" dirty="0"/>
          </a:p>
        </p:txBody>
      </p:sp>
      <p:sp>
        <p:nvSpPr>
          <p:cNvPr id="4" name="Text 2"/>
          <p:cNvSpPr txBox="1"/>
          <p:nvPr/>
        </p:nvSpPr>
        <p:spPr>
          <a:xfrm>
            <a:off x="548640" y="1600200"/>
            <a:ext cx="3840480" cy="685800"/>
          </a:xfrm>
          <a:prstGeom prst="rect">
            <a:avLst/>
          </a:prstGeom>
          <a:noFill/>
          <a:ln/>
        </p:spPr>
        <p:txBody>
          <a:bodyPr wrap="square" lIns="0" tIns="0" rIns="0" bIns="0" rtlCol="0" anchor="ctr"/>
          <a:lstStyle/>
          <a:p>
            <a:pPr indent="0" marL="0">
              <a:buNone/>
            </a:pPr>
            <a:r>
              <a:rPr lang="en-US" sz="1400" dirty="0">
                <a:solidFill>
                  <a:srgbClr val="17212B"/>
                </a:solidFill>
                <a:latin typeface="Calibri" pitchFamily="34" charset="0"/>
                <a:ea typeface="Calibri" pitchFamily="34" charset="-122"/>
                <a:cs typeface="Calibri" pitchFamily="34" charset="-120"/>
              </a:rPr>
              <a:t>A single-user web ATM built to show clear architecture within a deliberately small scope.</a:t>
            </a:r>
            <a:endParaRPr lang="en-US" sz="1400" dirty="0"/>
          </a:p>
        </p:txBody>
      </p:sp>
      <p:sp>
        <p:nvSpPr>
          <p:cNvPr id="5" name="Text 3"/>
          <p:cNvSpPr txBox="1"/>
          <p:nvPr/>
        </p:nvSpPr>
        <p:spPr>
          <a:xfrm>
            <a:off x="548640" y="2468880"/>
            <a:ext cx="914400" cy="274320"/>
          </a:xfrm>
          <a:prstGeom prst="rect">
            <a:avLst/>
          </a:prstGeom>
          <a:noFill/>
          <a:ln/>
        </p:spPr>
        <p:txBody>
          <a:bodyPr wrap="square" lIns="0" tIns="0" rIns="0" bIns="0" rtlCol="0" anchor="ctr"/>
          <a:lstStyle/>
          <a:p>
            <a:pPr indent="0" marL="0">
              <a:buNone/>
            </a:pPr>
            <a:r>
              <a:rPr lang="en-US" sz="1200" b="1" dirty="0">
                <a:solidFill>
                  <a:srgbClr val="174A7E"/>
                </a:solidFill>
                <a:latin typeface="Calibri" pitchFamily="34" charset="0"/>
                <a:ea typeface="Calibri" pitchFamily="34" charset="-122"/>
                <a:cs typeface="Calibri" pitchFamily="34" charset="-120"/>
              </a:rPr>
              <a:t>Objective</a:t>
            </a:r>
            <a:endParaRPr lang="en-US" sz="1200" dirty="0"/>
          </a:p>
        </p:txBody>
      </p:sp>
      <p:sp>
        <p:nvSpPr>
          <p:cNvPr id="6" name="Text 4"/>
          <p:cNvSpPr txBox="1"/>
          <p:nvPr/>
        </p:nvSpPr>
        <p:spPr>
          <a:xfrm>
            <a:off x="1463040" y="2468880"/>
            <a:ext cx="2926080" cy="640080"/>
          </a:xfrm>
          <a:prstGeom prst="rect">
            <a:avLst/>
          </a:prstGeom>
          <a:noFill/>
          <a:ln/>
        </p:spPr>
        <p:txBody>
          <a:bodyPr wrap="square" lIns="0" tIns="0" rIns="0" bIns="0" rtlCol="0" anchor="t"/>
          <a:lstStyle/>
          <a:p>
            <a:pPr indent="0" marL="0">
              <a:buNone/>
            </a:pPr>
            <a:r>
              <a:rPr lang="en-US" sz="1150" dirty="0">
                <a:solidFill>
                  <a:srgbClr val="17212B"/>
                </a:solidFill>
                <a:latin typeface="Calibri" pitchFamily="34" charset="0"/>
                <a:ea typeface="Calibri" pitchFamily="34" charset="-122"/>
                <a:cs typeface="Calibri" pitchFamily="34" charset="-120"/>
              </a:rPr>
              <a:t>Deposit, withdraw, transfer, view balances and history, with correct money handling.</a:t>
            </a:r>
            <a:endParaRPr lang="en-US" sz="1150" dirty="0"/>
          </a:p>
        </p:txBody>
      </p:sp>
      <p:sp>
        <p:nvSpPr>
          <p:cNvPr id="7" name="Text 5"/>
          <p:cNvSpPr txBox="1"/>
          <p:nvPr/>
        </p:nvSpPr>
        <p:spPr>
          <a:xfrm>
            <a:off x="548640" y="3154680"/>
            <a:ext cx="914400" cy="274320"/>
          </a:xfrm>
          <a:prstGeom prst="rect">
            <a:avLst/>
          </a:prstGeom>
          <a:noFill/>
          <a:ln/>
        </p:spPr>
        <p:txBody>
          <a:bodyPr wrap="square" lIns="0" tIns="0" rIns="0" bIns="0" rtlCol="0" anchor="ctr"/>
          <a:lstStyle/>
          <a:p>
            <a:pPr indent="0" marL="0">
              <a:buNone/>
            </a:pPr>
            <a:r>
              <a:rPr lang="en-US" sz="1200" b="1" dirty="0">
                <a:solidFill>
                  <a:srgbClr val="174A7E"/>
                </a:solidFill>
                <a:latin typeface="Calibri" pitchFamily="34" charset="0"/>
                <a:ea typeface="Calibri" pitchFamily="34" charset="-122"/>
                <a:cs typeface="Calibri" pitchFamily="34" charset="-120"/>
              </a:rPr>
              <a:t>Scope</a:t>
            </a:r>
            <a:endParaRPr lang="en-US" sz="1200" dirty="0"/>
          </a:p>
        </p:txBody>
      </p:sp>
      <p:sp>
        <p:nvSpPr>
          <p:cNvPr id="8" name="Text 6"/>
          <p:cNvSpPr txBox="1"/>
          <p:nvPr/>
        </p:nvSpPr>
        <p:spPr>
          <a:xfrm>
            <a:off x="1463040" y="3154680"/>
            <a:ext cx="2926080" cy="640080"/>
          </a:xfrm>
          <a:prstGeom prst="rect">
            <a:avLst/>
          </a:prstGeom>
          <a:noFill/>
          <a:ln/>
        </p:spPr>
        <p:txBody>
          <a:bodyPr wrap="square" lIns="0" tIns="0" rIns="0" bIns="0" rtlCol="0" anchor="t"/>
          <a:lstStyle/>
          <a:p>
            <a:pPr indent="0" marL="0">
              <a:buNone/>
            </a:pPr>
            <a:r>
              <a:rPr lang="en-US" sz="1150" dirty="0">
                <a:solidFill>
                  <a:srgbClr val="17212B"/>
                </a:solidFill>
                <a:latin typeface="Calibri" pitchFamily="34" charset="0"/>
                <a:ea typeface="Calibri" pitchFamily="34" charset="-122"/>
                <a:cs typeface="Calibri" pitchFamily="34" charset="-120"/>
              </a:rPr>
              <a:t>One local user, two accounts (Checking and Savings) seeded at $1,000.00, persisted across restarts.</a:t>
            </a:r>
            <a:endParaRPr lang="en-US" sz="1150" dirty="0"/>
          </a:p>
        </p:txBody>
      </p:sp>
      <p:sp>
        <p:nvSpPr>
          <p:cNvPr id="9" name="Text 7"/>
          <p:cNvSpPr txBox="1"/>
          <p:nvPr/>
        </p:nvSpPr>
        <p:spPr>
          <a:xfrm>
            <a:off x="548640" y="3840480"/>
            <a:ext cx="914400" cy="274320"/>
          </a:xfrm>
          <a:prstGeom prst="rect">
            <a:avLst/>
          </a:prstGeom>
          <a:noFill/>
          <a:ln/>
        </p:spPr>
        <p:txBody>
          <a:bodyPr wrap="square" lIns="0" tIns="0" rIns="0" bIns="0" rtlCol="0" anchor="ctr"/>
          <a:lstStyle/>
          <a:p>
            <a:pPr indent="0" marL="0">
              <a:buNone/>
            </a:pPr>
            <a:r>
              <a:rPr lang="en-US" sz="1200" b="1" dirty="0">
                <a:solidFill>
                  <a:srgbClr val="174A7E"/>
                </a:solidFill>
                <a:latin typeface="Calibri" pitchFamily="34" charset="0"/>
                <a:ea typeface="Calibri" pitchFamily="34" charset="-122"/>
                <a:cs typeface="Calibri" pitchFamily="34" charset="-120"/>
              </a:rPr>
              <a:t>Stack</a:t>
            </a:r>
            <a:endParaRPr lang="en-US" sz="1200" dirty="0"/>
          </a:p>
        </p:txBody>
      </p:sp>
      <p:sp>
        <p:nvSpPr>
          <p:cNvPr id="10" name="Text 8"/>
          <p:cNvSpPr txBox="1"/>
          <p:nvPr/>
        </p:nvSpPr>
        <p:spPr>
          <a:xfrm>
            <a:off x="1463040" y="3840480"/>
            <a:ext cx="2926080" cy="640080"/>
          </a:xfrm>
          <a:prstGeom prst="rect">
            <a:avLst/>
          </a:prstGeom>
          <a:noFill/>
          <a:ln/>
        </p:spPr>
        <p:txBody>
          <a:bodyPr wrap="square" lIns="0" tIns="0" rIns="0" bIns="0" rtlCol="0" anchor="t"/>
          <a:lstStyle/>
          <a:p>
            <a:pPr indent="0" marL="0">
              <a:buNone/>
            </a:pPr>
            <a:r>
              <a:rPr lang="en-US" sz="1150" dirty="0">
                <a:solidFill>
                  <a:srgbClr val="17212B"/>
                </a:solidFill>
                <a:latin typeface="Calibri" pitchFamily="34" charset="0"/>
                <a:ea typeface="Calibri" pitchFamily="34" charset="-122"/>
                <a:cs typeface="Calibri" pitchFamily="34" charset="-120"/>
              </a:rPr>
              <a:t>.NET 10, ASP.NET Core Razor Pages, EF Core with SQLite, xUnit. One deployable, no JavaScript framework.</a:t>
            </a:r>
            <a:endParaRPr lang="en-US" sz="1150" dirty="0"/>
          </a:p>
        </p:txBody>
      </p:sp>
      <p:sp>
        <p:nvSpPr>
          <p:cNvPr id="11" name="Shape 9"/>
          <p:cNvSpPr/>
          <p:nvPr/>
        </p:nvSpPr>
        <p:spPr>
          <a:xfrm>
            <a:off x="4709160" y="548640"/>
            <a:ext cx="3977640" cy="3246120"/>
          </a:xfrm>
          <a:prstGeom prst="roundRect">
            <a:avLst>
              <a:gd name="adj" fmla="val 2254"/>
            </a:avLst>
          </a:prstGeom>
          <a:solidFill>
            <a:srgbClr val="FFFFFF"/>
          </a:solidFill>
          <a:ln w="9525">
            <a:solidFill>
              <a:srgbClr val="D9E0E7"/>
            </a:solidFill>
            <a:prstDash val="solid"/>
          </a:ln>
        </p:spPr>
      </p:sp>
      <p:pic>
        <p:nvPicPr>
          <p:cNvPr id="12" name="Image 0" descr="/Users/john/theborg/repos/atm/design/screenshots/dashboard.png">    </p:cNvPr>
          <p:cNvPicPr>
            <a:picLocks noChangeAspect="1"/>
          </p:cNvPicPr>
          <p:nvPr/>
        </p:nvPicPr>
        <p:blipFill>
          <a:blip r:embed="rId1"/>
          <a:stretch>
            <a:fillRect/>
          </a:stretch>
        </p:blipFill>
        <p:spPr>
          <a:xfrm>
            <a:off x="4846320" y="685800"/>
            <a:ext cx="3703320" cy="2889504"/>
          </a:xfrm>
          <a:prstGeom prst="rect">
            <a:avLst/>
          </a:prstGeom>
        </p:spPr>
      </p:pic>
      <p:sp>
        <p:nvSpPr>
          <p:cNvPr id="13" name="Text 10"/>
          <p:cNvSpPr txBox="1"/>
          <p:nvPr/>
        </p:nvSpPr>
        <p:spPr>
          <a:xfrm>
            <a:off x="4709160" y="3886200"/>
            <a:ext cx="3977640" cy="457200"/>
          </a:xfrm>
          <a:prstGeom prst="rect">
            <a:avLst/>
          </a:prstGeom>
          <a:noFill/>
          <a:ln/>
        </p:spPr>
        <p:txBody>
          <a:bodyPr wrap="square" lIns="0" tIns="0" rIns="0" bIns="0" rtlCol="0" anchor="ctr"/>
          <a:lstStyle/>
          <a:p>
            <a:pPr indent="0" marL="0">
              <a:buNone/>
            </a:pPr>
            <a:r>
              <a:rPr lang="en-US" sz="1000" i="1" dirty="0">
                <a:solidFill>
                  <a:srgbClr val="667085"/>
                </a:solidFill>
                <a:latin typeface="Calibri" pitchFamily="34" charset="0"/>
                <a:ea typeface="Calibri" pitchFamily="34" charset="-122"/>
                <a:cs typeface="Calibri" pitchFamily="34" charset="-120"/>
              </a:rPr>
              <a:t>The finished dashboard: two accounts, one operation at a time, history newest first.</a:t>
            </a:r>
            <a:endParaRPr lang="en-US" sz="1000" dirty="0"/>
          </a:p>
        </p:txBody>
      </p:sp>
      <p:sp>
        <p:nvSpPr>
          <p:cNvPr id="14" name="Text 11"/>
          <p:cNvSpPr txBox="1"/>
          <p:nvPr/>
        </p:nvSpPr>
        <p:spPr>
          <a:xfrm>
            <a:off x="8229600" y="4709160"/>
            <a:ext cx="45720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548640"/>
          </a:xfrm>
          <a:prstGeom prst="rect">
            <a:avLst/>
          </a:prstGeom>
          <a:noFill/>
          <a:ln/>
        </p:spPr>
        <p:txBody>
          <a:bodyPr wrap="square" lIns="0" tIns="0" rIns="0" bIns="0" rtlCol="0" anchor="ctr"/>
          <a:lstStyle/>
          <a:p>
            <a:pPr indent="0" marL="0">
              <a:buNone/>
            </a:pPr>
            <a:r>
              <a:rPr lang="en-US" sz="2800" b="1" dirty="0">
                <a:solidFill>
                  <a:srgbClr val="174A7E"/>
                </a:solidFill>
                <a:latin typeface="Calibri" pitchFamily="34" charset="0"/>
                <a:ea typeface="Calibri" pitchFamily="34" charset="-122"/>
                <a:cs typeface="Calibri" pitchFamily="34" charset="-120"/>
              </a:rPr>
              <a:t>How I framed the problem</a:t>
            </a:r>
            <a:endParaRPr lang="en-US" sz="2800" dirty="0"/>
          </a:p>
        </p:txBody>
      </p:sp>
      <p:sp>
        <p:nvSpPr>
          <p:cNvPr id="3" name="Text 1"/>
          <p:cNvSpPr txBox="1"/>
          <p:nvPr/>
        </p:nvSpPr>
        <p:spPr>
          <a:xfrm>
            <a:off x="8229600" y="4709160"/>
            <a:ext cx="45720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2</a:t>
            </a:r>
            <a:endParaRPr lang="en-US" sz="900" dirty="0"/>
          </a:p>
        </p:txBody>
      </p:sp>
      <p:sp>
        <p:nvSpPr>
          <p:cNvPr id="5" name="Shape 2"/>
          <p:cNvSpPr/>
          <p:nvPr/>
        </p:nvSpPr>
        <p:spPr>
          <a:xfrm>
            <a:off x="548640" y="1097280"/>
            <a:ext cx="3931920" cy="1645920"/>
          </a:xfrm>
          <a:prstGeom prst="roundRect">
            <a:avLst>
              <a:gd name="adj" fmla="val 4444"/>
            </a:avLst>
          </a:prstGeom>
          <a:solidFill>
            <a:srgbClr val="FFFFFF"/>
          </a:solidFill>
          <a:ln w="9525">
            <a:solidFill>
              <a:srgbClr val="D9E0E7"/>
            </a:solidFill>
            <a:prstDash val="solid"/>
          </a:ln>
        </p:spPr>
      </p:sp>
      <p:sp>
        <p:nvSpPr>
          <p:cNvPr id="6" name="Text 3"/>
          <p:cNvSpPr txBox="1"/>
          <p:nvPr/>
        </p:nvSpPr>
        <p:spPr>
          <a:xfrm>
            <a:off x="777240" y="1280160"/>
            <a:ext cx="3474720" cy="292608"/>
          </a:xfrm>
          <a:prstGeom prst="rect">
            <a:avLst/>
          </a:prstGeom>
          <a:noFill/>
          <a:ln/>
        </p:spPr>
        <p:txBody>
          <a:bodyPr wrap="square" lIns="0" tIns="0" rIns="0" bIns="0" rtlCol="0" anchor="ctr"/>
          <a:lstStyle/>
          <a:p>
            <a:pPr indent="0" marL="0">
              <a:buNone/>
            </a:pPr>
            <a:r>
              <a:rPr lang="en-US" sz="1400" b="1" dirty="0">
                <a:solidFill>
                  <a:srgbClr val="174A7E"/>
                </a:solidFill>
                <a:latin typeface="Calibri" pitchFamily="34" charset="0"/>
                <a:ea typeface="Calibri" pitchFamily="34" charset="-122"/>
                <a:cs typeface="Calibri" pitchFamily="34" charset="-120"/>
              </a:rPr>
              <a:t>Requirements</a:t>
            </a:r>
            <a:endParaRPr lang="en-US" sz="1400" dirty="0"/>
          </a:p>
        </p:txBody>
      </p:sp>
      <p:sp>
        <p:nvSpPr>
          <p:cNvPr id="7" name="Text 4"/>
          <p:cNvSpPr txBox="1"/>
          <p:nvPr/>
        </p:nvSpPr>
        <p:spPr>
          <a:xfrm>
            <a:off x="777240" y="1627632"/>
            <a:ext cx="3520440" cy="10515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7212B"/>
                </a:solidFill>
                <a:latin typeface="Calibri" pitchFamily="34" charset="0"/>
                <a:ea typeface="Calibri" pitchFamily="34" charset="-122"/>
                <a:cs typeface="Calibri" pitchFamily="34" charset="-120"/>
              </a:rPr>
              <a:t>Two seeded accounts, balances and history that survive restarts</a:t>
            </a:r>
            <a:endParaRPr lang="en-US" sz="1150" dirty="0"/>
          </a:p>
          <a:p>
            <a:pPr marL="342900" indent="-342900">
              <a:spcAft>
                <a:spcPts val="400"/>
              </a:spcAft>
              <a:buSzPct val="100000"/>
              <a:buChar char="•"/>
            </a:pPr>
            <a:r>
              <a:rPr lang="en-US" sz="1150" dirty="0">
                <a:solidFill>
                  <a:srgbClr val="17212B"/>
                </a:solidFill>
                <a:latin typeface="Calibri" pitchFamily="34" charset="0"/>
                <a:ea typeface="Calibri" pitchFamily="34" charset="-122"/>
                <a:cs typeface="Calibri" pitchFamily="34" charset="-120"/>
              </a:rPr>
              <a:t>Deposit, withdraw, transfer with positive two-decimal amounts</a:t>
            </a:r>
            <a:endParaRPr lang="en-US" sz="1150" dirty="0"/>
          </a:p>
          <a:p>
            <a:pPr marL="342900" indent="-342900">
              <a:spcAft>
                <a:spcPts val="400"/>
              </a:spcAft>
              <a:buSzPct val="100000"/>
              <a:buChar char="•"/>
            </a:pPr>
            <a:r>
              <a:rPr lang="en-US" sz="1150" dirty="0">
                <a:solidFill>
                  <a:srgbClr val="17212B"/>
                </a:solidFill>
                <a:latin typeface="Calibri" pitchFamily="34" charset="0"/>
                <a:ea typeface="Calibri" pitchFamily="34" charset="-122"/>
                <a:cs typeface="Calibri" pitchFamily="34" charset="-120"/>
              </a:rPr>
              <a:t>Newest-first history that explains the ledger</a:t>
            </a:r>
            <a:endParaRPr lang="en-US" sz="1150" dirty="0"/>
          </a:p>
        </p:txBody>
      </p:sp>
      <p:sp>
        <p:nvSpPr>
          <p:cNvPr id="8" name="Shape 5"/>
          <p:cNvSpPr/>
          <p:nvPr/>
        </p:nvSpPr>
        <p:spPr>
          <a:xfrm>
            <a:off x="4663440" y="1097280"/>
            <a:ext cx="3931920" cy="1645920"/>
          </a:xfrm>
          <a:prstGeom prst="roundRect">
            <a:avLst>
              <a:gd name="adj" fmla="val 4444"/>
            </a:avLst>
          </a:prstGeom>
          <a:solidFill>
            <a:srgbClr val="FFFFFF"/>
          </a:solidFill>
          <a:ln w="9525">
            <a:solidFill>
              <a:srgbClr val="D9E0E7"/>
            </a:solidFill>
            <a:prstDash val="solid"/>
          </a:ln>
        </p:spPr>
      </p:sp>
      <p:sp>
        <p:nvSpPr>
          <p:cNvPr id="9" name="Text 6"/>
          <p:cNvSpPr txBox="1"/>
          <p:nvPr/>
        </p:nvSpPr>
        <p:spPr>
          <a:xfrm>
            <a:off x="4892040" y="1280160"/>
            <a:ext cx="3474720" cy="292608"/>
          </a:xfrm>
          <a:prstGeom prst="rect">
            <a:avLst/>
          </a:prstGeom>
          <a:noFill/>
          <a:ln/>
        </p:spPr>
        <p:txBody>
          <a:bodyPr wrap="square" lIns="0" tIns="0" rIns="0" bIns="0" rtlCol="0" anchor="ctr"/>
          <a:lstStyle/>
          <a:p>
            <a:pPr indent="0" marL="0">
              <a:buNone/>
            </a:pPr>
            <a:r>
              <a:rPr lang="en-US" sz="1400" b="1" dirty="0">
                <a:solidFill>
                  <a:srgbClr val="174A7E"/>
                </a:solidFill>
                <a:latin typeface="Calibri" pitchFamily="34" charset="0"/>
                <a:ea typeface="Calibri" pitchFamily="34" charset="-122"/>
                <a:cs typeface="Calibri" pitchFamily="34" charset="-120"/>
              </a:rPr>
              <a:t>Non-goals</a:t>
            </a:r>
            <a:endParaRPr lang="en-US" sz="1400" dirty="0"/>
          </a:p>
        </p:txBody>
      </p:sp>
      <p:sp>
        <p:nvSpPr>
          <p:cNvPr id="10" name="Text 7"/>
          <p:cNvSpPr txBox="1"/>
          <p:nvPr/>
        </p:nvSpPr>
        <p:spPr>
          <a:xfrm>
            <a:off x="4892040" y="1627632"/>
            <a:ext cx="3520440" cy="10515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7212B"/>
                </a:solidFill>
                <a:latin typeface="Calibri" pitchFamily="34" charset="0"/>
                <a:ea typeface="Calibri" pitchFamily="34" charset="-122"/>
                <a:cs typeface="Calibri" pitchFamily="34" charset="-120"/>
              </a:rPr>
              <a:t>Authentication, cards, PINs, multiple users</a:t>
            </a:r>
            <a:endParaRPr lang="en-US" sz="1150" dirty="0"/>
          </a:p>
          <a:p>
            <a:pPr marL="342900" indent="-342900">
              <a:spcAft>
                <a:spcPts val="400"/>
              </a:spcAft>
              <a:buSzPct val="100000"/>
              <a:buChar char="•"/>
            </a:pPr>
            <a:r>
              <a:rPr lang="en-US" sz="1150" dirty="0">
                <a:solidFill>
                  <a:srgbClr val="17212B"/>
                </a:solidFill>
                <a:latin typeface="Calibri" pitchFamily="34" charset="0"/>
                <a:ea typeface="Calibri" pitchFamily="34" charset="-122"/>
                <a:cs typeface="Calibri" pitchFamily="34" charset="-120"/>
              </a:rPr>
              <a:t>Fees, interest, overdrafts, cash inventory, currencies</a:t>
            </a:r>
            <a:endParaRPr lang="en-US" sz="1150" dirty="0"/>
          </a:p>
          <a:p>
            <a:pPr marL="342900" indent="-342900">
              <a:spcAft>
                <a:spcPts val="400"/>
              </a:spcAft>
              <a:buSzPct val="100000"/>
              <a:buChar char="•"/>
            </a:pPr>
            <a:r>
              <a:rPr lang="en-US" sz="1150" dirty="0">
                <a:solidFill>
                  <a:srgbClr val="17212B"/>
                </a:solidFill>
                <a:latin typeface="Calibri" pitchFamily="34" charset="0"/>
                <a:ea typeface="Calibri" pitchFamily="34" charset="-122"/>
                <a:cs typeface="Calibri" pitchFamily="34" charset="-120"/>
              </a:rPr>
              <a:t>SPA, public API, queues, cloud deployment</a:t>
            </a:r>
            <a:endParaRPr lang="en-US" sz="1150" dirty="0"/>
          </a:p>
        </p:txBody>
      </p:sp>
      <p:sp>
        <p:nvSpPr>
          <p:cNvPr id="11" name="Shape 8"/>
          <p:cNvSpPr/>
          <p:nvPr/>
        </p:nvSpPr>
        <p:spPr>
          <a:xfrm>
            <a:off x="548640" y="2926080"/>
            <a:ext cx="3931920" cy="1645920"/>
          </a:xfrm>
          <a:prstGeom prst="roundRect">
            <a:avLst>
              <a:gd name="adj" fmla="val 4444"/>
            </a:avLst>
          </a:prstGeom>
          <a:solidFill>
            <a:srgbClr val="FFFFFF"/>
          </a:solidFill>
          <a:ln w="9525">
            <a:solidFill>
              <a:srgbClr val="D9E0E7"/>
            </a:solidFill>
            <a:prstDash val="solid"/>
          </a:ln>
        </p:spPr>
      </p:sp>
      <p:sp>
        <p:nvSpPr>
          <p:cNvPr id="12" name="Text 9"/>
          <p:cNvSpPr txBox="1"/>
          <p:nvPr/>
        </p:nvSpPr>
        <p:spPr>
          <a:xfrm>
            <a:off x="777240" y="3108960"/>
            <a:ext cx="3474720" cy="292608"/>
          </a:xfrm>
          <a:prstGeom prst="rect">
            <a:avLst/>
          </a:prstGeom>
          <a:noFill/>
          <a:ln/>
        </p:spPr>
        <p:txBody>
          <a:bodyPr wrap="square" lIns="0" tIns="0" rIns="0" bIns="0" rtlCol="0" anchor="ctr"/>
          <a:lstStyle/>
          <a:p>
            <a:pPr indent="0" marL="0">
              <a:buNone/>
            </a:pPr>
            <a:r>
              <a:rPr lang="en-US" sz="1400" b="1" dirty="0">
                <a:solidFill>
                  <a:srgbClr val="174A7E"/>
                </a:solidFill>
                <a:latin typeface="Calibri" pitchFamily="34" charset="0"/>
                <a:ea typeface="Calibri" pitchFamily="34" charset="-122"/>
                <a:cs typeface="Calibri" pitchFamily="34" charset="-120"/>
              </a:rPr>
              <a:t>Quality attributes</a:t>
            </a:r>
            <a:endParaRPr lang="en-US" sz="1400" dirty="0"/>
          </a:p>
        </p:txBody>
      </p:sp>
      <p:sp>
        <p:nvSpPr>
          <p:cNvPr id="13" name="Text 10"/>
          <p:cNvSpPr txBox="1"/>
          <p:nvPr/>
        </p:nvSpPr>
        <p:spPr>
          <a:xfrm>
            <a:off x="777240" y="3456432"/>
            <a:ext cx="3520440" cy="10515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7212B"/>
                </a:solidFill>
                <a:latin typeface="Calibri" pitchFamily="34" charset="0"/>
                <a:ea typeface="Calibri" pitchFamily="34" charset="-122"/>
                <a:cs typeface="Calibri" pitchFamily="34" charset="-120"/>
              </a:rPr>
              <a:t>Business rules independent of ASP.NET Core and EF Core</a:t>
            </a:r>
            <a:endParaRPr lang="en-US" sz="1150" dirty="0"/>
          </a:p>
          <a:p>
            <a:pPr marL="342900" indent="-342900">
              <a:spcAft>
                <a:spcPts val="400"/>
              </a:spcAft>
              <a:buSzPct val="100000"/>
              <a:buChar char="•"/>
            </a:pPr>
            <a:r>
              <a:rPr lang="en-US" sz="1150" dirty="0">
                <a:solidFill>
                  <a:srgbClr val="17212B"/>
                </a:solidFill>
                <a:latin typeface="Calibri" pitchFamily="34" charset="0"/>
                <a:ea typeface="Calibri" pitchFamily="34" charset="-122"/>
                <a:cs typeface="Calibri" pitchFamily="34" charset="-120"/>
              </a:rPr>
              <a:t>No partial writes: balance and history commit together</a:t>
            </a:r>
            <a:endParaRPr lang="en-US" sz="1150" dirty="0"/>
          </a:p>
          <a:p>
            <a:pPr marL="342900" indent="-342900">
              <a:spcAft>
                <a:spcPts val="400"/>
              </a:spcAft>
              <a:buSzPct val="100000"/>
              <a:buChar char="•"/>
            </a:pPr>
            <a:r>
              <a:rPr lang="en-US" sz="1150" dirty="0">
                <a:solidFill>
                  <a:srgbClr val="17212B"/>
                </a:solidFill>
                <a:latin typeface="Calibri" pitchFamily="34" charset="0"/>
                <a:ea typeface="Calibri" pitchFamily="34" charset="-122"/>
                <a:cs typeface="Calibri" pitchFamily="34" charset="-120"/>
              </a:rPr>
              <a:t>Tests at every boundary, runnable on macOS with one SDK</a:t>
            </a:r>
            <a:endParaRPr lang="en-US" sz="1150" dirty="0"/>
          </a:p>
        </p:txBody>
      </p:sp>
      <p:sp>
        <p:nvSpPr>
          <p:cNvPr id="14" name="Shape 11"/>
          <p:cNvSpPr/>
          <p:nvPr/>
        </p:nvSpPr>
        <p:spPr>
          <a:xfrm>
            <a:off x="4663440" y="2926080"/>
            <a:ext cx="3931920" cy="1645920"/>
          </a:xfrm>
          <a:prstGeom prst="roundRect">
            <a:avLst>
              <a:gd name="adj" fmla="val 4444"/>
            </a:avLst>
          </a:prstGeom>
          <a:solidFill>
            <a:srgbClr val="FFFFFF"/>
          </a:solidFill>
          <a:ln w="9525">
            <a:solidFill>
              <a:srgbClr val="D9E0E7"/>
            </a:solidFill>
            <a:prstDash val="solid"/>
          </a:ln>
        </p:spPr>
      </p:sp>
      <p:sp>
        <p:nvSpPr>
          <p:cNvPr id="15" name="Text 12"/>
          <p:cNvSpPr txBox="1"/>
          <p:nvPr/>
        </p:nvSpPr>
        <p:spPr>
          <a:xfrm>
            <a:off x="4892040" y="3108960"/>
            <a:ext cx="3474720" cy="292608"/>
          </a:xfrm>
          <a:prstGeom prst="rect">
            <a:avLst/>
          </a:prstGeom>
          <a:noFill/>
          <a:ln/>
        </p:spPr>
        <p:txBody>
          <a:bodyPr wrap="square" lIns="0" tIns="0" rIns="0" bIns="0" rtlCol="0" anchor="ctr"/>
          <a:lstStyle/>
          <a:p>
            <a:pPr indent="0" marL="0">
              <a:buNone/>
            </a:pPr>
            <a:r>
              <a:rPr lang="en-US" sz="1400" b="1" dirty="0">
                <a:solidFill>
                  <a:srgbClr val="18794E"/>
                </a:solidFill>
                <a:latin typeface="Calibri" pitchFamily="34" charset="0"/>
                <a:ea typeface="Calibri" pitchFamily="34" charset="-122"/>
                <a:cs typeface="Calibri" pitchFamily="34" charset="-120"/>
              </a:rPr>
              <a:t>Why clarity drove it</a:t>
            </a:r>
            <a:endParaRPr lang="en-US" sz="1400" dirty="0"/>
          </a:p>
        </p:txBody>
      </p:sp>
      <p:sp>
        <p:nvSpPr>
          <p:cNvPr id="16" name="Text 13"/>
          <p:cNvSpPr txBox="1"/>
          <p:nvPr/>
        </p:nvSpPr>
        <p:spPr>
          <a:xfrm>
            <a:off x="4892040" y="3456432"/>
            <a:ext cx="3520440" cy="10515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7212B"/>
                </a:solidFill>
                <a:latin typeface="Calibri" pitchFamily="34" charset="0"/>
                <a:ea typeface="Calibri" pitchFamily="34" charset="-122"/>
                <a:cs typeface="Calibri" pitchFamily="34" charset="-120"/>
              </a:rPr>
              <a:t>A reader should find any rule in under a minute</a:t>
            </a:r>
            <a:endParaRPr lang="en-US" sz="1150" dirty="0"/>
          </a:p>
          <a:p>
            <a:pPr marL="342900" indent="-342900">
              <a:spcAft>
                <a:spcPts val="400"/>
              </a:spcAft>
              <a:buSzPct val="100000"/>
              <a:buChar char="•"/>
            </a:pPr>
            <a:r>
              <a:rPr lang="en-US" sz="1150" dirty="0">
                <a:solidFill>
                  <a:srgbClr val="17212B"/>
                </a:solidFill>
                <a:latin typeface="Calibri" pitchFamily="34" charset="0"/>
                <a:ea typeface="Calibri" pitchFamily="34" charset="-122"/>
                <a:cs typeface="Calibri" pitchFamily="34" charset="-120"/>
              </a:rPr>
              <a:t>Thin adapters make the domain the only place bugs can hide</a:t>
            </a:r>
            <a:endParaRPr lang="en-US" sz="1150" dirty="0"/>
          </a:p>
          <a:p>
            <a:pPr marL="342900" indent="-342900">
              <a:spcAft>
                <a:spcPts val="400"/>
              </a:spcAft>
              <a:buSzPct val="100000"/>
              <a:buChar char="•"/>
            </a:pPr>
            <a:r>
              <a:rPr lang="en-US" sz="1150" dirty="0">
                <a:solidFill>
                  <a:srgbClr val="17212B"/>
                </a:solidFill>
                <a:latin typeface="Calibri" pitchFamily="34" charset="0"/>
                <a:ea typeface="Calibri" pitchFamily="34" charset="-122"/>
                <a:cs typeface="Calibri" pitchFamily="34" charset="-120"/>
              </a:rPr>
              <a:t>Small, explicit scope beats speculative generality</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548640"/>
          </a:xfrm>
          <a:prstGeom prst="rect">
            <a:avLst/>
          </a:prstGeom>
          <a:noFill/>
          <a:ln/>
        </p:spPr>
        <p:txBody>
          <a:bodyPr wrap="square" lIns="0" tIns="0" rIns="0" bIns="0" rtlCol="0" anchor="ctr"/>
          <a:lstStyle/>
          <a:p>
            <a:pPr indent="0" marL="0">
              <a:buNone/>
            </a:pPr>
            <a:r>
              <a:rPr lang="en-US" sz="2800" b="1" dirty="0">
                <a:solidFill>
                  <a:srgbClr val="174A7E"/>
                </a:solidFill>
                <a:latin typeface="Calibri" pitchFamily="34" charset="0"/>
                <a:ea typeface="Calibri" pitchFamily="34" charset="-122"/>
                <a:cs typeface="Calibri" pitchFamily="34" charset="-120"/>
              </a:rPr>
              <a:t>Architecture at a glance</a:t>
            </a:r>
            <a:endParaRPr lang="en-US" sz="2800" dirty="0"/>
          </a:p>
        </p:txBody>
      </p:sp>
      <p:sp>
        <p:nvSpPr>
          <p:cNvPr id="3" name="Text 1"/>
          <p:cNvSpPr txBox="1"/>
          <p:nvPr/>
        </p:nvSpPr>
        <p:spPr>
          <a:xfrm>
            <a:off x="8229600" y="4709160"/>
            <a:ext cx="45720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3</a:t>
            </a:r>
            <a:endParaRPr lang="en-US" sz="900" dirty="0"/>
          </a:p>
        </p:txBody>
      </p:sp>
      <p:sp>
        <p:nvSpPr>
          <p:cNvPr id="5" name="Shape 2"/>
          <p:cNvSpPr/>
          <p:nvPr/>
        </p:nvSpPr>
        <p:spPr>
          <a:xfrm>
            <a:off x="548640" y="1417320"/>
            <a:ext cx="1371600" cy="960120"/>
          </a:xfrm>
          <a:prstGeom prst="roundRect">
            <a:avLst>
              <a:gd name="adj" fmla="val 7619"/>
            </a:avLst>
          </a:prstGeom>
          <a:solidFill>
            <a:srgbClr val="FFFFFF"/>
          </a:solidFill>
          <a:ln w="15875">
            <a:solidFill>
              <a:srgbClr val="D9E0E7"/>
            </a:solidFill>
            <a:prstDash val="solid"/>
          </a:ln>
        </p:spPr>
      </p:sp>
      <p:sp>
        <p:nvSpPr>
          <p:cNvPr id="6" name="Text 3"/>
          <p:cNvSpPr txBox="1"/>
          <p:nvPr/>
        </p:nvSpPr>
        <p:spPr>
          <a:xfrm>
            <a:off x="548640" y="1508760"/>
            <a:ext cx="1371600" cy="292608"/>
          </a:xfrm>
          <a:prstGeom prst="rect">
            <a:avLst/>
          </a:prstGeom>
          <a:noFill/>
          <a:ln/>
        </p:spPr>
        <p:txBody>
          <a:bodyPr wrap="square" lIns="0" tIns="0" rIns="0" bIns="0" rtlCol="0" anchor="ctr"/>
          <a:lstStyle/>
          <a:p>
            <a:pPr algn="ctr" indent="0" marL="0">
              <a:buNone/>
            </a:pPr>
            <a:r>
              <a:rPr lang="en-US" sz="1300" b="1" dirty="0">
                <a:solidFill>
                  <a:srgbClr val="667085"/>
                </a:solidFill>
                <a:latin typeface="Calibri" pitchFamily="34" charset="0"/>
                <a:ea typeface="Calibri" pitchFamily="34" charset="-122"/>
                <a:cs typeface="Calibri" pitchFamily="34" charset="-120"/>
              </a:rPr>
              <a:t>Browser</a:t>
            </a:r>
            <a:endParaRPr lang="en-US" sz="1300" dirty="0"/>
          </a:p>
        </p:txBody>
      </p:sp>
      <p:sp>
        <p:nvSpPr>
          <p:cNvPr id="7" name="Text 4"/>
          <p:cNvSpPr txBox="1"/>
          <p:nvPr/>
        </p:nvSpPr>
        <p:spPr>
          <a:xfrm>
            <a:off x="640080" y="1801368"/>
            <a:ext cx="1188720" cy="502920"/>
          </a:xfrm>
          <a:prstGeom prst="rect">
            <a:avLst/>
          </a:prstGeom>
          <a:noFill/>
          <a:ln/>
        </p:spPr>
        <p:txBody>
          <a:bodyPr wrap="square" lIns="0" tIns="0" rIns="0" bIns="0" rtlCol="0" anchor="t"/>
          <a:lstStyle/>
          <a:p>
            <a:pPr algn="ctr" indent="0" marL="0">
              <a:buNone/>
            </a:pPr>
            <a:r>
              <a:rPr lang="en-US" sz="1000" dirty="0">
                <a:solidFill>
                  <a:srgbClr val="667085"/>
                </a:solidFill>
                <a:latin typeface="Calibri" pitchFamily="34" charset="0"/>
                <a:ea typeface="Calibri" pitchFamily="34" charset="-122"/>
                <a:cs typeface="Calibri" pitchFamily="34" charset="-120"/>
              </a:rPr>
              <a:t>server-rendered HTML</a:t>
            </a:r>
            <a:endParaRPr lang="en-US" sz="1000" dirty="0"/>
          </a:p>
        </p:txBody>
      </p:sp>
      <p:sp>
        <p:nvSpPr>
          <p:cNvPr id="8" name="Shape 5"/>
          <p:cNvSpPr/>
          <p:nvPr/>
        </p:nvSpPr>
        <p:spPr>
          <a:xfrm>
            <a:off x="2331720" y="1417320"/>
            <a:ext cx="1737360" cy="960120"/>
          </a:xfrm>
          <a:prstGeom prst="roundRect">
            <a:avLst>
              <a:gd name="adj" fmla="val 7619"/>
            </a:avLst>
          </a:prstGeom>
          <a:solidFill>
            <a:srgbClr val="FFFFFF"/>
          </a:solidFill>
          <a:ln w="15875">
            <a:solidFill>
              <a:srgbClr val="174A7E"/>
            </a:solidFill>
            <a:prstDash val="solid"/>
          </a:ln>
        </p:spPr>
      </p:sp>
      <p:sp>
        <p:nvSpPr>
          <p:cNvPr id="9" name="Text 6"/>
          <p:cNvSpPr txBox="1"/>
          <p:nvPr/>
        </p:nvSpPr>
        <p:spPr>
          <a:xfrm>
            <a:off x="2331720" y="1508760"/>
            <a:ext cx="1737360" cy="292608"/>
          </a:xfrm>
          <a:prstGeom prst="rect">
            <a:avLst/>
          </a:prstGeom>
          <a:noFill/>
          <a:ln/>
        </p:spPr>
        <p:txBody>
          <a:bodyPr wrap="square" lIns="0" tIns="0" rIns="0" bIns="0" rtlCol="0" anchor="ctr"/>
          <a:lstStyle/>
          <a:p>
            <a:pPr algn="ctr" indent="0" marL="0">
              <a:buNone/>
            </a:pPr>
            <a:r>
              <a:rPr lang="en-US" sz="1300" b="1" dirty="0">
                <a:solidFill>
                  <a:srgbClr val="174A7E"/>
                </a:solidFill>
                <a:latin typeface="Calibri" pitchFamily="34" charset="0"/>
                <a:ea typeface="Calibri" pitchFamily="34" charset="-122"/>
                <a:cs typeface="Calibri" pitchFamily="34" charset="-120"/>
              </a:rPr>
              <a:t>Atm.Web</a:t>
            </a:r>
            <a:endParaRPr lang="en-US" sz="1300" dirty="0"/>
          </a:p>
        </p:txBody>
      </p:sp>
      <p:sp>
        <p:nvSpPr>
          <p:cNvPr id="10" name="Text 7"/>
          <p:cNvSpPr txBox="1"/>
          <p:nvPr/>
        </p:nvSpPr>
        <p:spPr>
          <a:xfrm>
            <a:off x="2423160" y="1801368"/>
            <a:ext cx="1554480" cy="502920"/>
          </a:xfrm>
          <a:prstGeom prst="rect">
            <a:avLst/>
          </a:prstGeom>
          <a:noFill/>
          <a:ln/>
        </p:spPr>
        <p:txBody>
          <a:bodyPr wrap="square" lIns="0" tIns="0" rIns="0" bIns="0" rtlCol="0" anchor="t"/>
          <a:lstStyle/>
          <a:p>
            <a:pPr algn="ctr" indent="0" marL="0">
              <a:buNone/>
            </a:pPr>
            <a:r>
              <a:rPr lang="en-US" sz="1000" dirty="0">
                <a:solidFill>
                  <a:srgbClr val="667085"/>
                </a:solidFill>
                <a:latin typeface="Calibri" pitchFamily="34" charset="0"/>
                <a:ea typeface="Calibri" pitchFamily="34" charset="-122"/>
                <a:cs typeface="Calibri" pitchFamily="34" charset="-120"/>
              </a:rPr>
              <a:t>Razor Pages, input validation, error mapping, DI</a:t>
            </a:r>
            <a:endParaRPr lang="en-US" sz="1000" dirty="0"/>
          </a:p>
        </p:txBody>
      </p:sp>
      <p:sp>
        <p:nvSpPr>
          <p:cNvPr id="11" name="Shape 8"/>
          <p:cNvSpPr/>
          <p:nvPr/>
        </p:nvSpPr>
        <p:spPr>
          <a:xfrm>
            <a:off x="4480560" y="1417320"/>
            <a:ext cx="1737360" cy="960120"/>
          </a:xfrm>
          <a:prstGeom prst="roundRect">
            <a:avLst>
              <a:gd name="adj" fmla="val 7619"/>
            </a:avLst>
          </a:prstGeom>
          <a:solidFill>
            <a:srgbClr val="FFFFFF"/>
          </a:solidFill>
          <a:ln w="15875">
            <a:solidFill>
              <a:srgbClr val="174A7E"/>
            </a:solidFill>
            <a:prstDash val="solid"/>
          </a:ln>
        </p:spPr>
      </p:sp>
      <p:sp>
        <p:nvSpPr>
          <p:cNvPr id="12" name="Text 9"/>
          <p:cNvSpPr txBox="1"/>
          <p:nvPr/>
        </p:nvSpPr>
        <p:spPr>
          <a:xfrm>
            <a:off x="4480560" y="1508760"/>
            <a:ext cx="1737360" cy="292608"/>
          </a:xfrm>
          <a:prstGeom prst="rect">
            <a:avLst/>
          </a:prstGeom>
          <a:noFill/>
          <a:ln/>
        </p:spPr>
        <p:txBody>
          <a:bodyPr wrap="square" lIns="0" tIns="0" rIns="0" bIns="0" rtlCol="0" anchor="ctr"/>
          <a:lstStyle/>
          <a:p>
            <a:pPr algn="ctr" indent="0" marL="0">
              <a:buNone/>
            </a:pPr>
            <a:r>
              <a:rPr lang="en-US" sz="1300" b="1" dirty="0">
                <a:solidFill>
                  <a:srgbClr val="174A7E"/>
                </a:solidFill>
                <a:latin typeface="Calibri" pitchFamily="34" charset="0"/>
                <a:ea typeface="Calibri" pitchFamily="34" charset="-122"/>
                <a:cs typeface="Calibri" pitchFamily="34" charset="-120"/>
              </a:rPr>
              <a:t>Atm.Application</a:t>
            </a:r>
            <a:endParaRPr lang="en-US" sz="1300" dirty="0"/>
          </a:p>
        </p:txBody>
      </p:sp>
      <p:sp>
        <p:nvSpPr>
          <p:cNvPr id="13" name="Text 10"/>
          <p:cNvSpPr txBox="1"/>
          <p:nvPr/>
        </p:nvSpPr>
        <p:spPr>
          <a:xfrm>
            <a:off x="4572000" y="1801368"/>
            <a:ext cx="1554480" cy="502920"/>
          </a:xfrm>
          <a:prstGeom prst="rect">
            <a:avLst/>
          </a:prstGeom>
          <a:noFill/>
          <a:ln/>
        </p:spPr>
        <p:txBody>
          <a:bodyPr wrap="square" lIns="0" tIns="0" rIns="0" bIns="0" rtlCol="0" anchor="t"/>
          <a:lstStyle/>
          <a:p>
            <a:pPr algn="ctr" indent="0" marL="0">
              <a:buNone/>
            </a:pPr>
            <a:r>
              <a:rPr lang="en-US" sz="1000" dirty="0">
                <a:solidFill>
                  <a:srgbClr val="667085"/>
                </a:solidFill>
                <a:latin typeface="Calibri" pitchFamily="34" charset="0"/>
                <a:ea typeface="Calibri" pitchFamily="34" charset="-122"/>
                <a:cs typeface="Calibri" pitchFamily="34" charset="-120"/>
              </a:rPr>
              <a:t>use cases, ports, orchestration</a:t>
            </a:r>
            <a:endParaRPr lang="en-US" sz="1000" dirty="0"/>
          </a:p>
        </p:txBody>
      </p:sp>
      <p:sp>
        <p:nvSpPr>
          <p:cNvPr id="14" name="Shape 11"/>
          <p:cNvSpPr/>
          <p:nvPr/>
        </p:nvSpPr>
        <p:spPr>
          <a:xfrm>
            <a:off x="6629400" y="1417320"/>
            <a:ext cx="1965960" cy="960120"/>
          </a:xfrm>
          <a:prstGeom prst="roundRect">
            <a:avLst>
              <a:gd name="adj" fmla="val 7619"/>
            </a:avLst>
          </a:prstGeom>
          <a:solidFill>
            <a:srgbClr val="FFFFFF"/>
          </a:solidFill>
          <a:ln w="15875">
            <a:solidFill>
              <a:srgbClr val="174A7E"/>
            </a:solidFill>
            <a:prstDash val="solid"/>
          </a:ln>
        </p:spPr>
      </p:sp>
      <p:sp>
        <p:nvSpPr>
          <p:cNvPr id="15" name="Text 12"/>
          <p:cNvSpPr txBox="1"/>
          <p:nvPr/>
        </p:nvSpPr>
        <p:spPr>
          <a:xfrm>
            <a:off x="6629400" y="1508760"/>
            <a:ext cx="1965960" cy="292608"/>
          </a:xfrm>
          <a:prstGeom prst="rect">
            <a:avLst/>
          </a:prstGeom>
          <a:noFill/>
          <a:ln/>
        </p:spPr>
        <p:txBody>
          <a:bodyPr wrap="square" lIns="0" tIns="0" rIns="0" bIns="0" rtlCol="0" anchor="ctr"/>
          <a:lstStyle/>
          <a:p>
            <a:pPr algn="ctr" indent="0" marL="0">
              <a:buNone/>
            </a:pPr>
            <a:r>
              <a:rPr lang="en-US" sz="1300" b="1" dirty="0">
                <a:solidFill>
                  <a:srgbClr val="174A7E"/>
                </a:solidFill>
                <a:latin typeface="Calibri" pitchFamily="34" charset="0"/>
                <a:ea typeface="Calibri" pitchFamily="34" charset="-122"/>
                <a:cs typeface="Calibri" pitchFamily="34" charset="-120"/>
              </a:rPr>
              <a:t>Atm.Domain</a:t>
            </a:r>
            <a:endParaRPr lang="en-US" sz="1300" dirty="0"/>
          </a:p>
        </p:txBody>
      </p:sp>
      <p:sp>
        <p:nvSpPr>
          <p:cNvPr id="16" name="Text 13"/>
          <p:cNvSpPr txBox="1"/>
          <p:nvPr/>
        </p:nvSpPr>
        <p:spPr>
          <a:xfrm>
            <a:off x="6720840" y="1801368"/>
            <a:ext cx="1783080" cy="502920"/>
          </a:xfrm>
          <a:prstGeom prst="rect">
            <a:avLst/>
          </a:prstGeom>
          <a:noFill/>
          <a:ln/>
        </p:spPr>
        <p:txBody>
          <a:bodyPr wrap="square" lIns="0" tIns="0" rIns="0" bIns="0" rtlCol="0" anchor="t"/>
          <a:lstStyle/>
          <a:p>
            <a:pPr algn="ctr" indent="0" marL="0">
              <a:buNone/>
            </a:pPr>
            <a:r>
              <a:rPr lang="en-US" sz="1000" dirty="0">
                <a:solidFill>
                  <a:srgbClr val="667085"/>
                </a:solidFill>
                <a:latin typeface="Calibri" pitchFamily="34" charset="0"/>
                <a:ea typeface="Calibri" pitchFamily="34" charset="-122"/>
                <a:cs typeface="Calibri" pitchFamily="34" charset="-120"/>
              </a:rPr>
              <a:t>Money, Account, Transaction, invariants</a:t>
            </a:r>
            <a:endParaRPr lang="en-US" sz="1000" dirty="0"/>
          </a:p>
        </p:txBody>
      </p:sp>
      <p:sp>
        <p:nvSpPr>
          <p:cNvPr id="17" name="Shape 14"/>
          <p:cNvSpPr/>
          <p:nvPr/>
        </p:nvSpPr>
        <p:spPr>
          <a:xfrm>
            <a:off x="1920240" y="1897380"/>
            <a:ext cx="411480" cy="914"/>
          </a:xfrm>
          <a:prstGeom prst="line">
            <a:avLst/>
          </a:prstGeom>
          <a:noFill/>
          <a:ln w="19050">
            <a:solidFill>
              <a:srgbClr val="174A7E"/>
            </a:solidFill>
            <a:prstDash val="solid"/>
            <a:tailEnd type="triangle"/>
          </a:ln>
        </p:spPr>
      </p:sp>
      <p:sp>
        <p:nvSpPr>
          <p:cNvPr id="18" name="Shape 15"/>
          <p:cNvSpPr/>
          <p:nvPr/>
        </p:nvSpPr>
        <p:spPr>
          <a:xfrm>
            <a:off x="4069080" y="1897380"/>
            <a:ext cx="411480" cy="914"/>
          </a:xfrm>
          <a:prstGeom prst="line">
            <a:avLst/>
          </a:prstGeom>
          <a:noFill/>
          <a:ln w="19050">
            <a:solidFill>
              <a:srgbClr val="174A7E"/>
            </a:solidFill>
            <a:prstDash val="solid"/>
            <a:tailEnd type="triangle"/>
          </a:ln>
        </p:spPr>
      </p:sp>
      <p:sp>
        <p:nvSpPr>
          <p:cNvPr id="19" name="Shape 16"/>
          <p:cNvSpPr/>
          <p:nvPr/>
        </p:nvSpPr>
        <p:spPr>
          <a:xfrm>
            <a:off x="6217920" y="1897380"/>
            <a:ext cx="411480" cy="914"/>
          </a:xfrm>
          <a:prstGeom prst="line">
            <a:avLst/>
          </a:prstGeom>
          <a:noFill/>
          <a:ln w="19050">
            <a:solidFill>
              <a:srgbClr val="174A7E"/>
            </a:solidFill>
            <a:prstDash val="solid"/>
            <a:tailEnd type="triangle"/>
          </a:ln>
        </p:spPr>
      </p:sp>
      <p:sp>
        <p:nvSpPr>
          <p:cNvPr id="20" name="Shape 17"/>
          <p:cNvSpPr/>
          <p:nvPr/>
        </p:nvSpPr>
        <p:spPr>
          <a:xfrm>
            <a:off x="4480560" y="3063240"/>
            <a:ext cx="1737360" cy="960120"/>
          </a:xfrm>
          <a:prstGeom prst="roundRect">
            <a:avLst>
              <a:gd name="adj" fmla="val 7619"/>
            </a:avLst>
          </a:prstGeom>
          <a:solidFill>
            <a:srgbClr val="FFFFFF"/>
          </a:solidFill>
          <a:ln w="15875">
            <a:solidFill>
              <a:srgbClr val="174A7E"/>
            </a:solidFill>
            <a:prstDash val="solid"/>
          </a:ln>
        </p:spPr>
      </p:sp>
      <p:sp>
        <p:nvSpPr>
          <p:cNvPr id="21" name="Text 18"/>
          <p:cNvSpPr txBox="1"/>
          <p:nvPr/>
        </p:nvSpPr>
        <p:spPr>
          <a:xfrm>
            <a:off x="4480560" y="3154680"/>
            <a:ext cx="1737360" cy="292608"/>
          </a:xfrm>
          <a:prstGeom prst="rect">
            <a:avLst/>
          </a:prstGeom>
          <a:noFill/>
          <a:ln/>
        </p:spPr>
        <p:txBody>
          <a:bodyPr wrap="square" lIns="0" tIns="0" rIns="0" bIns="0" rtlCol="0" anchor="ctr"/>
          <a:lstStyle/>
          <a:p>
            <a:pPr algn="ctr" indent="0" marL="0">
              <a:buNone/>
            </a:pPr>
            <a:r>
              <a:rPr lang="en-US" sz="1300" b="1" dirty="0">
                <a:solidFill>
                  <a:srgbClr val="174A7E"/>
                </a:solidFill>
                <a:latin typeface="Calibri" pitchFamily="34" charset="0"/>
                <a:ea typeface="Calibri" pitchFamily="34" charset="-122"/>
                <a:cs typeface="Calibri" pitchFamily="34" charset="-120"/>
              </a:rPr>
              <a:t>Atm.Infrastructure</a:t>
            </a:r>
            <a:endParaRPr lang="en-US" sz="1300" dirty="0"/>
          </a:p>
        </p:txBody>
      </p:sp>
      <p:sp>
        <p:nvSpPr>
          <p:cNvPr id="22" name="Text 19"/>
          <p:cNvSpPr txBox="1"/>
          <p:nvPr/>
        </p:nvSpPr>
        <p:spPr>
          <a:xfrm>
            <a:off x="4572000" y="3447288"/>
            <a:ext cx="1554480" cy="502920"/>
          </a:xfrm>
          <a:prstGeom prst="rect">
            <a:avLst/>
          </a:prstGeom>
          <a:noFill/>
          <a:ln/>
        </p:spPr>
        <p:txBody>
          <a:bodyPr wrap="square" lIns="0" tIns="0" rIns="0" bIns="0" rtlCol="0" anchor="t"/>
          <a:lstStyle/>
          <a:p>
            <a:pPr algn="ctr" indent="0" marL="0">
              <a:buNone/>
            </a:pPr>
            <a:r>
              <a:rPr lang="en-US" sz="1000" dirty="0">
                <a:solidFill>
                  <a:srgbClr val="667085"/>
                </a:solidFill>
                <a:latin typeface="Calibri" pitchFamily="34" charset="0"/>
                <a:ea typeface="Calibri" pitchFamily="34" charset="-122"/>
                <a:cs typeface="Calibri" pitchFamily="34" charset="-120"/>
              </a:rPr>
              <a:t>EF Core, SQLite, migrations, unit of work</a:t>
            </a:r>
            <a:endParaRPr lang="en-US" sz="1000" dirty="0"/>
          </a:p>
        </p:txBody>
      </p:sp>
      <p:sp>
        <p:nvSpPr>
          <p:cNvPr id="23" name="Shape 20"/>
          <p:cNvSpPr/>
          <p:nvPr/>
        </p:nvSpPr>
        <p:spPr>
          <a:xfrm flipV="1">
            <a:off x="5349240" y="2377440"/>
            <a:ext cx="914" cy="685800"/>
          </a:xfrm>
          <a:prstGeom prst="line">
            <a:avLst/>
          </a:prstGeom>
          <a:noFill/>
          <a:ln w="19050">
            <a:solidFill>
              <a:srgbClr val="174A7E"/>
            </a:solidFill>
            <a:prstDash val="solid"/>
            <a:tailEnd type="triangle"/>
          </a:ln>
        </p:spPr>
      </p:sp>
      <p:sp>
        <p:nvSpPr>
          <p:cNvPr id="24" name="Text 21"/>
          <p:cNvSpPr txBox="1"/>
          <p:nvPr/>
        </p:nvSpPr>
        <p:spPr>
          <a:xfrm>
            <a:off x="5440680" y="2606040"/>
            <a:ext cx="1463040" cy="228600"/>
          </a:xfrm>
          <a:prstGeom prst="rect">
            <a:avLst/>
          </a:prstGeom>
          <a:noFill/>
          <a:ln/>
        </p:spPr>
        <p:txBody>
          <a:bodyPr wrap="square" lIns="0" tIns="0" rIns="0" bIns="0" rtlCol="0" anchor="ctr"/>
          <a:lstStyle/>
          <a:p>
            <a:pPr indent="0" marL="0">
              <a:buNone/>
            </a:pPr>
            <a:r>
              <a:rPr lang="en-US" sz="950" i="1" dirty="0">
                <a:solidFill>
                  <a:srgbClr val="667085"/>
                </a:solidFill>
                <a:latin typeface="Calibri" pitchFamily="34" charset="0"/>
                <a:ea typeface="Calibri" pitchFamily="34" charset="-122"/>
                <a:cs typeface="Calibri" pitchFamily="34" charset="-120"/>
              </a:rPr>
              <a:t>implements ports</a:t>
            </a:r>
            <a:endParaRPr lang="en-US" sz="950" dirty="0"/>
          </a:p>
        </p:txBody>
      </p:sp>
      <p:sp>
        <p:nvSpPr>
          <p:cNvPr id="25" name="Shape 22"/>
          <p:cNvSpPr/>
          <p:nvPr/>
        </p:nvSpPr>
        <p:spPr>
          <a:xfrm>
            <a:off x="3200400" y="2377440"/>
            <a:ext cx="914" cy="1165860"/>
          </a:xfrm>
          <a:prstGeom prst="line">
            <a:avLst/>
          </a:prstGeom>
          <a:noFill/>
          <a:ln w="12700">
            <a:solidFill>
              <a:srgbClr val="667085"/>
            </a:solidFill>
            <a:prstDash val="dash"/>
          </a:ln>
        </p:spPr>
      </p:sp>
      <p:sp>
        <p:nvSpPr>
          <p:cNvPr id="26" name="Shape 23"/>
          <p:cNvSpPr/>
          <p:nvPr/>
        </p:nvSpPr>
        <p:spPr>
          <a:xfrm>
            <a:off x="3200400" y="3543300"/>
            <a:ext cx="1280160" cy="914"/>
          </a:xfrm>
          <a:prstGeom prst="line">
            <a:avLst/>
          </a:prstGeom>
          <a:noFill/>
          <a:ln w="19050">
            <a:solidFill>
              <a:srgbClr val="667085"/>
            </a:solidFill>
            <a:prstDash val="dash"/>
            <a:tailEnd type="triangle"/>
          </a:ln>
        </p:spPr>
      </p:sp>
      <p:sp>
        <p:nvSpPr>
          <p:cNvPr id="27" name="Text 24"/>
          <p:cNvSpPr txBox="1"/>
          <p:nvPr/>
        </p:nvSpPr>
        <p:spPr>
          <a:xfrm>
            <a:off x="2331720" y="3616452"/>
            <a:ext cx="2103120" cy="365760"/>
          </a:xfrm>
          <a:prstGeom prst="rect">
            <a:avLst/>
          </a:prstGeom>
          <a:noFill/>
          <a:ln/>
        </p:spPr>
        <p:txBody>
          <a:bodyPr wrap="square" lIns="0" tIns="0" rIns="0" bIns="0" rtlCol="0" anchor="ctr"/>
          <a:lstStyle/>
          <a:p>
            <a:pPr indent="0" marL="0">
              <a:buNone/>
            </a:pPr>
            <a:r>
              <a:rPr lang="en-US" sz="950" i="1" dirty="0">
                <a:solidFill>
                  <a:srgbClr val="667085"/>
                </a:solidFill>
                <a:latin typeface="Calibri" pitchFamily="34" charset="0"/>
                <a:ea typeface="Calibri" pitchFamily="34" charset="-122"/>
                <a:cs typeface="Calibri" pitchFamily="34" charset="-120"/>
              </a:rPr>
              <a:t>composition root registers adapters</a:t>
            </a:r>
            <a:endParaRPr lang="en-US" sz="950" dirty="0"/>
          </a:p>
        </p:txBody>
      </p:sp>
      <p:sp>
        <p:nvSpPr>
          <p:cNvPr id="28" name="Text 25"/>
          <p:cNvSpPr txBox="1"/>
          <p:nvPr/>
        </p:nvSpPr>
        <p:spPr>
          <a:xfrm>
            <a:off x="548640" y="4206240"/>
            <a:ext cx="8046720" cy="685800"/>
          </a:xfrm>
          <a:prstGeom prst="rect">
            <a:avLst/>
          </a:prstGeom>
          <a:noFill/>
          <a:ln/>
        </p:spPr>
        <p:txBody>
          <a:bodyPr wrap="square" lIns="0" tIns="0" rIns="0" bIns="0" rtlCol="0" anchor="t"/>
          <a:lstStyle/>
          <a:p>
            <a:pPr indent="0" marL="0">
              <a:buNone/>
            </a:pPr>
            <a:r>
              <a:rPr lang="en-US" sz="1150" b="1" dirty="0">
                <a:solidFill>
                  <a:srgbClr val="174A7E"/>
                </a:solidFill>
                <a:latin typeface="Calibri" pitchFamily="34" charset="0"/>
                <a:ea typeface="Calibri" pitchFamily="34" charset="-122"/>
                <a:cs typeface="Calibri" pitchFamily="34" charset="-120"/>
              </a:rPr>
              <a:t>Every solid arrow points inward. </a:t>
            </a:r>
            <a:pPr indent="0" marL="0">
              <a:buNone/>
            </a:pPr>
            <a:r>
              <a:rPr lang="en-US" sz="1150" dirty="0">
                <a:solidFill>
                  <a:srgbClr val="17212B"/>
                </a:solidFill>
                <a:latin typeface="Calibri" pitchFamily="34" charset="0"/>
                <a:ea typeface="Calibri" pitchFamily="34" charset="-122"/>
                <a:cs typeface="Calibri" pitchFamily="34" charset="-120"/>
              </a:rPr>
              <a:t>Domain has no package references; Application depends only on Domain; Infrastructure implements Application's ports; Web composes them. Persistence can change without touching a use case, and every business rule is testable without a database or a web server.</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548640"/>
          </a:xfrm>
          <a:prstGeom prst="rect">
            <a:avLst/>
          </a:prstGeom>
          <a:noFill/>
          <a:ln/>
        </p:spPr>
        <p:txBody>
          <a:bodyPr wrap="square" lIns="0" tIns="0" rIns="0" bIns="0" rtlCol="0" anchor="ctr"/>
          <a:lstStyle/>
          <a:p>
            <a:pPr indent="0" marL="0">
              <a:buNone/>
            </a:pPr>
            <a:r>
              <a:rPr lang="en-US" sz="2800" b="1" dirty="0">
                <a:solidFill>
                  <a:srgbClr val="174A7E"/>
                </a:solidFill>
                <a:latin typeface="Calibri" pitchFamily="34" charset="0"/>
                <a:ea typeface="Calibri" pitchFamily="34" charset="-122"/>
                <a:cs typeface="Calibri" pitchFamily="34" charset="-120"/>
              </a:rPr>
              <a:t>Key decisions</a:t>
            </a:r>
            <a:endParaRPr lang="en-US" sz="2800" dirty="0"/>
          </a:p>
        </p:txBody>
      </p:sp>
      <p:sp>
        <p:nvSpPr>
          <p:cNvPr id="3" name="Text 1"/>
          <p:cNvSpPr txBox="1"/>
          <p:nvPr/>
        </p:nvSpPr>
        <p:spPr>
          <a:xfrm>
            <a:off x="8229600" y="4709160"/>
            <a:ext cx="45720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4</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8046720" cy="914400"/>
        </p:xfrm>
        <a:graphic>
          <a:graphicData uri="http://schemas.openxmlformats.org/drawingml/2006/table">
            <a:tbl>
              <a:tblPr/>
              <a:tblGrid>
                <a:gridCol w="1737360"/>
                <a:gridCol w="3200400"/>
                <a:gridCol w="2468880"/>
                <a:gridCol w="640080"/>
              </a:tblGrid>
              <a:tr h="3200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latin typeface="Calibri" charset="0"/>
                        <a:ea typeface="Calibri" charset="0"/>
                        <a:cs typeface="Calibri" charset="0"/>
                      </a:endParaRPr>
                    </a:p>
                  </a:txBody>
                  <a:tcPr marL="64008" marR="64008" marT="64008" marB="64008">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174A7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latin typeface="Calibri" charset="0"/>
                        <a:ea typeface="Calibri" charset="0"/>
                        <a:cs typeface="Calibri" charset="0"/>
                      </a:endParaRPr>
                    </a:p>
                  </a:txBody>
                  <a:tcPr marL="64008" marR="64008" marT="64008" marB="64008">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174A7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Tradeoff</a:t>
                      </a:r>
                      <a:endParaRPr lang="en-US" sz="1100" dirty="0">
                        <a:latin typeface="Calibri" charset="0"/>
                        <a:ea typeface="Calibri" charset="0"/>
                        <a:cs typeface="Calibri" charset="0"/>
                      </a:endParaRPr>
                    </a:p>
                  </a:txBody>
                  <a:tcPr marL="64008" marR="64008" marT="64008" marB="64008">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174A7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ADR</a:t>
                      </a:r>
                      <a:endParaRPr lang="en-US" sz="1100" dirty="0">
                        <a:latin typeface="Calibri" charset="0"/>
                        <a:ea typeface="Calibri" charset="0"/>
                        <a:cs typeface="Calibri" charset="0"/>
                      </a:endParaRPr>
                    </a:p>
                  </a:txBody>
                  <a:tcPr marL="64008" marR="64008" marT="64008" marB="64008">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174A7E"/>
                    </a:solidFill>
                  </a:tcPr>
                </a:tc>
              </a:tr>
              <a:tr h="566928">
                <a:tc>
                  <a:txBody>
                    <a:bodyPr/>
                    <a:lstStyle/>
                    <a:p>
                      <a:pPr indent="0" marL="0">
                        <a:buNone/>
                      </a:pPr>
                      <a:r>
                        <a:rPr lang="en-US" sz="1050" b="1" dirty="0">
                          <a:solidFill>
                            <a:srgbClr val="17212B"/>
                          </a:solidFill>
                          <a:latin typeface="Calibri" pitchFamily="34" charset="0"/>
                          <a:ea typeface="Calibri" pitchFamily="34" charset="-122"/>
                          <a:cs typeface="Calibri" pitchFamily="34" charset="-120"/>
                        </a:rPr>
                        <a:t>Razor Pages, server-rendered</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One language, one build, one deployable; Post/Redirect/Get and validation come built in</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No rich client interactivity; a real API would need adding later</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0001</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212B"/>
                          </a:solidFill>
                          <a:latin typeface="Calibri" pitchFamily="34" charset="0"/>
                          <a:ea typeface="Calibri" pitchFamily="34" charset="-122"/>
                          <a:cs typeface="Calibri" pitchFamily="34" charset="-120"/>
                        </a:rPr>
                        <a:t>Modular monolith</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Four projects with inward dependencies show separation without distributed complexity</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Extra project ceremony for a small codebase</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0002</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212B"/>
                          </a:solidFill>
                          <a:latin typeface="Calibri" pitchFamily="34" charset="0"/>
                          <a:ea typeface="Calibri" pitchFamily="34" charset="-122"/>
                          <a:cs typeface="Calibri" pitchFamily="34" charset="-120"/>
                        </a:rPr>
                        <a:t>SQLite through EF Core</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Durable, zero-setup, relational; migrations, transactions and concurrency tokens for free</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Single-writer limits; decimal stored as text, so no arithmetic in SQL</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0003</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212B"/>
                          </a:solidFill>
                          <a:latin typeface="Calibri" pitchFamily="34" charset="0"/>
                          <a:ea typeface="Calibri" pitchFamily="34" charset="-122"/>
                          <a:cs typeface="Calibri" pitchFamily="34" charset="-120"/>
                        </a:rPr>
                        <a:t>Decimal money, two digits</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A Money value type rejects negatives and sub-cent precision at construction; no float anywhere</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Conversions at every boundary; currency is implicitly USD</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0005</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212B"/>
                          </a:solidFill>
                          <a:latin typeface="Calibri" pitchFamily="34" charset="0"/>
                          <a:ea typeface="Calibri" pitchFamily="34" charset="-122"/>
                          <a:cs typeface="Calibri" pitchFamily="34" charset="-120"/>
                        </a:rPr>
                        <a:t>Single-user scope</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Removes auth, sessions and identity so the financial rules stay the centre of the exercise</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Concurrency is handled, but there is no per-user isolation</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c>
                  <a:txBody>
                    <a:bodyPr/>
                    <a:lstStyle/>
                    <a:p>
                      <a:pPr indent="0" marL="0">
                        <a:buNone/>
                      </a:pPr>
                      <a:r>
                        <a:rPr lang="en-US" sz="1050" dirty="0">
                          <a:solidFill>
                            <a:srgbClr val="17212B"/>
                          </a:solidFill>
                          <a:latin typeface="Calibri" pitchFamily="34" charset="0"/>
                          <a:ea typeface="Calibri" pitchFamily="34" charset="-122"/>
                          <a:cs typeface="Calibri" pitchFamily="34" charset="-120"/>
                        </a:rPr>
                        <a:t>Spec</a:t>
                      </a:r>
                      <a:endParaRPr lang="en-US" sz="1050" dirty="0">
                        <a:latin typeface="Calibri" charset="0"/>
                        <a:ea typeface="Calibri" charset="0"/>
                        <a:cs typeface="Calibri" charset="0"/>
                      </a:endParaRPr>
                    </a:p>
                  </a:txBody>
                  <a:tcPr marL="64008" marR="64008" marT="64008" marB="64008" anchor="t">
                    <a:lnL w="9525" cap="flat" cmpd="sng" algn="ctr">
                      <a:solidFill>
                        <a:srgbClr val="D9E0E7"/>
                      </a:solidFill>
                      <a:prstDash val="solid"/>
                      <a:round/>
                      <a:headEnd type="none" w="med" len="med"/>
                      <a:tailEnd type="none" w="med" len="med"/>
                    </a:lnL>
                    <a:lnR w="9525" cap="flat" cmpd="sng" algn="ctr">
                      <a:solidFill>
                        <a:srgbClr val="D9E0E7"/>
                      </a:solidFill>
                      <a:prstDash val="solid"/>
                      <a:round/>
                      <a:headEnd type="none" w="med" len="med"/>
                      <a:tailEnd type="none" w="med" len="med"/>
                    </a:lnR>
                    <a:lnT w="9525" cap="flat" cmpd="sng" algn="ctr">
                      <a:solidFill>
                        <a:srgbClr val="D9E0E7"/>
                      </a:solidFill>
                      <a:prstDash val="solid"/>
                      <a:round/>
                      <a:headEnd type="none" w="med" len="med"/>
                      <a:tailEnd type="none" w="med" len="med"/>
                    </a:lnT>
                    <a:lnB w="9525" cap="flat" cmpd="sng" algn="ctr">
                      <a:solidFill>
                        <a:srgbClr val="D9E0E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548640"/>
          </a:xfrm>
          <a:prstGeom prst="rect">
            <a:avLst/>
          </a:prstGeom>
          <a:noFill/>
          <a:ln/>
        </p:spPr>
        <p:txBody>
          <a:bodyPr wrap="square" lIns="0" tIns="0" rIns="0" bIns="0" rtlCol="0" anchor="ctr"/>
          <a:lstStyle/>
          <a:p>
            <a:pPr indent="0" marL="0">
              <a:buNone/>
            </a:pPr>
            <a:r>
              <a:rPr lang="en-US" sz="2800" b="1" dirty="0">
                <a:solidFill>
                  <a:srgbClr val="174A7E"/>
                </a:solidFill>
                <a:latin typeface="Calibri" pitchFamily="34" charset="0"/>
                <a:ea typeface="Calibri" pitchFamily="34" charset="-122"/>
                <a:cs typeface="Calibri" pitchFamily="34" charset="-120"/>
              </a:rPr>
              <a:t>Correctness and failure handling</a:t>
            </a:r>
            <a:endParaRPr lang="en-US" sz="2800" dirty="0"/>
          </a:p>
        </p:txBody>
      </p:sp>
      <p:sp>
        <p:nvSpPr>
          <p:cNvPr id="3" name="Text 1"/>
          <p:cNvSpPr txBox="1"/>
          <p:nvPr/>
        </p:nvSpPr>
        <p:spPr>
          <a:xfrm>
            <a:off x="8229600" y="4709160"/>
            <a:ext cx="45720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5</a:t>
            </a:r>
            <a:endParaRPr lang="en-US" sz="900" dirty="0"/>
          </a:p>
        </p:txBody>
      </p:sp>
      <p:sp>
        <p:nvSpPr>
          <p:cNvPr id="5" name="Shape 2"/>
          <p:cNvSpPr/>
          <p:nvPr/>
        </p:nvSpPr>
        <p:spPr>
          <a:xfrm>
            <a:off x="548640" y="1115568"/>
            <a:ext cx="310896" cy="310896"/>
          </a:xfrm>
          <a:prstGeom prst="ellipse">
            <a:avLst/>
          </a:prstGeom>
          <a:solidFill>
            <a:srgbClr val="174A7E"/>
          </a:solidFill>
          <a:ln w="12700">
            <a:solidFill>
              <a:srgbClr val="174A7E"/>
            </a:solidFill>
            <a:prstDash val="solid"/>
          </a:ln>
        </p:spPr>
      </p:sp>
      <p:sp>
        <p:nvSpPr>
          <p:cNvPr id="6" name="Text 3"/>
          <p:cNvSpPr txBox="1"/>
          <p:nvPr/>
        </p:nvSpPr>
        <p:spPr>
          <a:xfrm>
            <a:off x="548640" y="111556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txBox="1"/>
          <p:nvPr/>
        </p:nvSpPr>
        <p:spPr>
          <a:xfrm>
            <a:off x="960120" y="1097280"/>
            <a:ext cx="3657600" cy="274320"/>
          </a:xfrm>
          <a:prstGeom prst="rect">
            <a:avLst/>
          </a:prstGeom>
          <a:noFill/>
          <a:ln/>
        </p:spPr>
        <p:txBody>
          <a:bodyPr wrap="square" lIns="0" tIns="0" rIns="0" bIns="0" rtlCol="0" anchor="ctr"/>
          <a:lstStyle/>
          <a:p>
            <a:pPr indent="0" marL="0">
              <a:buNone/>
            </a:pPr>
            <a:r>
              <a:rPr lang="en-US" sz="1250" b="1" dirty="0">
                <a:solidFill>
                  <a:srgbClr val="174A7E"/>
                </a:solidFill>
                <a:latin typeface="Calibri" pitchFamily="34" charset="0"/>
                <a:ea typeface="Calibri" pitchFamily="34" charset="-122"/>
                <a:cs typeface="Calibri" pitchFamily="34" charset="-120"/>
              </a:rPr>
              <a:t>Invariants live in the domain</a:t>
            </a:r>
            <a:endParaRPr lang="en-US" sz="1250" dirty="0"/>
          </a:p>
        </p:txBody>
      </p:sp>
      <p:sp>
        <p:nvSpPr>
          <p:cNvPr id="8" name="Text 5"/>
          <p:cNvSpPr txBox="1"/>
          <p:nvPr/>
        </p:nvSpPr>
        <p:spPr>
          <a:xfrm>
            <a:off x="960120" y="1371600"/>
            <a:ext cx="3657600" cy="457200"/>
          </a:xfrm>
          <a:prstGeom prst="rect">
            <a:avLst/>
          </a:prstGeom>
          <a:noFill/>
          <a:ln/>
        </p:spPr>
        <p:txBody>
          <a:bodyPr wrap="square" lIns="0" tIns="0" rIns="0" bIns="0" rtlCol="0" anchor="t"/>
          <a:lstStyle/>
          <a:p>
            <a:pPr indent="0" marL="0">
              <a:buNone/>
            </a:pPr>
            <a:r>
              <a:rPr lang="en-US" sz="1050" dirty="0">
                <a:solidFill>
                  <a:srgbClr val="17212B"/>
                </a:solidFill>
                <a:latin typeface="Calibri" pitchFamily="34" charset="0"/>
                <a:ea typeface="Calibri" pitchFamily="34" charset="-122"/>
                <a:cs typeface="Calibri" pitchFamily="34" charset="-120"/>
              </a:rPr>
              <a:t>Money is a value type: non-negative, at most two decimals. Operations need a positive amount. Balance can never go below zero.</a:t>
            </a:r>
            <a:endParaRPr lang="en-US" sz="1050" dirty="0"/>
          </a:p>
        </p:txBody>
      </p:sp>
      <p:sp>
        <p:nvSpPr>
          <p:cNvPr id="9" name="Shape 6"/>
          <p:cNvSpPr/>
          <p:nvPr/>
        </p:nvSpPr>
        <p:spPr>
          <a:xfrm>
            <a:off x="548640" y="1847088"/>
            <a:ext cx="310896" cy="310896"/>
          </a:xfrm>
          <a:prstGeom prst="ellipse">
            <a:avLst/>
          </a:prstGeom>
          <a:solidFill>
            <a:srgbClr val="174A7E"/>
          </a:solidFill>
          <a:ln w="12700">
            <a:solidFill>
              <a:srgbClr val="174A7E"/>
            </a:solidFill>
            <a:prstDash val="solid"/>
          </a:ln>
        </p:spPr>
      </p:sp>
      <p:sp>
        <p:nvSpPr>
          <p:cNvPr id="10" name="Text 7"/>
          <p:cNvSpPr txBox="1"/>
          <p:nvPr/>
        </p:nvSpPr>
        <p:spPr>
          <a:xfrm>
            <a:off x="548640" y="18470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txBox="1"/>
          <p:nvPr/>
        </p:nvSpPr>
        <p:spPr>
          <a:xfrm>
            <a:off x="960120" y="1828800"/>
            <a:ext cx="3657600" cy="274320"/>
          </a:xfrm>
          <a:prstGeom prst="rect">
            <a:avLst/>
          </a:prstGeom>
          <a:noFill/>
          <a:ln/>
        </p:spPr>
        <p:txBody>
          <a:bodyPr wrap="square" lIns="0" tIns="0" rIns="0" bIns="0" rtlCol="0" anchor="ctr"/>
          <a:lstStyle/>
          <a:p>
            <a:pPr indent="0" marL="0">
              <a:buNone/>
            </a:pPr>
            <a:r>
              <a:rPr lang="en-US" sz="1250" b="1" dirty="0">
                <a:solidFill>
                  <a:srgbClr val="174A7E"/>
                </a:solidFill>
                <a:latin typeface="Calibri" pitchFamily="34" charset="0"/>
                <a:ea typeface="Calibri" pitchFamily="34" charset="-122"/>
                <a:cs typeface="Calibri" pitchFamily="34" charset="-120"/>
              </a:rPr>
              <a:t>Rejections happen before any mutation</a:t>
            </a:r>
            <a:endParaRPr lang="en-US" sz="1250" dirty="0"/>
          </a:p>
        </p:txBody>
      </p:sp>
      <p:sp>
        <p:nvSpPr>
          <p:cNvPr id="12" name="Text 9"/>
          <p:cNvSpPr txBox="1"/>
          <p:nvPr/>
        </p:nvSpPr>
        <p:spPr>
          <a:xfrm>
            <a:off x="960120" y="2103120"/>
            <a:ext cx="3657600" cy="457200"/>
          </a:xfrm>
          <a:prstGeom prst="rect">
            <a:avLst/>
          </a:prstGeom>
          <a:noFill/>
          <a:ln/>
        </p:spPr>
        <p:txBody>
          <a:bodyPr wrap="square" lIns="0" tIns="0" rIns="0" bIns="0" rtlCol="0" anchor="t"/>
          <a:lstStyle/>
          <a:p>
            <a:pPr indent="0" marL="0">
              <a:buNone/>
            </a:pPr>
            <a:r>
              <a:rPr lang="en-US" sz="1050" dirty="0">
                <a:solidFill>
                  <a:srgbClr val="17212B"/>
                </a:solidFill>
                <a:latin typeface="Calibri" pitchFamily="34" charset="0"/>
                <a:ea typeface="Calibri" pitchFamily="34" charset="-122"/>
                <a:cs typeface="Calibri" pitchFamily="34" charset="-120"/>
              </a:rPr>
              <a:t>Overdrafts, zero amounts, same-account transfers and unknown accounts throw first; nothing is touched and nothing is written.</a:t>
            </a:r>
            <a:endParaRPr lang="en-US" sz="1050" dirty="0"/>
          </a:p>
        </p:txBody>
      </p:sp>
      <p:sp>
        <p:nvSpPr>
          <p:cNvPr id="13" name="Shape 10"/>
          <p:cNvSpPr/>
          <p:nvPr/>
        </p:nvSpPr>
        <p:spPr>
          <a:xfrm>
            <a:off x="548640" y="2578608"/>
            <a:ext cx="310896" cy="310896"/>
          </a:xfrm>
          <a:prstGeom prst="ellipse">
            <a:avLst/>
          </a:prstGeom>
          <a:solidFill>
            <a:srgbClr val="174A7E"/>
          </a:solidFill>
          <a:ln w="12700">
            <a:solidFill>
              <a:srgbClr val="174A7E"/>
            </a:solidFill>
            <a:prstDash val="solid"/>
          </a:ln>
        </p:spPr>
      </p:sp>
      <p:sp>
        <p:nvSpPr>
          <p:cNvPr id="14" name="Text 11"/>
          <p:cNvSpPr txBox="1"/>
          <p:nvPr/>
        </p:nvSpPr>
        <p:spPr>
          <a:xfrm>
            <a:off x="548640" y="25786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txBox="1"/>
          <p:nvPr/>
        </p:nvSpPr>
        <p:spPr>
          <a:xfrm>
            <a:off x="960120" y="2560320"/>
            <a:ext cx="3657600" cy="274320"/>
          </a:xfrm>
          <a:prstGeom prst="rect">
            <a:avLst/>
          </a:prstGeom>
          <a:noFill/>
          <a:ln/>
        </p:spPr>
        <p:txBody>
          <a:bodyPr wrap="square" lIns="0" tIns="0" rIns="0" bIns="0" rtlCol="0" anchor="ctr"/>
          <a:lstStyle/>
          <a:p>
            <a:pPr indent="0" marL="0">
              <a:buNone/>
            </a:pPr>
            <a:r>
              <a:rPr lang="en-US" sz="1250" b="1" dirty="0">
                <a:solidFill>
                  <a:srgbClr val="174A7E"/>
                </a:solidFill>
                <a:latin typeface="Calibri" pitchFamily="34" charset="0"/>
                <a:ea typeface="Calibri" pitchFamily="34" charset="-122"/>
                <a:cs typeface="Calibri" pitchFamily="34" charset="-120"/>
              </a:rPr>
              <a:t>One commit, all or nothing</a:t>
            </a:r>
            <a:endParaRPr lang="en-US" sz="1250" dirty="0"/>
          </a:p>
        </p:txBody>
      </p:sp>
      <p:sp>
        <p:nvSpPr>
          <p:cNvPr id="16" name="Text 13"/>
          <p:cNvSpPr txBox="1"/>
          <p:nvPr/>
        </p:nvSpPr>
        <p:spPr>
          <a:xfrm>
            <a:off x="960120" y="2834640"/>
            <a:ext cx="3657600" cy="457200"/>
          </a:xfrm>
          <a:prstGeom prst="rect">
            <a:avLst/>
          </a:prstGeom>
          <a:noFill/>
          <a:ln/>
        </p:spPr>
        <p:txBody>
          <a:bodyPr wrap="square" lIns="0" tIns="0" rIns="0" bIns="0" rtlCol="0" anchor="t"/>
          <a:lstStyle/>
          <a:p>
            <a:pPr indent="0" marL="0">
              <a:buNone/>
            </a:pPr>
            <a:r>
              <a:rPr lang="en-US" sz="1050" dirty="0">
                <a:solidFill>
                  <a:srgbClr val="17212B"/>
                </a:solidFill>
                <a:latin typeface="Calibri" pitchFamily="34" charset="0"/>
                <a:ea typeface="Calibri" pitchFamily="34" charset="-122"/>
                <a:cs typeface="Calibri" pitchFamily="34" charset="-120"/>
              </a:rPr>
              <a:t>Each operation returns the history record it creates. Infrastructure saves balance and record in one SQLite transaction.</a:t>
            </a:r>
            <a:endParaRPr lang="en-US" sz="1050" dirty="0"/>
          </a:p>
        </p:txBody>
      </p:sp>
      <p:sp>
        <p:nvSpPr>
          <p:cNvPr id="17" name="Shape 14"/>
          <p:cNvSpPr/>
          <p:nvPr/>
        </p:nvSpPr>
        <p:spPr>
          <a:xfrm>
            <a:off x="548640" y="3310128"/>
            <a:ext cx="310896" cy="310896"/>
          </a:xfrm>
          <a:prstGeom prst="ellipse">
            <a:avLst/>
          </a:prstGeom>
          <a:solidFill>
            <a:srgbClr val="174A7E"/>
          </a:solidFill>
          <a:ln w="12700">
            <a:solidFill>
              <a:srgbClr val="174A7E"/>
            </a:solidFill>
            <a:prstDash val="solid"/>
          </a:ln>
        </p:spPr>
      </p:sp>
      <p:sp>
        <p:nvSpPr>
          <p:cNvPr id="18" name="Text 15"/>
          <p:cNvSpPr txBox="1"/>
          <p:nvPr/>
        </p:nvSpPr>
        <p:spPr>
          <a:xfrm>
            <a:off x="548640" y="33101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txBox="1"/>
          <p:nvPr/>
        </p:nvSpPr>
        <p:spPr>
          <a:xfrm>
            <a:off x="960120" y="3291840"/>
            <a:ext cx="3657600" cy="274320"/>
          </a:xfrm>
          <a:prstGeom prst="rect">
            <a:avLst/>
          </a:prstGeom>
          <a:noFill/>
          <a:ln/>
        </p:spPr>
        <p:txBody>
          <a:bodyPr wrap="square" lIns="0" tIns="0" rIns="0" bIns="0" rtlCol="0" anchor="ctr"/>
          <a:lstStyle/>
          <a:p>
            <a:pPr indent="0" marL="0">
              <a:buNone/>
            </a:pPr>
            <a:r>
              <a:rPr lang="en-US" sz="1250" b="1" dirty="0">
                <a:solidFill>
                  <a:srgbClr val="174A7E"/>
                </a:solidFill>
                <a:latin typeface="Calibri" pitchFamily="34" charset="0"/>
                <a:ea typeface="Calibri" pitchFamily="34" charset="-122"/>
                <a:cs typeface="Calibri" pitchFamily="34" charset="-120"/>
              </a:rPr>
              <a:t>Optimistic concurrency</a:t>
            </a:r>
            <a:endParaRPr lang="en-US" sz="1250" dirty="0"/>
          </a:p>
        </p:txBody>
      </p:sp>
      <p:sp>
        <p:nvSpPr>
          <p:cNvPr id="20" name="Text 17"/>
          <p:cNvSpPr txBox="1"/>
          <p:nvPr/>
        </p:nvSpPr>
        <p:spPr>
          <a:xfrm>
            <a:off x="960120" y="3566160"/>
            <a:ext cx="3657600" cy="457200"/>
          </a:xfrm>
          <a:prstGeom prst="rect">
            <a:avLst/>
          </a:prstGeom>
          <a:noFill/>
          <a:ln/>
        </p:spPr>
        <p:txBody>
          <a:bodyPr wrap="square" lIns="0" tIns="0" rIns="0" bIns="0" rtlCol="0" anchor="t"/>
          <a:lstStyle/>
          <a:p>
            <a:pPr indent="0" marL="0">
              <a:buNone/>
            </a:pPr>
            <a:r>
              <a:rPr lang="en-US" sz="1050" dirty="0">
                <a:solidFill>
                  <a:srgbClr val="17212B"/>
                </a:solidFill>
                <a:latin typeface="Calibri" pitchFamily="34" charset="0"/>
                <a:ea typeface="Calibri" pitchFamily="34" charset="-122"/>
                <a:cs typeface="Calibri" pitchFamily="34" charset="-120"/>
              </a:rPr>
              <a:t>Account.Version increments per mutation and is the EF Core concurrency token. Conflicts map to a safe retry message.</a:t>
            </a:r>
            <a:endParaRPr lang="en-US" sz="1050" dirty="0"/>
          </a:p>
        </p:txBody>
      </p:sp>
      <p:sp>
        <p:nvSpPr>
          <p:cNvPr id="21" name="Shape 18"/>
          <p:cNvSpPr/>
          <p:nvPr/>
        </p:nvSpPr>
        <p:spPr>
          <a:xfrm>
            <a:off x="548640" y="4041648"/>
            <a:ext cx="310896" cy="310896"/>
          </a:xfrm>
          <a:prstGeom prst="ellipse">
            <a:avLst/>
          </a:prstGeom>
          <a:solidFill>
            <a:srgbClr val="174A7E"/>
          </a:solidFill>
          <a:ln w="12700">
            <a:solidFill>
              <a:srgbClr val="174A7E"/>
            </a:solidFill>
            <a:prstDash val="solid"/>
          </a:ln>
        </p:spPr>
      </p:sp>
      <p:sp>
        <p:nvSpPr>
          <p:cNvPr id="22" name="Text 19"/>
          <p:cNvSpPr txBox="1"/>
          <p:nvPr/>
        </p:nvSpPr>
        <p:spPr>
          <a:xfrm>
            <a:off x="548640" y="40416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3" name="Text 20"/>
          <p:cNvSpPr txBox="1"/>
          <p:nvPr/>
        </p:nvSpPr>
        <p:spPr>
          <a:xfrm>
            <a:off x="960120" y="4023360"/>
            <a:ext cx="3657600" cy="274320"/>
          </a:xfrm>
          <a:prstGeom prst="rect">
            <a:avLst/>
          </a:prstGeom>
          <a:noFill/>
          <a:ln/>
        </p:spPr>
        <p:txBody>
          <a:bodyPr wrap="square" lIns="0" tIns="0" rIns="0" bIns="0" rtlCol="0" anchor="ctr"/>
          <a:lstStyle/>
          <a:p>
            <a:pPr indent="0" marL="0">
              <a:buNone/>
            </a:pPr>
            <a:r>
              <a:rPr lang="en-US" sz="1250" b="1" dirty="0">
                <a:solidFill>
                  <a:srgbClr val="174A7E"/>
                </a:solidFill>
                <a:latin typeface="Calibri" pitchFamily="34" charset="0"/>
                <a:ea typeface="Calibri" pitchFamily="34" charset="-122"/>
                <a:cs typeface="Calibri" pitchFamily="34" charset="-120"/>
              </a:rPr>
              <a:t>History that explains the ledger</a:t>
            </a:r>
            <a:endParaRPr lang="en-US" sz="1250" dirty="0"/>
          </a:p>
        </p:txBody>
      </p:sp>
      <p:sp>
        <p:nvSpPr>
          <p:cNvPr id="24" name="Text 21"/>
          <p:cNvSpPr txBox="1"/>
          <p:nvPr/>
        </p:nvSpPr>
        <p:spPr>
          <a:xfrm>
            <a:off x="960120" y="4297680"/>
            <a:ext cx="3657600" cy="457200"/>
          </a:xfrm>
          <a:prstGeom prst="rect">
            <a:avLst/>
          </a:prstGeom>
          <a:noFill/>
          <a:ln/>
        </p:spPr>
        <p:txBody>
          <a:bodyPr wrap="square" lIns="0" tIns="0" rIns="0" bIns="0" rtlCol="0" anchor="t"/>
          <a:lstStyle/>
          <a:p>
            <a:pPr indent="0" marL="0">
              <a:buNone/>
            </a:pPr>
            <a:r>
              <a:rPr lang="en-US" sz="1050" dirty="0">
                <a:solidFill>
                  <a:srgbClr val="17212B"/>
                </a:solidFill>
                <a:latin typeface="Calibri" pitchFamily="34" charset="0"/>
                <a:ea typeface="Calibri" pitchFamily="34" charset="-122"/>
                <a:cs typeface="Calibri" pitchFamily="34" charset="-120"/>
              </a:rPr>
              <a:t>One immutable record per operation carrying the account or accounts touched and each resulting balance; a transfer is one row, not two.</a:t>
            </a:r>
            <a:endParaRPr lang="en-US" sz="1050" dirty="0"/>
          </a:p>
        </p:txBody>
      </p:sp>
      <p:sp>
        <p:nvSpPr>
          <p:cNvPr id="25" name="Shape 22"/>
          <p:cNvSpPr/>
          <p:nvPr/>
        </p:nvSpPr>
        <p:spPr>
          <a:xfrm>
            <a:off x="4983480" y="1097280"/>
            <a:ext cx="3703320" cy="2148840"/>
          </a:xfrm>
          <a:prstGeom prst="roundRect">
            <a:avLst>
              <a:gd name="adj" fmla="val 3404"/>
            </a:avLst>
          </a:prstGeom>
          <a:solidFill>
            <a:srgbClr val="FFFFFF"/>
          </a:solidFill>
          <a:ln w="9525">
            <a:solidFill>
              <a:srgbClr val="D9E0E7"/>
            </a:solidFill>
            <a:prstDash val="solid"/>
          </a:ln>
        </p:spPr>
      </p:sp>
      <p:pic>
        <p:nvPicPr>
          <p:cNvPr id="26" name="Image 0" descr="/Users/john/theborg/repos/atm/design/screenshots/overdraft.png">    </p:cNvPr>
          <p:cNvPicPr>
            <a:picLocks noChangeAspect="1"/>
          </p:cNvPicPr>
          <p:nvPr/>
        </p:nvPicPr>
        <p:blipFill>
          <a:blip r:embed="rId1"/>
          <a:srcRect l="13750" r="39375" t="23680" b="43520"/>
          <a:stretch/>
        </p:blipFill>
        <p:spPr>
          <a:xfrm>
            <a:off x="5120640" y="1234440"/>
            <a:ext cx="3429000" cy="1874520"/>
          </a:xfrm>
          <a:prstGeom prst="rect">
            <a:avLst/>
          </a:prstGeom>
        </p:spPr>
      </p:pic>
      <p:sp>
        <p:nvSpPr>
          <p:cNvPr id="27" name="Text 23"/>
          <p:cNvSpPr txBox="1"/>
          <p:nvPr/>
        </p:nvSpPr>
        <p:spPr>
          <a:xfrm>
            <a:off x="4983480" y="3383280"/>
            <a:ext cx="3703320" cy="548640"/>
          </a:xfrm>
          <a:prstGeom prst="rect">
            <a:avLst/>
          </a:prstGeom>
          <a:noFill/>
          <a:ln/>
        </p:spPr>
        <p:txBody>
          <a:bodyPr wrap="square" lIns="0" tIns="0" rIns="0" bIns="0" rtlCol="0" anchor="t"/>
          <a:lstStyle/>
          <a:p>
            <a:pPr indent="0" marL="0">
              <a:buNone/>
            </a:pPr>
            <a:r>
              <a:rPr lang="en-US" sz="1050" b="1" dirty="0">
                <a:solidFill>
                  <a:srgbClr val="B42318"/>
                </a:solidFill>
                <a:latin typeface="Calibri" pitchFamily="34" charset="0"/>
                <a:ea typeface="Calibri" pitchFamily="34" charset="-122"/>
                <a:cs typeface="Calibri" pitchFamily="34" charset="-120"/>
              </a:rPr>
              <a:t>Overdraft attempt. </a:t>
            </a:r>
            <a:pPr indent="0" marL="0">
              <a:buNone/>
            </a:pPr>
            <a:r>
              <a:rPr lang="en-US" sz="1050" dirty="0">
                <a:solidFill>
                  <a:srgbClr val="17212B"/>
                </a:solidFill>
                <a:latin typeface="Calibri" pitchFamily="34" charset="0"/>
                <a:ea typeface="Calibri" pitchFamily="34" charset="-122"/>
                <a:cs typeface="Calibri" pitchFamily="34" charset="-120"/>
              </a:rPr>
              <a:t>The message names the available balance, the typed amount stays in the field, and the account row is unchanged.</a:t>
            </a:r>
            <a:endParaRPr lang="en-US" sz="1050" dirty="0"/>
          </a:p>
        </p:txBody>
      </p:sp>
      <p:sp>
        <p:nvSpPr>
          <p:cNvPr id="28" name="Shape 24"/>
          <p:cNvSpPr/>
          <p:nvPr/>
        </p:nvSpPr>
        <p:spPr>
          <a:xfrm>
            <a:off x="4983480" y="3977640"/>
            <a:ext cx="3703320" cy="777240"/>
          </a:xfrm>
          <a:prstGeom prst="roundRect">
            <a:avLst>
              <a:gd name="adj" fmla="val 9412"/>
            </a:avLst>
          </a:prstGeom>
          <a:solidFill>
            <a:srgbClr val="FFFFFF"/>
          </a:solidFill>
          <a:ln w="9525">
            <a:solidFill>
              <a:srgbClr val="D9E0E7"/>
            </a:solidFill>
            <a:prstDash val="solid"/>
          </a:ln>
        </p:spPr>
      </p:sp>
      <p:sp>
        <p:nvSpPr>
          <p:cNvPr id="29" name="Text 25"/>
          <p:cNvSpPr txBox="1"/>
          <p:nvPr/>
        </p:nvSpPr>
        <p:spPr>
          <a:xfrm>
            <a:off x="5166360" y="4069080"/>
            <a:ext cx="3383280" cy="594360"/>
          </a:xfrm>
          <a:prstGeom prst="rect">
            <a:avLst/>
          </a:prstGeom>
          <a:noFill/>
          <a:ln/>
        </p:spPr>
        <p:txBody>
          <a:bodyPr wrap="square" lIns="0" tIns="0" rIns="0" bIns="0" rtlCol="0" anchor="t"/>
          <a:lstStyle/>
          <a:p>
            <a:pPr indent="0" marL="0">
              <a:buNone/>
            </a:pPr>
            <a:r>
              <a:rPr lang="en-US" sz="1050" b="1" dirty="0">
                <a:solidFill>
                  <a:srgbClr val="174A7E"/>
                </a:solidFill>
                <a:latin typeface="Calibri" pitchFamily="34" charset="0"/>
                <a:ea typeface="Calibri" pitchFamily="34" charset="-122"/>
                <a:cs typeface="Calibri" pitchFamily="34" charset="-120"/>
              </a:rPr>
              <a:t>Duplicate submissions: </a:t>
            </a:r>
            <a:pPr indent="0" marL="0">
              <a:buNone/>
            </a:pPr>
            <a:r>
              <a:rPr lang="en-US" sz="1050" dirty="0">
                <a:solidFill>
                  <a:srgbClr val="17212B"/>
                </a:solidFill>
                <a:latin typeface="Calibri" pitchFamily="34" charset="0"/>
                <a:ea typeface="Calibri" pitchFamily="34" charset="-122"/>
                <a:cs typeface="Calibri" pitchFamily="34" charset="-120"/>
              </a:rPr>
              <a:t>Post/Redirect/Get with a one-time receipt, submit disabled while processing, confirmation for withdrawals and transfers.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548640"/>
          </a:xfrm>
          <a:prstGeom prst="rect">
            <a:avLst/>
          </a:prstGeom>
          <a:noFill/>
          <a:ln/>
        </p:spPr>
        <p:txBody>
          <a:bodyPr wrap="square" lIns="0" tIns="0" rIns="0" bIns="0" rtlCol="0" anchor="ctr"/>
          <a:lstStyle/>
          <a:p>
            <a:pPr indent="0" marL="0">
              <a:buNone/>
            </a:pPr>
            <a:r>
              <a:rPr lang="en-US" sz="2800" b="1" dirty="0">
                <a:solidFill>
                  <a:srgbClr val="174A7E"/>
                </a:solidFill>
                <a:latin typeface="Calibri" pitchFamily="34" charset="0"/>
                <a:ea typeface="Calibri" pitchFamily="34" charset="-122"/>
                <a:cs typeface="Calibri" pitchFamily="34" charset="-120"/>
              </a:rPr>
              <a:t>Testing and delivery</a:t>
            </a:r>
            <a:endParaRPr lang="en-US" sz="2800" dirty="0"/>
          </a:p>
        </p:txBody>
      </p:sp>
      <p:sp>
        <p:nvSpPr>
          <p:cNvPr id="3" name="Text 1"/>
          <p:cNvSpPr txBox="1"/>
          <p:nvPr/>
        </p:nvSpPr>
        <p:spPr>
          <a:xfrm>
            <a:off x="8229600" y="4709160"/>
            <a:ext cx="45720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6</a:t>
            </a:r>
            <a:endParaRPr lang="en-US" sz="900" dirty="0"/>
          </a:p>
        </p:txBody>
      </p:sp>
      <p:sp>
        <p:nvSpPr>
          <p:cNvPr id="5" name="Shape 2"/>
          <p:cNvSpPr/>
          <p:nvPr/>
        </p:nvSpPr>
        <p:spPr>
          <a:xfrm>
            <a:off x="548640" y="1051560"/>
            <a:ext cx="1874520" cy="960120"/>
          </a:xfrm>
          <a:prstGeom prst="roundRect">
            <a:avLst>
              <a:gd name="adj" fmla="val 7619"/>
            </a:avLst>
          </a:prstGeom>
          <a:solidFill>
            <a:srgbClr val="FFFFFF"/>
          </a:solidFill>
          <a:ln w="9525">
            <a:solidFill>
              <a:srgbClr val="D9E0E7"/>
            </a:solidFill>
            <a:prstDash val="solid"/>
          </a:ln>
        </p:spPr>
      </p:sp>
      <p:sp>
        <p:nvSpPr>
          <p:cNvPr id="6" name="Text 3"/>
          <p:cNvSpPr txBox="1"/>
          <p:nvPr/>
        </p:nvSpPr>
        <p:spPr>
          <a:xfrm>
            <a:off x="685800" y="1115568"/>
            <a:ext cx="1645920" cy="548640"/>
          </a:xfrm>
          <a:prstGeom prst="rect">
            <a:avLst/>
          </a:prstGeom>
          <a:noFill/>
          <a:ln/>
        </p:spPr>
        <p:txBody>
          <a:bodyPr wrap="square" lIns="0" tIns="0" rIns="0" bIns="0" rtlCol="0" anchor="ctr"/>
          <a:lstStyle/>
          <a:p>
            <a:pPr indent="0" marL="0">
              <a:buNone/>
            </a:pPr>
            <a:r>
              <a:rPr lang="en-US" sz="3000" b="1" dirty="0">
                <a:solidFill>
                  <a:srgbClr val="174A7E"/>
                </a:solidFill>
                <a:latin typeface="Calibri" pitchFamily="34" charset="0"/>
                <a:ea typeface="Calibri" pitchFamily="34" charset="-122"/>
                <a:cs typeface="Calibri" pitchFamily="34" charset="-120"/>
              </a:rPr>
              <a:t>75</a:t>
            </a:r>
            <a:endParaRPr lang="en-US" sz="3000" dirty="0"/>
          </a:p>
        </p:txBody>
      </p:sp>
      <p:sp>
        <p:nvSpPr>
          <p:cNvPr id="7" name="Text 4"/>
          <p:cNvSpPr txBox="1"/>
          <p:nvPr/>
        </p:nvSpPr>
        <p:spPr>
          <a:xfrm>
            <a:off x="685800" y="1645920"/>
            <a:ext cx="1645920" cy="274320"/>
          </a:xfrm>
          <a:prstGeom prst="rect">
            <a:avLst/>
          </a:prstGeom>
          <a:noFill/>
          <a:ln/>
        </p:spPr>
        <p:txBody>
          <a:bodyPr wrap="square" lIns="0" tIns="0" rIns="0" bIns="0" rtlCol="0" anchor="ctr"/>
          <a:lstStyle/>
          <a:p>
            <a:pPr indent="0" marL="0">
              <a:buNone/>
            </a:pPr>
            <a:r>
              <a:rPr lang="en-US" sz="1050" dirty="0">
                <a:solidFill>
                  <a:srgbClr val="667085"/>
                </a:solidFill>
                <a:latin typeface="Calibri" pitchFamily="34" charset="0"/>
                <a:ea typeface="Calibri" pitchFamily="34" charset="-122"/>
                <a:cs typeface="Calibri" pitchFamily="34" charset="-120"/>
              </a:rPr>
              <a:t>domain</a:t>
            </a:r>
            <a:endParaRPr lang="en-US" sz="1050" dirty="0"/>
          </a:p>
        </p:txBody>
      </p:sp>
      <p:sp>
        <p:nvSpPr>
          <p:cNvPr id="8" name="Shape 5"/>
          <p:cNvSpPr/>
          <p:nvPr/>
        </p:nvSpPr>
        <p:spPr>
          <a:xfrm>
            <a:off x="2606040" y="1051560"/>
            <a:ext cx="1874520" cy="960120"/>
          </a:xfrm>
          <a:prstGeom prst="roundRect">
            <a:avLst>
              <a:gd name="adj" fmla="val 7619"/>
            </a:avLst>
          </a:prstGeom>
          <a:solidFill>
            <a:srgbClr val="FFFFFF"/>
          </a:solidFill>
          <a:ln w="9525">
            <a:solidFill>
              <a:srgbClr val="D9E0E7"/>
            </a:solidFill>
            <a:prstDash val="solid"/>
          </a:ln>
        </p:spPr>
      </p:sp>
      <p:sp>
        <p:nvSpPr>
          <p:cNvPr id="9" name="Text 6"/>
          <p:cNvSpPr txBox="1"/>
          <p:nvPr/>
        </p:nvSpPr>
        <p:spPr>
          <a:xfrm>
            <a:off x="2743200" y="1115568"/>
            <a:ext cx="1645920" cy="548640"/>
          </a:xfrm>
          <a:prstGeom prst="rect">
            <a:avLst/>
          </a:prstGeom>
          <a:noFill/>
          <a:ln/>
        </p:spPr>
        <p:txBody>
          <a:bodyPr wrap="square" lIns="0" tIns="0" rIns="0" bIns="0" rtlCol="0" anchor="ctr"/>
          <a:lstStyle/>
          <a:p>
            <a:pPr indent="0" marL="0">
              <a:buNone/>
            </a:pPr>
            <a:r>
              <a:rPr lang="en-US" sz="3000" b="1" dirty="0">
                <a:solidFill>
                  <a:srgbClr val="174A7E"/>
                </a:solidFill>
                <a:latin typeface="Calibri" pitchFamily="34" charset="0"/>
                <a:ea typeface="Calibri" pitchFamily="34" charset="-122"/>
                <a:cs typeface="Calibri" pitchFamily="34" charset="-120"/>
              </a:rPr>
              <a:t>33</a:t>
            </a:r>
            <a:endParaRPr lang="en-US" sz="3000" dirty="0"/>
          </a:p>
        </p:txBody>
      </p:sp>
      <p:sp>
        <p:nvSpPr>
          <p:cNvPr id="10" name="Text 7"/>
          <p:cNvSpPr txBox="1"/>
          <p:nvPr/>
        </p:nvSpPr>
        <p:spPr>
          <a:xfrm>
            <a:off x="2743200" y="1645920"/>
            <a:ext cx="1645920" cy="274320"/>
          </a:xfrm>
          <a:prstGeom prst="rect">
            <a:avLst/>
          </a:prstGeom>
          <a:noFill/>
          <a:ln/>
        </p:spPr>
        <p:txBody>
          <a:bodyPr wrap="square" lIns="0" tIns="0" rIns="0" bIns="0" rtlCol="0" anchor="ctr"/>
          <a:lstStyle/>
          <a:p>
            <a:pPr indent="0" marL="0">
              <a:buNone/>
            </a:pPr>
            <a:r>
              <a:rPr lang="en-US" sz="1050" dirty="0">
                <a:solidFill>
                  <a:srgbClr val="667085"/>
                </a:solidFill>
                <a:latin typeface="Calibri" pitchFamily="34" charset="0"/>
                <a:ea typeface="Calibri" pitchFamily="34" charset="-122"/>
                <a:cs typeface="Calibri" pitchFamily="34" charset="-120"/>
              </a:rPr>
              <a:t>application</a:t>
            </a:r>
            <a:endParaRPr lang="en-US" sz="1050" dirty="0"/>
          </a:p>
        </p:txBody>
      </p:sp>
      <p:sp>
        <p:nvSpPr>
          <p:cNvPr id="11" name="Shape 8"/>
          <p:cNvSpPr/>
          <p:nvPr/>
        </p:nvSpPr>
        <p:spPr>
          <a:xfrm>
            <a:off x="4663440" y="1051560"/>
            <a:ext cx="1874520" cy="960120"/>
          </a:xfrm>
          <a:prstGeom prst="roundRect">
            <a:avLst>
              <a:gd name="adj" fmla="val 7619"/>
            </a:avLst>
          </a:prstGeom>
          <a:solidFill>
            <a:srgbClr val="FFFFFF"/>
          </a:solidFill>
          <a:ln w="9525">
            <a:solidFill>
              <a:srgbClr val="D9E0E7"/>
            </a:solidFill>
            <a:prstDash val="solid"/>
          </a:ln>
        </p:spPr>
      </p:sp>
      <p:sp>
        <p:nvSpPr>
          <p:cNvPr id="12" name="Text 9"/>
          <p:cNvSpPr txBox="1"/>
          <p:nvPr/>
        </p:nvSpPr>
        <p:spPr>
          <a:xfrm>
            <a:off x="4800600" y="1115568"/>
            <a:ext cx="1645920" cy="548640"/>
          </a:xfrm>
          <a:prstGeom prst="rect">
            <a:avLst/>
          </a:prstGeom>
          <a:noFill/>
          <a:ln/>
        </p:spPr>
        <p:txBody>
          <a:bodyPr wrap="square" lIns="0" tIns="0" rIns="0" bIns="0" rtlCol="0" anchor="ctr"/>
          <a:lstStyle/>
          <a:p>
            <a:pPr indent="0" marL="0">
              <a:buNone/>
            </a:pPr>
            <a:r>
              <a:rPr lang="en-US" sz="3000" b="1" dirty="0">
                <a:solidFill>
                  <a:srgbClr val="174A7E"/>
                </a:solidFill>
                <a:latin typeface="Calibri" pitchFamily="34" charset="0"/>
                <a:ea typeface="Calibri" pitchFamily="34" charset="-122"/>
                <a:cs typeface="Calibri" pitchFamily="34" charset="-120"/>
              </a:rPr>
              <a:t>35</a:t>
            </a:r>
            <a:endParaRPr lang="en-US" sz="3000" dirty="0"/>
          </a:p>
        </p:txBody>
      </p:sp>
      <p:sp>
        <p:nvSpPr>
          <p:cNvPr id="13" name="Text 10"/>
          <p:cNvSpPr txBox="1"/>
          <p:nvPr/>
        </p:nvSpPr>
        <p:spPr>
          <a:xfrm>
            <a:off x="4800600" y="1645920"/>
            <a:ext cx="1645920" cy="274320"/>
          </a:xfrm>
          <a:prstGeom prst="rect">
            <a:avLst/>
          </a:prstGeom>
          <a:noFill/>
          <a:ln/>
        </p:spPr>
        <p:txBody>
          <a:bodyPr wrap="square" lIns="0" tIns="0" rIns="0" bIns="0" rtlCol="0" anchor="ctr"/>
          <a:lstStyle/>
          <a:p>
            <a:pPr indent="0" marL="0">
              <a:buNone/>
            </a:pPr>
            <a:r>
              <a:rPr lang="en-US" sz="1050" dirty="0">
                <a:solidFill>
                  <a:srgbClr val="667085"/>
                </a:solidFill>
                <a:latin typeface="Calibri" pitchFamily="34" charset="0"/>
                <a:ea typeface="Calibri" pitchFamily="34" charset="-122"/>
                <a:cs typeface="Calibri" pitchFamily="34" charset="-120"/>
              </a:rPr>
              <a:t>integration</a:t>
            </a:r>
            <a:endParaRPr lang="en-US" sz="1050" dirty="0"/>
          </a:p>
        </p:txBody>
      </p:sp>
      <p:sp>
        <p:nvSpPr>
          <p:cNvPr id="14" name="Shape 11"/>
          <p:cNvSpPr/>
          <p:nvPr/>
        </p:nvSpPr>
        <p:spPr>
          <a:xfrm>
            <a:off x="6720840" y="1051560"/>
            <a:ext cx="1874520" cy="960120"/>
          </a:xfrm>
          <a:prstGeom prst="roundRect">
            <a:avLst>
              <a:gd name="adj" fmla="val 7619"/>
            </a:avLst>
          </a:prstGeom>
          <a:solidFill>
            <a:srgbClr val="FFFFFF"/>
          </a:solidFill>
          <a:ln w="9525">
            <a:solidFill>
              <a:srgbClr val="D9E0E7"/>
            </a:solidFill>
            <a:prstDash val="solid"/>
          </a:ln>
        </p:spPr>
      </p:sp>
      <p:sp>
        <p:nvSpPr>
          <p:cNvPr id="15" name="Text 12"/>
          <p:cNvSpPr txBox="1"/>
          <p:nvPr/>
        </p:nvSpPr>
        <p:spPr>
          <a:xfrm>
            <a:off x="6858000" y="1115568"/>
            <a:ext cx="1645920" cy="548640"/>
          </a:xfrm>
          <a:prstGeom prst="rect">
            <a:avLst/>
          </a:prstGeom>
          <a:noFill/>
          <a:ln/>
        </p:spPr>
        <p:txBody>
          <a:bodyPr wrap="square" lIns="0" tIns="0" rIns="0" bIns="0" rtlCol="0" anchor="ctr"/>
          <a:lstStyle/>
          <a:p>
            <a:pPr indent="0" marL="0">
              <a:buNone/>
            </a:pPr>
            <a:r>
              <a:rPr lang="en-US" sz="3000" b="1" dirty="0">
                <a:solidFill>
                  <a:srgbClr val="18794E"/>
                </a:solidFill>
                <a:latin typeface="Calibri" pitchFamily="34" charset="0"/>
                <a:ea typeface="Calibri" pitchFamily="34" charset="-122"/>
                <a:cs typeface="Calibri" pitchFamily="34" charset="-120"/>
              </a:rPr>
              <a:t>143</a:t>
            </a:r>
            <a:endParaRPr lang="en-US" sz="3000" dirty="0"/>
          </a:p>
        </p:txBody>
      </p:sp>
      <p:sp>
        <p:nvSpPr>
          <p:cNvPr id="16" name="Text 13"/>
          <p:cNvSpPr txBox="1"/>
          <p:nvPr/>
        </p:nvSpPr>
        <p:spPr>
          <a:xfrm>
            <a:off x="6858000" y="1645920"/>
            <a:ext cx="1645920" cy="274320"/>
          </a:xfrm>
          <a:prstGeom prst="rect">
            <a:avLst/>
          </a:prstGeom>
          <a:noFill/>
          <a:ln/>
        </p:spPr>
        <p:txBody>
          <a:bodyPr wrap="square" lIns="0" tIns="0" rIns="0" bIns="0" rtlCol="0" anchor="ctr"/>
          <a:lstStyle/>
          <a:p>
            <a:pPr indent="0" marL="0">
              <a:buNone/>
            </a:pPr>
            <a:r>
              <a:rPr lang="en-US" sz="1050" dirty="0">
                <a:solidFill>
                  <a:srgbClr val="667085"/>
                </a:solidFill>
                <a:latin typeface="Calibri" pitchFamily="34" charset="0"/>
                <a:ea typeface="Calibri" pitchFamily="34" charset="-122"/>
                <a:cs typeface="Calibri" pitchFamily="34" charset="-120"/>
              </a:rPr>
              <a:t>total, all green</a:t>
            </a:r>
            <a:endParaRPr lang="en-US" sz="1050" dirty="0"/>
          </a:p>
        </p:txBody>
      </p:sp>
      <p:sp>
        <p:nvSpPr>
          <p:cNvPr id="17" name="Shape 14"/>
          <p:cNvSpPr/>
          <p:nvPr/>
        </p:nvSpPr>
        <p:spPr>
          <a:xfrm>
            <a:off x="548640" y="2240280"/>
            <a:ext cx="3931920" cy="2514600"/>
          </a:xfrm>
          <a:prstGeom prst="roundRect">
            <a:avLst>
              <a:gd name="adj" fmla="val 2909"/>
            </a:avLst>
          </a:prstGeom>
          <a:solidFill>
            <a:srgbClr val="FFFFFF"/>
          </a:solidFill>
          <a:ln w="9525">
            <a:solidFill>
              <a:srgbClr val="D9E0E7"/>
            </a:solidFill>
            <a:prstDash val="solid"/>
          </a:ln>
        </p:spPr>
      </p:sp>
      <p:sp>
        <p:nvSpPr>
          <p:cNvPr id="18" name="Text 15"/>
          <p:cNvSpPr txBox="1"/>
          <p:nvPr/>
        </p:nvSpPr>
        <p:spPr>
          <a:xfrm>
            <a:off x="777240" y="2395728"/>
            <a:ext cx="3474720" cy="292608"/>
          </a:xfrm>
          <a:prstGeom prst="rect">
            <a:avLst/>
          </a:prstGeom>
          <a:noFill/>
          <a:ln/>
        </p:spPr>
        <p:txBody>
          <a:bodyPr wrap="square" lIns="0" tIns="0" rIns="0" bIns="0" rtlCol="0" anchor="ctr"/>
          <a:lstStyle/>
          <a:p>
            <a:pPr indent="0" marL="0">
              <a:buNone/>
            </a:pPr>
            <a:r>
              <a:rPr lang="en-US" sz="1400" b="1" dirty="0">
                <a:solidFill>
                  <a:srgbClr val="174A7E"/>
                </a:solidFill>
                <a:latin typeface="Calibri" pitchFamily="34" charset="0"/>
                <a:ea typeface="Calibri" pitchFamily="34" charset="-122"/>
                <a:cs typeface="Calibri" pitchFamily="34" charset="-120"/>
              </a:rPr>
              <a:t>Four test layers</a:t>
            </a:r>
            <a:endParaRPr lang="en-US" sz="1400" dirty="0"/>
          </a:p>
        </p:txBody>
      </p:sp>
      <p:sp>
        <p:nvSpPr>
          <p:cNvPr id="19" name="Text 16"/>
          <p:cNvSpPr txBox="1"/>
          <p:nvPr/>
        </p:nvSpPr>
        <p:spPr>
          <a:xfrm>
            <a:off x="777240" y="2743200"/>
            <a:ext cx="3520440" cy="19202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17212B"/>
                </a:solidFill>
                <a:latin typeface="Calibri" pitchFamily="34" charset="0"/>
                <a:ea typeface="Calibri" pitchFamily="34" charset="-122"/>
                <a:cs typeface="Calibri" pitchFamily="34" charset="-120"/>
              </a:rPr>
              <a:t>Domain: money precision, overdraft prevention, mutations return their history record</a:t>
            </a:r>
            <a:endParaRPr lang="en-US" sz="1050" dirty="0"/>
          </a:p>
          <a:p>
            <a:pPr marL="342900" indent="-342900">
              <a:spcAft>
                <a:spcPts val="400"/>
              </a:spcAft>
              <a:buSzPct val="100000"/>
              <a:buChar char="•"/>
            </a:pPr>
            <a:r>
              <a:rPr lang="en-US" sz="1050" dirty="0">
                <a:solidFill>
                  <a:srgbClr val="17212B"/>
                </a:solidFill>
                <a:latin typeface="Calibri" pitchFamily="34" charset="0"/>
                <a:ea typeface="Calibri" pitchFamily="34" charset="-122"/>
                <a:cs typeface="Calibri" pitchFamily="34" charset="-120"/>
              </a:rPr>
              <a:t>Application: fakes prove failed operations never reach commit, and history is staged before commit</a:t>
            </a:r>
            <a:endParaRPr lang="en-US" sz="1050" dirty="0"/>
          </a:p>
          <a:p>
            <a:pPr marL="342900" indent="-342900">
              <a:spcAft>
                <a:spcPts val="400"/>
              </a:spcAft>
              <a:buSzPct val="100000"/>
              <a:buChar char="•"/>
            </a:pPr>
            <a:r>
              <a:rPr lang="en-US" sz="1050" dirty="0">
                <a:solidFill>
                  <a:srgbClr val="17212B"/>
                </a:solidFill>
                <a:latin typeface="Calibri" pitchFamily="34" charset="0"/>
                <a:ea typeface="Calibri" pitchFamily="34" charset="-122"/>
                <a:cs typeface="Calibri" pitchFamily="34" charset="-120"/>
              </a:rPr>
              <a:t>SQLite: seeding once, restart persistence, newest-first order, concurrency conflict, all-or-nothing commit</a:t>
            </a:r>
            <a:endParaRPr lang="en-US" sz="1050" dirty="0"/>
          </a:p>
          <a:p>
            <a:pPr marL="342900" indent="-342900">
              <a:spcAft>
                <a:spcPts val="400"/>
              </a:spcAft>
              <a:buSzPct val="100000"/>
              <a:buChar char="•"/>
            </a:pPr>
            <a:r>
              <a:rPr lang="en-US" sz="1050" dirty="0">
                <a:solidFill>
                  <a:srgbClr val="17212B"/>
                </a:solidFill>
                <a:latin typeface="Calibri" pitchFamily="34" charset="0"/>
                <a:ea typeface="Calibri" pitchFamily="34" charset="-122"/>
                <a:cs typeface="Calibri" pitchFamily="34" charset="-120"/>
              </a:rPr>
              <a:t>HTTP: Post/Redirect/Get, inline error mapping, antiforgery, hidden error details, accessibility structure</a:t>
            </a:r>
            <a:endParaRPr lang="en-US" sz="1050" dirty="0"/>
          </a:p>
        </p:txBody>
      </p:sp>
      <p:sp>
        <p:nvSpPr>
          <p:cNvPr id="20" name="Shape 17"/>
          <p:cNvSpPr/>
          <p:nvPr/>
        </p:nvSpPr>
        <p:spPr>
          <a:xfrm>
            <a:off x="4709160" y="2240280"/>
            <a:ext cx="3977640" cy="2514600"/>
          </a:xfrm>
          <a:prstGeom prst="roundRect">
            <a:avLst>
              <a:gd name="adj" fmla="val 2909"/>
            </a:avLst>
          </a:prstGeom>
          <a:solidFill>
            <a:srgbClr val="FFFFFF"/>
          </a:solidFill>
          <a:ln w="9525">
            <a:solidFill>
              <a:srgbClr val="D9E0E7"/>
            </a:solidFill>
            <a:prstDash val="solid"/>
          </a:ln>
        </p:spPr>
      </p:sp>
      <p:sp>
        <p:nvSpPr>
          <p:cNvPr id="21" name="Text 18"/>
          <p:cNvSpPr txBox="1"/>
          <p:nvPr/>
        </p:nvSpPr>
        <p:spPr>
          <a:xfrm>
            <a:off x="4937760" y="2395728"/>
            <a:ext cx="3474720" cy="292608"/>
          </a:xfrm>
          <a:prstGeom prst="rect">
            <a:avLst/>
          </a:prstGeom>
          <a:noFill/>
          <a:ln/>
        </p:spPr>
        <p:txBody>
          <a:bodyPr wrap="square" lIns="0" tIns="0" rIns="0" bIns="0" rtlCol="0" anchor="ctr"/>
          <a:lstStyle/>
          <a:p>
            <a:pPr indent="0" marL="0">
              <a:buNone/>
            </a:pPr>
            <a:r>
              <a:rPr lang="en-US" sz="1400" b="1" dirty="0">
                <a:solidFill>
                  <a:srgbClr val="174A7E"/>
                </a:solidFill>
                <a:latin typeface="Calibri" pitchFamily="34" charset="0"/>
                <a:ea typeface="Calibri" pitchFamily="34" charset="-122"/>
                <a:cs typeface="Calibri" pitchFamily="34" charset="-120"/>
              </a:rPr>
              <a:t>Delivery on macOS</a:t>
            </a:r>
            <a:endParaRPr lang="en-US" sz="1400" dirty="0"/>
          </a:p>
        </p:txBody>
      </p:sp>
      <p:sp>
        <p:nvSpPr>
          <p:cNvPr id="22" name="Text 19"/>
          <p:cNvSpPr txBox="1"/>
          <p:nvPr/>
        </p:nvSpPr>
        <p:spPr>
          <a:xfrm>
            <a:off x="4937760" y="2743200"/>
            <a:ext cx="3566160" cy="868680"/>
          </a:xfrm>
          <a:prstGeom prst="rect">
            <a:avLst/>
          </a:prstGeom>
          <a:noFill/>
          <a:ln/>
        </p:spPr>
        <p:txBody>
          <a:bodyPr wrap="square" lIns="0" tIns="0" rIns="0" bIns="0" rtlCol="0" anchor="t"/>
          <a:lstStyle/>
          <a:p>
            <a:pPr indent="0" marL="0">
              <a:buNone/>
            </a:pPr>
            <a:r>
              <a:rPr lang="en-US" sz="1000" dirty="0">
                <a:solidFill>
                  <a:srgbClr val="17212B"/>
                </a:solidFill>
                <a:latin typeface="Courier New" pitchFamily="34" charset="0"/>
                <a:ea typeface="Courier New" pitchFamily="34" charset="-122"/>
                <a:cs typeface="Courier New" pitchFamily="34" charset="-120"/>
              </a:rPr>
              <a:t>dotnet restore Atm.sln</a:t>
            </a:r>
            <a:endParaRPr lang="en-US" sz="1000" dirty="0"/>
          </a:p>
          <a:p>
            <a:pPr indent="0" marL="0">
              <a:buNone/>
            </a:pPr>
            <a:r>
              <a:rPr lang="en-US" sz="1000" dirty="0">
                <a:solidFill>
                  <a:srgbClr val="17212B"/>
                </a:solidFill>
                <a:latin typeface="Courier New" pitchFamily="34" charset="0"/>
                <a:ea typeface="Courier New" pitchFamily="34" charset="-122"/>
                <a:cs typeface="Courier New" pitchFamily="34" charset="-120"/>
              </a:rPr>
              <a:t>dotnet build Atm.sln --no-restore</a:t>
            </a:r>
            <a:endParaRPr lang="en-US" sz="1000" dirty="0"/>
          </a:p>
          <a:p>
            <a:pPr indent="0" marL="0">
              <a:buNone/>
            </a:pPr>
            <a:r>
              <a:rPr lang="en-US" sz="1000" dirty="0">
                <a:solidFill>
                  <a:srgbClr val="17212B"/>
                </a:solidFill>
                <a:latin typeface="Courier New" pitchFamily="34" charset="0"/>
                <a:ea typeface="Courier New" pitchFamily="34" charset="-122"/>
                <a:cs typeface="Courier New" pitchFamily="34" charset="-120"/>
              </a:rPr>
              <a:t>dotnet test Atm.sln --no-build</a:t>
            </a:r>
            <a:endParaRPr lang="en-US" sz="1000" dirty="0"/>
          </a:p>
          <a:p>
            <a:pPr indent="0" marL="0">
              <a:buNone/>
            </a:pPr>
            <a:r>
              <a:rPr lang="en-US" sz="1000" dirty="0">
                <a:solidFill>
                  <a:srgbClr val="17212B"/>
                </a:solidFill>
                <a:latin typeface="Courier New" pitchFamily="34" charset="0"/>
                <a:ea typeface="Courier New" pitchFamily="34" charset="-122"/>
                <a:cs typeface="Courier New" pitchFamily="34" charset="-120"/>
              </a:rPr>
              <a:t>dotnet run --project src/Atm.Web</a:t>
            </a:r>
            <a:endParaRPr lang="en-US" sz="1000" dirty="0"/>
          </a:p>
        </p:txBody>
      </p:sp>
      <p:sp>
        <p:nvSpPr>
          <p:cNvPr id="23" name="Text 20"/>
          <p:cNvSpPr txBox="1"/>
          <p:nvPr/>
        </p:nvSpPr>
        <p:spPr>
          <a:xfrm>
            <a:off x="4937760" y="3703320"/>
            <a:ext cx="3566160" cy="960120"/>
          </a:xfrm>
          <a:prstGeom prst="rect">
            <a:avLst/>
          </a:prstGeom>
          <a:noFill/>
          <a:ln/>
        </p:spPr>
        <p:txBody>
          <a:bodyPr wrap="square" lIns="0" tIns="0" rIns="0" bIns="0" rtlCol="0" anchor="t"/>
          <a:lstStyle/>
          <a:p>
            <a:pPr indent="0" marL="0">
              <a:buNone/>
            </a:pPr>
            <a:r>
              <a:rPr lang="en-US" sz="1050" b="1" dirty="0">
                <a:solidFill>
                  <a:srgbClr val="174A7E"/>
                </a:solidFill>
                <a:latin typeface="Calibri" pitchFamily="34" charset="0"/>
                <a:ea typeface="Calibri" pitchFamily="34" charset="-122"/>
                <a:cs typeface="Calibri" pitchFamily="34" charset="-120"/>
              </a:rPr>
              <a:t>Handoff artifacts: </a:t>
            </a:r>
            <a:pPr indent="0" marL="0">
              <a:buNone/>
            </a:pPr>
            <a:r>
              <a:rPr lang="en-US" sz="1050" dirty="0">
                <a:solidFill>
                  <a:srgbClr val="17212B"/>
                </a:solidFill>
                <a:latin typeface="Calibri" pitchFamily="34" charset="0"/>
                <a:ea typeface="Calibri" pitchFamily="34" charset="-122"/>
                <a:cs typeface="Calibri" pitchFamily="34" charset="-120"/>
              </a:rPr>
              <a:t>SPEC.md, PLAN.md, six ADRs, the accessibility review, this deck, and a README anyone can follow. SQLite is created and seeded on first run; schema changes go through EF Core migrations.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A"/>
        </a:solidFill>
      </p:bgPr>
    </p:bg>
    <p:spTree>
      <p:nvGrpSpPr>
        <p:cNvPr id="1" name=""/>
        <p:cNvGrpSpPr/>
        <p:nvPr/>
      </p:nvGrpSpPr>
      <p:grpSpPr>
        <a:xfrm>
          <a:off x="0" y="0"/>
          <a:ext cx="0" cy="0"/>
          <a:chOff x="0" y="0"/>
          <a:chExt cx="0" cy="0"/>
        </a:xfrm>
      </p:grpSpPr>
      <p:sp>
        <p:nvSpPr>
          <p:cNvPr id="2" name="Text 0"/>
          <p:cNvSpPr txBox="1"/>
          <p:nvPr/>
        </p:nvSpPr>
        <p:spPr>
          <a:xfrm>
            <a:off x="548640" y="320040"/>
            <a:ext cx="8046720" cy="548640"/>
          </a:xfrm>
          <a:prstGeom prst="rect">
            <a:avLst/>
          </a:prstGeom>
          <a:noFill/>
          <a:ln/>
        </p:spPr>
        <p:txBody>
          <a:bodyPr wrap="square" lIns="0" tIns="0" rIns="0" bIns="0" rtlCol="0" anchor="ctr"/>
          <a:lstStyle/>
          <a:p>
            <a:pPr indent="0" marL="0">
              <a:buNone/>
            </a:pPr>
            <a:r>
              <a:rPr lang="en-US" sz="2800" b="1" dirty="0">
                <a:solidFill>
                  <a:srgbClr val="174A7E"/>
                </a:solidFill>
                <a:latin typeface="Calibri" pitchFamily="34" charset="0"/>
                <a:ea typeface="Calibri" pitchFamily="34" charset="-122"/>
                <a:cs typeface="Calibri" pitchFamily="34" charset="-120"/>
              </a:rPr>
              <a:t>Tradeoffs and what more compute would change</a:t>
            </a:r>
            <a:endParaRPr lang="en-US" sz="2800" dirty="0"/>
          </a:p>
        </p:txBody>
      </p:sp>
      <p:sp>
        <p:nvSpPr>
          <p:cNvPr id="3" name="Text 1"/>
          <p:cNvSpPr txBox="1"/>
          <p:nvPr/>
        </p:nvSpPr>
        <p:spPr>
          <a:xfrm>
            <a:off x="8229600" y="4709160"/>
            <a:ext cx="457200" cy="274320"/>
          </a:xfrm>
          <a:prstGeom prst="rect">
            <a:avLst/>
          </a:prstGeom>
          <a:noFill/>
          <a:ln/>
        </p:spPr>
        <p:txBody>
          <a:bodyPr wrap="square" lIns="0" tIns="0" rIns="0" bIns="0" rtlCol="0" anchor="ctr"/>
          <a:lstStyle/>
          <a:p>
            <a:pPr algn="r" indent="0" marL="0">
              <a:buNone/>
            </a:pPr>
            <a:r>
              <a:rPr lang="en-US" sz="900" dirty="0">
                <a:solidFill>
                  <a:srgbClr val="667085"/>
                </a:solidFill>
                <a:latin typeface="Calibri" pitchFamily="34" charset="0"/>
                <a:ea typeface="Calibri" pitchFamily="34" charset="-122"/>
                <a:cs typeface="Calibri" pitchFamily="34" charset="-120"/>
              </a:rPr>
              <a:t>7</a:t>
            </a:r>
            <a:endParaRPr lang="en-US" sz="900" dirty="0"/>
          </a:p>
        </p:txBody>
      </p:sp>
      <p:sp>
        <p:nvSpPr>
          <p:cNvPr id="5" name="Shape 2"/>
          <p:cNvSpPr/>
          <p:nvPr/>
        </p:nvSpPr>
        <p:spPr>
          <a:xfrm>
            <a:off x="548640" y="1051560"/>
            <a:ext cx="3291840" cy="3703320"/>
          </a:xfrm>
          <a:prstGeom prst="roundRect">
            <a:avLst>
              <a:gd name="adj" fmla="val 2222"/>
            </a:avLst>
          </a:prstGeom>
          <a:solidFill>
            <a:srgbClr val="FFFFFF"/>
          </a:solidFill>
          <a:ln w="9525">
            <a:solidFill>
              <a:srgbClr val="D9E0E7"/>
            </a:solidFill>
            <a:prstDash val="solid"/>
          </a:ln>
        </p:spPr>
      </p:sp>
      <p:sp>
        <p:nvSpPr>
          <p:cNvPr id="6" name="Text 3"/>
          <p:cNvSpPr txBox="1"/>
          <p:nvPr/>
        </p:nvSpPr>
        <p:spPr>
          <a:xfrm>
            <a:off x="777240" y="1207008"/>
            <a:ext cx="2926080" cy="292608"/>
          </a:xfrm>
          <a:prstGeom prst="rect">
            <a:avLst/>
          </a:prstGeom>
          <a:noFill/>
          <a:ln/>
        </p:spPr>
        <p:txBody>
          <a:bodyPr wrap="square" lIns="0" tIns="0" rIns="0" bIns="0" rtlCol="0" anchor="ctr"/>
          <a:lstStyle/>
          <a:p>
            <a:pPr indent="0" marL="0">
              <a:buNone/>
            </a:pPr>
            <a:r>
              <a:rPr lang="en-US" sz="1400" b="1" dirty="0">
                <a:solidFill>
                  <a:srgbClr val="174A7E"/>
                </a:solidFill>
                <a:latin typeface="Calibri" pitchFamily="34" charset="0"/>
                <a:ea typeface="Calibri" pitchFamily="34" charset="-122"/>
                <a:cs typeface="Calibri" pitchFamily="34" charset="-120"/>
              </a:rPr>
              <a:t>Deliberately left out</a:t>
            </a:r>
            <a:endParaRPr lang="en-US" sz="1400" dirty="0"/>
          </a:p>
        </p:txBody>
      </p:sp>
      <p:sp>
        <p:nvSpPr>
          <p:cNvPr id="7" name="Text 4"/>
          <p:cNvSpPr txBox="1"/>
          <p:nvPr/>
        </p:nvSpPr>
        <p:spPr>
          <a:xfrm>
            <a:off x="777240" y="1572768"/>
            <a:ext cx="2880360" cy="31089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7212B"/>
                </a:solidFill>
                <a:latin typeface="Calibri" pitchFamily="34" charset="0"/>
                <a:ea typeface="Calibri" pitchFamily="34" charset="-122"/>
                <a:cs typeface="Calibri" pitchFamily="34" charset="-120"/>
              </a:rPr>
              <a:t>Authentication, users, cards and PINs</a:t>
            </a:r>
            <a:endParaRPr lang="en-US" sz="1100" dirty="0"/>
          </a:p>
          <a:p>
            <a:pPr marL="342900" indent="-342900">
              <a:spcAft>
                <a:spcPts val="400"/>
              </a:spcAft>
              <a:buSzPct val="100000"/>
              <a:buChar char="•"/>
            </a:pPr>
            <a:r>
              <a:rPr lang="en-US" sz="1100" dirty="0">
                <a:solidFill>
                  <a:srgbClr val="17212B"/>
                </a:solidFill>
                <a:latin typeface="Calibri" pitchFamily="34" charset="0"/>
                <a:ea typeface="Calibri" pitchFamily="34" charset="-122"/>
                <a:cs typeface="Calibri" pitchFamily="34" charset="-120"/>
              </a:rPr>
              <a:t>Fees, interest, overdraft facilities, cash inventory</a:t>
            </a:r>
            <a:endParaRPr lang="en-US" sz="1100" dirty="0"/>
          </a:p>
          <a:p>
            <a:pPr marL="342900" indent="-342900">
              <a:spcAft>
                <a:spcPts val="400"/>
              </a:spcAft>
              <a:buSzPct val="100000"/>
              <a:buChar char="•"/>
            </a:pPr>
            <a:r>
              <a:rPr lang="en-US" sz="1100" dirty="0">
                <a:solidFill>
                  <a:srgbClr val="17212B"/>
                </a:solidFill>
                <a:latin typeface="Calibri" pitchFamily="34" charset="0"/>
                <a:ea typeface="Calibri" pitchFamily="34" charset="-122"/>
                <a:cs typeface="Calibri" pitchFamily="34" charset="-120"/>
              </a:rPr>
              <a:t>Multiple currencies and sub-cent accounting</a:t>
            </a:r>
            <a:endParaRPr lang="en-US" sz="1100" dirty="0"/>
          </a:p>
          <a:p>
            <a:pPr marL="342900" indent="-342900">
              <a:spcAft>
                <a:spcPts val="400"/>
              </a:spcAft>
              <a:buSzPct val="100000"/>
              <a:buChar char="•"/>
            </a:pPr>
            <a:r>
              <a:rPr lang="en-US" sz="1100" dirty="0">
                <a:solidFill>
                  <a:srgbClr val="17212B"/>
                </a:solidFill>
                <a:latin typeface="Calibri" pitchFamily="34" charset="0"/>
                <a:ea typeface="Calibri" pitchFamily="34" charset="-122"/>
                <a:cs typeface="Calibri" pitchFamily="34" charset="-120"/>
              </a:rPr>
              <a:t>A JavaScript SPA or public API</a:t>
            </a:r>
            <a:endParaRPr lang="en-US" sz="1100" dirty="0"/>
          </a:p>
          <a:p>
            <a:pPr marL="342900" indent="-342900">
              <a:spcAft>
                <a:spcPts val="400"/>
              </a:spcAft>
              <a:buSzPct val="100000"/>
              <a:buChar char="•"/>
            </a:pPr>
            <a:r>
              <a:rPr lang="en-US" sz="1100" dirty="0">
                <a:solidFill>
                  <a:srgbClr val="17212B"/>
                </a:solidFill>
                <a:latin typeface="Calibri" pitchFamily="34" charset="0"/>
                <a:ea typeface="Calibri" pitchFamily="34" charset="-122"/>
                <a:cs typeface="Calibri" pitchFamily="34" charset="-120"/>
              </a:rPr>
              <a:t>Queues, services, cloud deployment</a:t>
            </a:r>
            <a:endParaRPr lang="en-US" sz="1100" dirty="0"/>
          </a:p>
          <a:p>
            <a:pPr marL="342900" indent="-342900">
              <a:spcAft>
                <a:spcPts val="400"/>
              </a:spcAft>
              <a:buSzPct val="100000"/>
              <a:buChar char="•"/>
            </a:pPr>
            <a:r>
              <a:rPr lang="en-US" sz="1100" dirty="0">
                <a:solidFill>
                  <a:srgbClr val="17212B"/>
                </a:solidFill>
                <a:latin typeface="Calibri" pitchFamily="34" charset="0"/>
                <a:ea typeface="Calibri" pitchFamily="34" charset="-122"/>
                <a:cs typeface="Calibri" pitchFamily="34" charset="-120"/>
              </a:rPr>
              <a:t>Idempotency keys (PRG covers refreshes, not retried requests)</a:t>
            </a:r>
            <a:endParaRPr lang="en-US" sz="1100" dirty="0"/>
          </a:p>
        </p:txBody>
      </p:sp>
      <p:sp>
        <p:nvSpPr>
          <p:cNvPr id="8" name="Shape 5"/>
          <p:cNvSpPr/>
          <p:nvPr/>
        </p:nvSpPr>
        <p:spPr>
          <a:xfrm>
            <a:off x="4023360" y="1051560"/>
            <a:ext cx="3200400" cy="3703320"/>
          </a:xfrm>
          <a:prstGeom prst="roundRect">
            <a:avLst>
              <a:gd name="adj" fmla="val 2286"/>
            </a:avLst>
          </a:prstGeom>
          <a:solidFill>
            <a:srgbClr val="FFFFFF"/>
          </a:solidFill>
          <a:ln w="9525">
            <a:solidFill>
              <a:srgbClr val="D9E0E7"/>
            </a:solidFill>
            <a:prstDash val="solid"/>
          </a:ln>
        </p:spPr>
      </p:sp>
      <p:sp>
        <p:nvSpPr>
          <p:cNvPr id="9" name="Text 6"/>
          <p:cNvSpPr txBox="1"/>
          <p:nvPr/>
        </p:nvSpPr>
        <p:spPr>
          <a:xfrm>
            <a:off x="4251960" y="1207008"/>
            <a:ext cx="2834640" cy="292608"/>
          </a:xfrm>
          <a:prstGeom prst="rect">
            <a:avLst/>
          </a:prstGeom>
          <a:noFill/>
          <a:ln/>
        </p:spPr>
        <p:txBody>
          <a:bodyPr wrap="square" lIns="0" tIns="0" rIns="0" bIns="0" rtlCol="0" anchor="ctr"/>
          <a:lstStyle/>
          <a:p>
            <a:pPr indent="0" marL="0">
              <a:buNone/>
            </a:pPr>
            <a:r>
              <a:rPr lang="en-US" sz="1400" b="1" dirty="0">
                <a:solidFill>
                  <a:srgbClr val="18794E"/>
                </a:solidFill>
                <a:latin typeface="Calibri" pitchFamily="34" charset="0"/>
                <a:ea typeface="Calibri" pitchFamily="34" charset="-122"/>
                <a:cs typeface="Calibri" pitchFamily="34" charset="-120"/>
              </a:rPr>
              <a:t>With more compute, in order</a:t>
            </a:r>
            <a:endParaRPr lang="en-US" sz="1400" dirty="0"/>
          </a:p>
        </p:txBody>
      </p:sp>
      <p:sp>
        <p:nvSpPr>
          <p:cNvPr id="10" name="Text 7"/>
          <p:cNvSpPr txBox="1"/>
          <p:nvPr/>
        </p:nvSpPr>
        <p:spPr>
          <a:xfrm>
            <a:off x="4251960" y="1572768"/>
            <a:ext cx="2834640" cy="310896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17212B"/>
                </a:solidFill>
                <a:latin typeface="Calibri" pitchFamily="34" charset="0"/>
                <a:ea typeface="Calibri" pitchFamily="34" charset="-122"/>
                <a:cs typeface="Calibri" pitchFamily="34" charset="-120"/>
              </a:rPr>
              <a:t>Idempotency keys per submission</a:t>
            </a:r>
            <a:endParaRPr lang="en-US" sz="1100" dirty="0"/>
          </a:p>
          <a:p>
            <a:pPr marL="342900" indent="-342900">
              <a:spcAft>
                <a:spcPts val="400"/>
              </a:spcAft>
              <a:buSzPct val="100000"/>
              <a:buFont typeface="+mj-lt"/>
              <a:buAutoNum type="arabicPeriod" startAt="1"/>
            </a:pPr>
            <a:r>
              <a:rPr lang="en-US" sz="1100" dirty="0">
                <a:solidFill>
                  <a:srgbClr val="17212B"/>
                </a:solidFill>
                <a:latin typeface="Calibri" pitchFamily="34" charset="0"/>
                <a:ea typeface="Calibri" pitchFamily="34" charset="-122"/>
                <a:cs typeface="Calibri" pitchFamily="34" charset="-120"/>
              </a:rPr>
              <a:t>Richer auditing: actor, request id, reversals</a:t>
            </a:r>
            <a:endParaRPr lang="en-US" sz="1100" dirty="0"/>
          </a:p>
          <a:p>
            <a:pPr marL="342900" indent="-342900">
              <a:spcAft>
                <a:spcPts val="400"/>
              </a:spcAft>
              <a:buSzPct val="100000"/>
              <a:buFont typeface="+mj-lt"/>
              <a:buAutoNum type="arabicPeriod" startAt="1"/>
            </a:pPr>
            <a:r>
              <a:rPr lang="en-US" sz="1100" dirty="0">
                <a:solidFill>
                  <a:srgbClr val="17212B"/>
                </a:solidFill>
                <a:latin typeface="Calibri" pitchFamily="34" charset="0"/>
                <a:ea typeface="Calibri" pitchFamily="34" charset="-122"/>
                <a:cs typeface="Calibri" pitchFamily="34" charset="-120"/>
              </a:rPr>
              <a:t>Authentication and per-user accounts</a:t>
            </a:r>
            <a:endParaRPr lang="en-US" sz="1100" dirty="0"/>
          </a:p>
          <a:p>
            <a:pPr marL="342900" indent="-342900">
              <a:spcAft>
                <a:spcPts val="400"/>
              </a:spcAft>
              <a:buSzPct val="100000"/>
              <a:buFont typeface="+mj-lt"/>
              <a:buAutoNum type="arabicPeriod" startAt="1"/>
            </a:pPr>
            <a:r>
              <a:rPr lang="en-US" sz="1100" dirty="0">
                <a:solidFill>
                  <a:srgbClr val="17212B"/>
                </a:solidFill>
                <a:latin typeface="Calibri" pitchFamily="34" charset="0"/>
                <a:ea typeface="Calibri" pitchFamily="34" charset="-122"/>
                <a:cs typeface="Calibri" pitchFamily="34" charset="-120"/>
              </a:rPr>
              <a:t>Automated accessibility checks in CI</a:t>
            </a:r>
            <a:endParaRPr lang="en-US" sz="1100" dirty="0"/>
          </a:p>
          <a:p>
            <a:pPr marL="342900" indent="-342900">
              <a:spcAft>
                <a:spcPts val="400"/>
              </a:spcAft>
              <a:buSzPct val="100000"/>
              <a:buFont typeface="+mj-lt"/>
              <a:buAutoNum type="arabicPeriod" startAt="1"/>
            </a:pPr>
            <a:r>
              <a:rPr lang="en-US" sz="1100" dirty="0">
                <a:solidFill>
                  <a:srgbClr val="17212B"/>
                </a:solidFill>
                <a:latin typeface="Calibri" pitchFamily="34" charset="0"/>
                <a:ea typeface="Calibri" pitchFamily="34" charset="-122"/>
                <a:cs typeface="Calibri" pitchFamily="34" charset="-120"/>
              </a:rPr>
              <a:t>Observability: structured logs, metrics, tracing</a:t>
            </a:r>
            <a:endParaRPr lang="en-US" sz="1100" dirty="0"/>
          </a:p>
          <a:p>
            <a:pPr marL="342900" indent="-342900">
              <a:spcAft>
                <a:spcPts val="400"/>
              </a:spcAft>
              <a:buSzPct val="100000"/>
              <a:buFont typeface="+mj-lt"/>
              <a:buAutoNum type="arabicPeriod" startAt="1"/>
            </a:pPr>
            <a:r>
              <a:rPr lang="en-US" sz="1100" dirty="0">
                <a:solidFill>
                  <a:srgbClr val="17212B"/>
                </a:solidFill>
                <a:latin typeface="Calibri" pitchFamily="34" charset="0"/>
                <a:ea typeface="Calibri" pitchFamily="34" charset="-122"/>
                <a:cs typeface="Calibri" pitchFamily="34" charset="-120"/>
              </a:rPr>
              <a:t>Load tests against SQLite's write limits</a:t>
            </a:r>
            <a:endParaRPr lang="en-US" sz="1100" dirty="0"/>
          </a:p>
          <a:p>
            <a:pPr marL="342900" indent="-342900">
              <a:spcAft>
                <a:spcPts val="400"/>
              </a:spcAft>
              <a:buSzPct val="100000"/>
              <a:buFont typeface="+mj-lt"/>
              <a:buAutoNum type="arabicPeriod" startAt="1"/>
            </a:pPr>
            <a:r>
              <a:rPr lang="en-US" sz="1100" dirty="0">
                <a:solidFill>
                  <a:srgbClr val="17212B"/>
                </a:solidFill>
                <a:latin typeface="Calibri" pitchFamily="34" charset="0"/>
                <a:ea typeface="Calibri" pitchFamily="34" charset="-122"/>
                <a:cs typeface="Calibri" pitchFamily="34" charset="-120"/>
              </a:rPr>
              <a:t>Packaged deployment and configuration</a:t>
            </a:r>
            <a:endParaRPr lang="en-US" sz="1100" dirty="0"/>
          </a:p>
          <a:p>
            <a:pPr marL="342900" indent="-342900">
              <a:spcAft>
                <a:spcPts val="400"/>
              </a:spcAft>
              <a:buSzPct val="100000"/>
              <a:buFont typeface="+mj-lt"/>
              <a:buAutoNum type="arabicPeriod" startAt="1"/>
            </a:pPr>
            <a:r>
              <a:rPr lang="en-US" sz="1100" dirty="0">
                <a:solidFill>
                  <a:srgbClr val="17212B"/>
                </a:solidFill>
                <a:latin typeface="Calibri" pitchFamily="34" charset="0"/>
                <a:ea typeface="Calibri" pitchFamily="34" charset="-122"/>
                <a:cs typeface="Calibri" pitchFamily="34" charset="-120"/>
              </a:rPr>
              <a:t>Browser-level end-to-end coverage</a:t>
            </a:r>
            <a:endParaRPr lang="en-US" sz="1100" dirty="0"/>
          </a:p>
        </p:txBody>
      </p:sp>
      <p:sp>
        <p:nvSpPr>
          <p:cNvPr id="11" name="Shape 8"/>
          <p:cNvSpPr/>
          <p:nvPr/>
        </p:nvSpPr>
        <p:spPr>
          <a:xfrm>
            <a:off x="7406640" y="1051560"/>
            <a:ext cx="1280160" cy="3703320"/>
          </a:xfrm>
          <a:prstGeom prst="roundRect">
            <a:avLst>
              <a:gd name="adj" fmla="val 5714"/>
            </a:avLst>
          </a:prstGeom>
          <a:solidFill>
            <a:srgbClr val="FFFFFF"/>
          </a:solidFill>
          <a:ln w="9525">
            <a:solidFill>
              <a:srgbClr val="D9E0E7"/>
            </a:solidFill>
            <a:prstDash val="solid"/>
          </a:ln>
        </p:spPr>
      </p:sp>
      <p:pic>
        <p:nvPicPr>
          <p:cNvPr id="12" name="Image 0" descr="/Users/john/theborg/repos/atm/design/screenshots/phone.png">    </p:cNvPr>
          <p:cNvPicPr>
            <a:picLocks noChangeAspect="1"/>
          </p:cNvPicPr>
          <p:nvPr/>
        </p:nvPicPr>
        <p:blipFill>
          <a:blip r:embed="rId1"/>
          <a:srcRect l="0" r="0" t="0" b="10673"/>
          <a:stretch/>
        </p:blipFill>
        <p:spPr>
          <a:xfrm>
            <a:off x="7498080" y="1143000"/>
            <a:ext cx="1097280" cy="35204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ATM Coding Exercise</dc:title>
  <dc:subject>PptxGenJS Presentation</dc:subject>
  <dc:creator>John DiFini</dc:creator>
  <cp:lastModifiedBy>John DiFini</cp:lastModifiedBy>
  <cp:revision>1</cp:revision>
  <dcterms:created xsi:type="dcterms:W3CDTF">2026-09-22T03:12:51Z</dcterms:created>
  <dcterms:modified xsi:type="dcterms:W3CDTF">2026-09-22T03:12:51Z</dcterms:modified>
</cp:coreProperties>
</file>