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blob/main/docs/adr/0003-sqlite-ef-core.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 Id="rId3" Type="http://schemas.openxmlformats.org/officeDocument/2006/relationships/hyperlink" Target="https://github.com/johndifini/theborg/tree/main/architetto" TargetMode="External"/><Relationship Id="rId4" Type="http://schemas.openxmlformats.org/officeDocument/2006/relationships/hyperlink" Target="https://github.com/johndifini/atm/blob/main/SPEC.md" TargetMode="External"/><Relationship Id="rId5" Type="http://schemas.openxmlformats.org/officeDocument/2006/relationships/hyperlink" Target="https://github.com/johndifini/atm/blob/main/PLAN.md" TargetMode="External"/><Relationship Id="rId6" Type="http://schemas.openxmlformats.org/officeDocument/2006/relationships/hyperlink" Target="https://github.com/johndifini/atm/tree/main/docs/adr" TargetMode="External"/><Relationship Id="rId7" Type="http://schemas.openxmlformats.org/officeDocument/2006/relationships/hyperlink" Target="https://github.com/johndifini/atm/blob/main/AGENTS.md" TargetMode="External"/><Relationship Id="rId8" Type="http://schemas.openxmlformats.org/officeDocument/2006/relationships/hyperlink" Target="https://github.com/johndifini/atm/blob/main/AGENTS.md" TargetMode="External"/><Relationship Id="rId9" Type="http://schemas.openxmlformats.org/officeDocument/2006/relationships/hyperlink" Target="https://github.com/johndifini/atm/blob/main/README.md" TargetMode="External"/><Relationship Id="rId10" Type="http://schemas.openxmlformats.org/officeDocument/2006/relationships/hyperlink" Target="https://github.com/johndifini/theborg/tree/main/jony-vibe" TargetMode="External"/><Relationship Id="rId11" Type="http://schemas.openxmlformats.org/officeDocument/2006/relationships/hyperlink" Target="https://github.com/johndifini/theborg/tree/main/c4po" TargetMode="External"/></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 Id="rId3" Type="http://schemas.openxmlformats.org/officeDocument/2006/relationships/hyperlink" Target="https://github.com/johndifini/atm/blob/main/SPEC.md"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GPT-5.6 Sol in Codex with my architect agent</a:t>
            </a:r>
            <a:endParaRPr lang="en-US" dirty="0"/>
          </a:p>
          <a:p>
            <a:r>
              <a:rPr lang="en-US" dirty="0"/>
              <a:t>• </a:t>
            </a:r>
            <a:r>
              <a:rPr lang="en-US" dirty="0">
                <a:hlinkClick r:id="rId3"/>
              </a:rPr>
              <a:t>Architetto</a:t>
            </a:r>
            <a:r>
              <a:rPr lang="en-US" dirty="0"/>
              <a:t> is my open-source architect agent: it bootstraps new repositories and records every foundational decision.</a:t>
            </a:r>
            <a:endParaRPr lang="en-US" dirty="0"/>
          </a:p>
          <a:p>
            <a:r>
              <a:rPr lang="en-US" dirty="0"/>
              <a:t>• Interviewed me on four open questions: time box, persistence, seed accounts, repo visibility.</a:t>
            </a:r>
            <a:endParaRPr lang="en-US" dirty="0"/>
          </a:p>
          <a:p>
            <a:r>
              <a:rPr lang="en-US" dirty="0"/>
              <a:t>• The model proposed the stack; I approved it.</a:t>
            </a:r>
            <a:endParaRPr lang="en-US" dirty="0"/>
          </a:p>
          <a:p>
            <a:r>
              <a:rPr lang="en-US" dirty="0"/>
              <a:t>• Scaffolded before any feature code: </a:t>
            </a:r>
            <a:r>
              <a:rPr lang="en-US" dirty="0">
                <a:hlinkClick r:id="rId4"/>
              </a:rPr>
              <a:t>SPEC.md</a:t>
            </a:r>
            <a:r>
              <a:rPr lang="en-US" dirty="0"/>
              <a:t>, </a:t>
            </a:r>
            <a:r>
              <a:rPr lang="en-US" dirty="0">
                <a:hlinkClick r:id="rId5"/>
              </a:rPr>
              <a:t>PLAN.md</a:t>
            </a:r>
            <a:r>
              <a:rPr lang="en-US" dirty="0"/>
              <a:t>, six </a:t>
            </a:r>
            <a:r>
              <a:rPr lang="en-US" dirty="0">
                <a:hlinkClick r:id="rId6"/>
              </a:rPr>
              <a:t>ADRs</a:t>
            </a:r>
            <a:r>
              <a:rPr lang="en-US" dirty="0"/>
              <a:t>, </a:t>
            </a:r>
            <a:r>
              <a:rPr lang="en-US" dirty="0">
                <a:hlinkClick r:id="rId7"/>
              </a:rPr>
              <a:t>AGENTS.md</a:t>
            </a:r>
            <a:r>
              <a:rPr lang="en-US" dirty="0"/>
              <a:t>.</a:t>
            </a:r>
            <a:endParaRPr lang="en-US" dirty="0"/>
          </a:p>
          <a:p>
            <a:r>
              <a:rPr lang="en-US" dirty="0"/>
              <a:t>   – </a:t>
            </a:r>
            <a:r>
              <a:rPr lang="en-US" dirty="0">
                <a:hlinkClick r:id="rId8"/>
              </a:rPr>
              <a:t>AGENTS.md</a:t>
            </a:r>
            <a:r>
              <a:rPr lang="en-US" dirty="0"/>
              <a:t> lists the rules for this repo: money is decimal, balances never go negative, etc.</a:t>
            </a:r>
            <a:endParaRPr lang="en-US" dirty="0"/>
          </a:p>
          <a:p>
            <a:endParaRPr lang="en-US" dirty="0"/>
          </a:p>
          <a:p>
            <a:r>
              <a:rPr lang="en-US" dirty="0"/>
              <a:t>Build: Fable 5.1 in Claude Code</a:t>
            </a:r>
            <a:endParaRPr lang="en-US" dirty="0"/>
          </a:p>
          <a:p>
            <a:r>
              <a:rPr lang="en-US" dirty="0"/>
              <a:t>• Why Fable 5.1: I know the best approach is to plan with the strongest model and execute with cheaper ones, but when I reached the implementation phase, I was running short on time. Therefore, I chose the strongest end-to-end model at the time (a whopping week ago, before Opus 5.5 shipped).</a:t>
            </a:r>
            <a:endParaRPr lang="en-US" dirty="0"/>
          </a:p>
          <a:p>
            <a:r>
              <a:rPr lang="en-US" dirty="0"/>
              <a:t>• Six phases in order: domain, application, persistence, web, HTTP tests and accessibility, deck.</a:t>
            </a:r>
            <a:endParaRPr lang="en-US" dirty="0"/>
          </a:p>
          <a:p>
            <a:r>
              <a:rPr lang="en-US" dirty="0"/>
              <a:t>• Each phase committed only with the build and every test green; domain tests written first.</a:t>
            </a:r>
            <a:endParaRPr lang="en-US" dirty="0"/>
          </a:p>
          <a:p>
            <a:endParaRPr lang="en-US" dirty="0"/>
          </a:p>
          <a:p>
            <a:r>
              <a:rPr lang="en-US" dirty="0"/>
              <a:t>Refine: Opus 5.5 and GPT-6 Sol in Codex</a:t>
            </a:r>
            <a:endParaRPr lang="en-US" dirty="0"/>
          </a:p>
          <a:p>
            <a:r>
              <a:rPr lang="en-US" dirty="0"/>
              <a:t>• Windows setup steps in </a:t>
            </a:r>
            <a:r>
              <a:rPr lang="en-US" dirty="0">
                <a:hlinkClick r:id="rId9"/>
              </a:rPr>
              <a:t>README.md</a:t>
            </a:r>
            <a:r>
              <a:rPr lang="en-US" dirty="0"/>
              <a:t>, a Dependabot fix, the deck redesign, slide wording.</a:t>
            </a:r>
            <a:endParaRPr lang="en-US" dirty="0"/>
          </a:p>
          <a:p>
            <a:r>
              <a:rPr lang="en-US" dirty="0"/>
              <a:t>• The design direction came from </a:t>
            </a:r>
            <a:r>
              <a:rPr lang="en-US" dirty="0">
                <a:hlinkClick r:id="rId10"/>
              </a:rPr>
              <a:t>jony-vibe</a:t>
            </a:r>
            <a:r>
              <a:rPr lang="en-US" dirty="0"/>
              <a:t>, my design-consultation agent; the first deck skipped that consultation and was redone.</a:t>
            </a:r>
            <a:endParaRPr lang="en-US" dirty="0"/>
          </a:p>
          <a:p>
            <a:r>
              <a:rPr lang="en-US" dirty="0"/>
              <a:t>• </a:t>
            </a:r>
            <a:r>
              <a:rPr lang="en-US" dirty="0">
                <a:hlinkClick r:id="rId11"/>
              </a:rPr>
              <a:t>c4po</a:t>
            </a:r>
            <a:r>
              <a:rPr lang="en-US" dirty="0"/>
              <a:t>, my workspace-admin agent, moved the deck's visual checks from Keynote to PowerPoint after Keynote passed a deck that PowerPoint had to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Omitted (out of scope in </a:t>
            </a:r>
            <a:r>
              <a:rPr lang="en-US" b="1" dirty="0">
                <a:hlinkClick r:id="rId3"/>
              </a:rPr>
              <a:t>SPEC.md</a:t>
            </a:r>
            <a:r>
              <a:rPr lang="en-US" b="1" dirty="0"/>
              <a:t>)</a:t>
            </a:r>
            <a:endParaRPr lang="en-US" dirty="0"/>
          </a:p>
          <a:p>
            <a:pPr marL="228600" lvl="0" indent="-228600">
              <a:buFont typeface="Arial"/>
              <a:buChar char="•"/>
            </a:pPr>
            <a:r>
              <a:rPr lang="en-US" dirty="0"/>
              <a:t>Identity</a:t>
            </a:r>
            <a:endParaRPr lang="en-US" dirty="0"/>
          </a:p>
          <a:p>
            <a:pPr marL="457200" lvl="1" indent="-228600">
              <a:buFont typeface="Arial"/>
              <a:buChar char="–"/>
            </a:pPr>
            <a:r>
              <a:rPr lang="en-US" dirty="0"/>
              <a:t>No login, card, PIN, or session; one local user</a:t>
            </a:r>
            <a:endParaRPr lang="en-US" dirty="0"/>
          </a:p>
          <a:p>
            <a:pPr marL="228600" lvl="0" indent="-228600">
              <a:buFont typeface="Arial"/>
              <a:buChar char="•"/>
            </a:pPr>
            <a:r>
              <a:rPr lang="en-US" dirty="0"/>
              <a:t>Banking breadth</a:t>
            </a:r>
            <a:endParaRPr lang="en-US" dirty="0"/>
          </a:p>
          <a:p>
            <a:pPr marL="457200" lvl="1" indent="-228600">
              <a:buFont typeface="Arial"/>
              <a:buChar char="–"/>
            </a:pPr>
            <a:r>
              <a:rPr lang="en-US" dirty="0"/>
              <a:t>No fees, interest, overdraft lines, scheduled payments, other currencies, or bank rails</a:t>
            </a:r>
            <a:endParaRPr lang="en-US" dirty="0"/>
          </a:p>
          <a:p>
            <a:pPr marL="228600" lvl="0" indent="-228600">
              <a:buFont typeface="Arial"/>
              <a:buChar char="•"/>
            </a:pPr>
            <a:r>
              <a:rPr lang="en-US" dirty="0"/>
              <a:t>Distributed operations</a:t>
            </a:r>
            <a:endParaRPr lang="en-US" dirty="0"/>
          </a:p>
          <a:p>
            <a:pPr marL="457200" lvl="1" indent="-228600">
              <a:buFont typeface="Arial"/>
              <a:buChar char="–"/>
            </a:pPr>
            <a:r>
              <a:rPr lang="en-US" dirty="0"/>
              <a:t>One process, one SQLite file</a:t>
            </a:r>
            <a:endParaRPr lang="en-US" dirty="0"/>
          </a:p>
          <a:p>
            <a:pPr marL="457200" lvl="1" indent="-228600">
              <a:buFont typeface="Arial"/>
              <a:buChar char="–"/>
            </a:pPr>
            <a:r>
              <a:rPr lang="en-US" dirty="0"/>
              <a:t>In a real bank, Domain and Application would become a backend service shared by every client (ATMs, mobile app, online banking, branch tellers)</a:t>
            </a:r>
            <a:endParaRPr lang="en-US" dirty="0"/>
          </a:p>
          <a:p>
            <a:endParaRPr lang="en-US" dirty="0"/>
          </a:p>
          <a:p>
            <a:r>
              <a:rPr lang="en-US" b="1" dirty="0"/>
              <a:t>Roadmap</a:t>
            </a:r>
            <a:endParaRPr lang="en-US" dirty="0"/>
          </a:p>
          <a:p>
            <a:pPr marL="228600" lvl="0" indent="-228600">
              <a:buFont typeface="Arial"/>
              <a:buChar char="•"/>
            </a:pPr>
            <a:r>
              <a:rPr lang="en-US" dirty="0"/>
              <a:t>Now</a:t>
            </a:r>
            <a:endParaRPr lang="en-US" dirty="0"/>
          </a:p>
          <a:p>
            <a:pPr marL="457200" lvl="1" indent="-228600">
              <a:buFont typeface="Arial"/>
              <a:buChar char="–"/>
            </a:pPr>
            <a:r>
              <a:rPr lang="en-US" dirty="0"/>
              <a:t>Idempotency keys: a retry after a lost response repeats the operation; Post/Redirect/Get and EF Core's concurrency token cannot catch it</a:t>
            </a:r>
            <a:endParaRPr lang="en-US" dirty="0"/>
          </a:p>
          <a:p>
            <a:pPr marL="457200" lvl="1" indent="-228600">
              <a:buFont typeface="Arial"/>
              <a:buChar char="–"/>
            </a:pPr>
            <a:r>
              <a:rPr lang="en-US" dirty="0"/>
              <a:t>Cross-model code review: Fable 5.1 wrote the implementation, so have a different model (GPT-6 Sol) review it; a second model does not share the author's blind spots</a:t>
            </a:r>
            <a:endParaRPr lang="en-US" dirty="0"/>
          </a:p>
          <a:p>
            <a:pPr marL="457200" lvl="1" indent="-228600">
              <a:buFont typeface="Arial"/>
              <a:buChar char="–"/>
            </a:pPr>
            <a:r>
              <a:rPr lang="en-US" dirty="0"/>
              <a:t>Authentication: prerequisite for multiple users and attributable audits</a:t>
            </a:r>
            <a:endParaRPr lang="en-US" dirty="0"/>
          </a:p>
          <a:p>
            <a:pPr marL="228600" lvl="0" indent="-228600">
              <a:buFont typeface="Arial"/>
              <a:buChar char="•"/>
            </a:pPr>
            <a:r>
              <a:rPr lang="en-US" dirty="0"/>
              <a:t>Next</a:t>
            </a:r>
            <a:endParaRPr lang="en-US" dirty="0"/>
          </a:p>
          <a:p>
            <a:pPr marL="457200" lvl="1" indent="-228600">
              <a:buFont typeface="Arial"/>
              <a:buChar char="–"/>
            </a:pPr>
            <a:r>
              <a:rPr lang="en-US" dirty="0"/>
              <a:t>Accessibility: screen-reader testing, axe or Lighthouse in CI</a:t>
            </a:r>
            <a:endParaRPr lang="en-US" dirty="0"/>
          </a:p>
          <a:p>
            <a:pPr marL="685800" lvl="2" indent="-228600">
              <a:buFont typeface="Arial"/>
              <a:buChar char="–"/>
            </a:pPr>
            <a:r>
              <a:rPr lang="en-US" dirty="0"/>
              <a:t>Known gap: with JavaScript on, Tab cannot reach the Withdraw and Transfer tabs (in BACKLOG.md)</a:t>
            </a:r>
            <a:endParaRPr lang="en-US" dirty="0"/>
          </a:p>
          <a:p>
            <a:pPr marL="457200" lvl="1" indent="-228600">
              <a:buFont typeface="Arial"/>
              <a:buChar char="–"/>
            </a:pPr>
            <a:r>
              <a:rPr lang="en-US" dirty="0"/>
              <a:t>Observability: structured logs, metrics, traces</a:t>
            </a:r>
            <a:endParaRPr lang="en-US" dirty="0"/>
          </a:p>
          <a:p>
            <a:pPr marL="228600" lvl="0" indent="-228600">
              <a:buFont typeface="Arial"/>
              <a:buChar char="•"/>
            </a:pPr>
            <a:r>
              <a:rPr lang="en-US" dirty="0"/>
              <a:t>Later</a:t>
            </a:r>
            <a:endParaRPr lang="en-US" dirty="0"/>
          </a:p>
          <a:p>
            <a:pPr marL="457200" lvl="1" indent="-228600">
              <a:buFont typeface="Arial"/>
              <a:buChar char="–"/>
            </a:pPr>
            <a:r>
              <a:rPr lang="en-US" dirty="0"/>
              <a:t>Deployment: container, CI/CD, hosting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How I AI'ed</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FRAME</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GPT-5.6 Sol</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I approved spec, plan, ADRs</a:t>
            </a:r>
            <a:endParaRPr lang="en-US" sz="1250" dirty="0"/>
          </a:p>
        </p:txBody>
      </p:sp>
      <p:sp>
        <p:nvSpPr>
          <p:cNvPr id="8" name="Shape 5"/>
          <p:cNvSpPr/>
          <p:nvPr/>
        </p:nvSpPr>
        <p:spPr>
          <a:xfrm>
            <a:off x="585216" y="2066544"/>
            <a:ext cx="7973568" cy="0"/>
          </a:xfrm>
          <a:prstGeom prst="line">
            <a:avLst/>
          </a:prstGeom>
          <a:noFill/>
          <a:ln w="9525">
            <a:solidFill>
              <a:srgbClr val="333333"/>
            </a:solidFill>
            <a:prstDash val="solid"/>
          </a:ln>
        </p:spPr>
      </p:sp>
      <p:sp>
        <p:nvSpPr>
          <p:cNvPr id="9" name="Text 6"/>
          <p:cNvSpPr txBox="1"/>
          <p:nvPr/>
        </p:nvSpPr>
        <p:spPr>
          <a:xfrm>
            <a:off x="585216" y="232257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BUILD</a:t>
            </a:r>
            <a:endParaRPr lang="en-US" sz="1100" dirty="0"/>
          </a:p>
        </p:txBody>
      </p:sp>
      <p:sp>
        <p:nvSpPr>
          <p:cNvPr id="10" name="Text 7"/>
          <p:cNvSpPr txBox="1"/>
          <p:nvPr/>
        </p:nvSpPr>
        <p:spPr>
          <a:xfrm>
            <a:off x="2468880" y="226771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Fable 5.1</a:t>
            </a:r>
            <a:endParaRPr lang="en-US" sz="2000" dirty="0"/>
          </a:p>
        </p:txBody>
      </p:sp>
      <p:sp>
        <p:nvSpPr>
          <p:cNvPr id="11" name="Text 8"/>
          <p:cNvSpPr txBox="1"/>
          <p:nvPr/>
        </p:nvSpPr>
        <p:spPr>
          <a:xfrm>
            <a:off x="2468880" y="261518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Six phases, tests green per commit</a:t>
            </a:r>
            <a:endParaRPr lang="en-US" sz="1250" dirty="0"/>
          </a:p>
        </p:txBody>
      </p:sp>
      <p:sp>
        <p:nvSpPr>
          <p:cNvPr id="12" name="Text 9"/>
          <p:cNvSpPr txBox="1"/>
          <p:nvPr/>
        </p:nvSpPr>
        <p:spPr>
          <a:xfrm>
            <a:off x="2468880" y="2889504"/>
            <a:ext cx="6089904" cy="219456"/>
          </a:xfrm>
          <a:prstGeom prst="rect">
            <a:avLst/>
          </a:prstGeom>
          <a:noFill/>
          <a:ln/>
        </p:spPr>
        <p:txBody>
          <a:bodyPr wrap="square" lIns="0" tIns="0" rIns="0" bIns="0" rtlCol="0" anchor="t">
            <a:normAutofit/>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Chose to minimize rework over tokens</a:t>
            </a:r>
            <a:endParaRPr lang="en-US" sz="1250" dirty="0"/>
          </a:p>
        </p:txBody>
      </p:sp>
      <p:sp>
        <p:nvSpPr>
          <p:cNvPr id="13" name="Shape 10"/>
          <p:cNvSpPr/>
          <p:nvPr/>
        </p:nvSpPr>
        <p:spPr>
          <a:xfrm>
            <a:off x="585216" y="3255264"/>
            <a:ext cx="7973568" cy="0"/>
          </a:xfrm>
          <a:prstGeom prst="line">
            <a:avLst/>
          </a:prstGeom>
          <a:noFill/>
          <a:ln w="9525">
            <a:solidFill>
              <a:srgbClr val="333333"/>
            </a:solidFill>
            <a:prstDash val="solid"/>
          </a:ln>
        </p:spPr>
      </p:sp>
      <p:sp>
        <p:nvSpPr>
          <p:cNvPr id="14" name="Text 11"/>
          <p:cNvSpPr txBox="1"/>
          <p:nvPr/>
        </p:nvSpPr>
        <p:spPr>
          <a:xfrm>
            <a:off x="585216" y="351129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REFINE</a:t>
            </a:r>
            <a:endParaRPr lang="en-US" sz="1100" dirty="0"/>
          </a:p>
        </p:txBody>
      </p:sp>
      <p:sp>
        <p:nvSpPr>
          <p:cNvPr id="15" name="Text 12"/>
          <p:cNvSpPr txBox="1"/>
          <p:nvPr/>
        </p:nvSpPr>
        <p:spPr>
          <a:xfrm>
            <a:off x="2468880" y="345643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Opus 5.5, GPT-6 Sol</a:t>
            </a:r>
            <a:endParaRPr lang="en-US" sz="2000" dirty="0"/>
          </a:p>
        </p:txBody>
      </p:sp>
      <p:sp>
        <p:nvSpPr>
          <p:cNvPr id="16" name="Text 13"/>
          <p:cNvSpPr txBox="1"/>
          <p:nvPr/>
        </p:nvSpPr>
        <p:spPr>
          <a:xfrm>
            <a:off x="2468880" y="380390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Docs, deck, fixes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NOW</a:t>
            </a:r>
            <a:endParaRPr lang="en-US" sz="1100" dirty="0"/>
          </a:p>
        </p:txBody>
      </p:sp>
      <p:sp>
        <p:nvSpPr>
          <p:cNvPr id="11" name="Text 8"/>
          <p:cNvSpPr txBox="1"/>
          <p:nvPr/>
        </p:nvSpPr>
        <p:spPr>
          <a:xfrm>
            <a:off x="3383280" y="1536192"/>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Idempotency keys, cross-model review,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3" name="Text 10"/>
          <p:cNvSpPr txBox="1"/>
          <p:nvPr/>
        </p:nvSpPr>
        <p:spPr>
          <a:xfrm>
            <a:off x="3383280" y="2514600"/>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2026-09-27T13:34:48Z</dcterms:created>
  <dcterms:modified xsi:type="dcterms:W3CDTF">2026-09-27T13:34:48Z</dcterms:modified>
</cp:coreProperties>
</file>