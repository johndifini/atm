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57200" y="228600"/>
            <a:ext cx="34290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6200" y="228600"/>
            <a:ext cx="34290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457200" y="685800"/>
            <a:ext cx="6858000" cy="3857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457200" y="4800600"/>
            <a:ext cx="6858000" cy="448056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457200" y="9371013"/>
            <a:ext cx="34290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6200" y="9371013"/>
            <a:ext cx="34290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 Id="rId3" Type="http://schemas.openxmlformats.org/officeDocument/2006/relationships/hyperlink" Target="https://github.com/johndifini/atm/blob/main/docs/adr/0002-modular-monolith.md" TargetMode="External"/></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 Id="rId3" Type="http://schemas.openxmlformats.org/officeDocument/2006/relationships/hyperlink" Target="https://github.com/johndifini/atm/tree/main/docs/adr" TargetMode="External"/><Relationship Id="rId4" Type="http://schemas.openxmlformats.org/officeDocument/2006/relationships/hyperlink" Target="https://github.com/johndifini/atm/blob/main/docs/adr/0001-dotnet-razor-pages.md" TargetMode="External"/><Relationship Id="rId5" Type="http://schemas.openxmlformats.org/officeDocument/2006/relationships/hyperlink" Target="https://github.com/johndifini/atm/blob/main/docs/adr/0002-modular-monolith.md" TargetMode="External"/><Relationship Id="rId6" Type="http://schemas.openxmlformats.org/officeDocument/2006/relationships/hyperlink" Target="https://github.com/johndifini/atm/blob/main/docs/adr/0003-sqlite-ef-core.md" TargetMode="External"/><Relationship Id="rId7" Type="http://schemas.openxmlformats.org/officeDocument/2006/relationships/hyperlink" Target="https://github.com/johndifini/atm/blob/main/docs/adr/0005-money-transaction-semantics.md" TargetMode="External"/></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 Id="rId3" Type="http://schemas.openxmlformats.org/officeDocument/2006/relationships/hyperlink" Target="https://github.com/johndifini/atm/blob/main/docs/adr/0003-sqlite-ef-core.md" TargetMode="External"/></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 Id="rId3" Type="http://schemas.openxmlformats.org/officeDocument/2006/relationships/hyperlink" Target="https://github.com/johndifini/theborg/tree/main/architetto" TargetMode="External"/><Relationship Id="rId4" Type="http://schemas.openxmlformats.org/officeDocument/2006/relationships/hyperlink" Target="https://github.com/johndifini/atm/blob/main/SPEC.md" TargetMode="External"/><Relationship Id="rId5" Type="http://schemas.openxmlformats.org/officeDocument/2006/relationships/hyperlink" Target="https://github.com/johndifini/atm/blob/main/PLAN.md" TargetMode="External"/><Relationship Id="rId6" Type="http://schemas.openxmlformats.org/officeDocument/2006/relationships/hyperlink" Target="https://github.com/johndifini/atm/tree/main/docs/adr" TargetMode="External"/><Relationship Id="rId7" Type="http://schemas.openxmlformats.org/officeDocument/2006/relationships/hyperlink" Target="https://github.com/johndifini/atm/blob/main/AGENTS.md" TargetMode="External"/><Relationship Id="rId8" Type="http://schemas.openxmlformats.org/officeDocument/2006/relationships/hyperlink" Target="https://github.com/johndifini/atm/blob/main/AGENTS.md" TargetMode="External"/><Relationship Id="rId9" Type="http://schemas.openxmlformats.org/officeDocument/2006/relationships/hyperlink" Target="https://github.com/johndifini/atm/blob/main/README.md" TargetMode="External"/><Relationship Id="rId10" Type="http://schemas.openxmlformats.org/officeDocument/2006/relationships/hyperlink" Target="https://github.com/johndifini/theborg/tree/main/jony-vibe" TargetMode="External"/><Relationship Id="rId11" Type="http://schemas.openxmlformats.org/officeDocument/2006/relationships/hyperlink" Target="https://github.com/johndifini/theborg/tree/main/c4po" TargetMode="External"/></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 Id="rId3" Type="http://schemas.openxmlformats.org/officeDocument/2006/relationships/hyperlink" Target="https://github.com/johndifini/atm/blob/main/SPEC.md"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finished product, running against a scratch SQLite database. The intentionally narrow scope keeps the review on correctness, architectural boundaries, and evidence. The hint points at an opt-in easter egg: the Konami code (up, up, down, down, left, right, left, right, B, A) toggles a Matrix theme; Esc, the blue pill, or the code again exits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client-side framework or npm packages ship with the app.</a:t>
            </a:r>
            <a:endParaRPr lang="en-US" dirty="0"/>
          </a:p>
          <a:p>
            <a:r>
              <a:rPr lang="en-US" dirty="0"/>
              <a:t>Pages are server-rendered Razor Pages with a small amount of vanilla JavaScript and one “hand-written” stylesheet.</a:t>
            </a:r>
            <a:endParaRPr lang="en-US" dirty="0"/>
          </a:p>
          <a:p>
            <a:endParaRPr lang="en-US" dirty="0"/>
          </a:p>
          <a:p>
            <a:r>
              <a:rPr lang="en-US" dirty="0"/>
              <a:t>The solution is a modular monolith of four projects (Domain, Application, Infrastructure, Web) with dependencies pointing inward, recorded in </a:t>
            </a:r>
            <a:r>
              <a:rPr lang="en-US" dirty="0">
                <a:hlinkClick r:id="rId3"/>
              </a:rPr>
              <a:t>ADR-0002</a:t>
            </a:r>
            <a:r>
              <a:rPr lang="en-US" dirty="0"/>
              <a:t>.</a:t>
            </a:r>
            <a:endParaRPr lang="en-US" dirty="0"/>
          </a:p>
          <a:p>
            <a:r>
              <a:rPr lang="en-US" dirty="0"/>
              <a:t>EF Core and SQLite live only in the Infrastructure project.</a:t>
            </a:r>
            <a:endParaRPr lang="en-US" dirty="0"/>
          </a:p>
          <a:p>
            <a:endParaRPr lang="en-US" dirty="0"/>
          </a:p>
          <a:p>
            <a:r>
              <a:rPr lang="en-US" dirty="0"/>
              <a:t>Tests use xUnit, WebApplicationFactory for in-process HTTP, and coverlet for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a:hlinkClick r:id="rId3"/>
              </a:rPr>
              <a:t>ADRs</a:t>
            </a:r>
            <a:r>
              <a:rPr lang="en-US" dirty="0"/>
              <a:t> explain why each choice fits the exercise.</a:t>
            </a:r>
            <a:endParaRPr lang="en-US" dirty="0"/>
          </a:p>
          <a:p>
            <a:endParaRPr lang="en-US" dirty="0"/>
          </a:p>
          <a:p>
            <a:r>
              <a:rPr lang="en-US" dirty="0"/>
              <a:t>Razor Pages (</a:t>
            </a:r>
            <a:r>
              <a:rPr lang="en-US" dirty="0">
                <a:hlinkClick r:id="rId4"/>
              </a:rPr>
              <a:t>ADR-0001</a:t>
            </a:r>
            <a:r>
              <a:rPr lang="en-US" dirty="0"/>
              <a:t>). Cost: a full page reload per action. The server renders HTML with minimal JavaScript, so the whole app is written in C# and ships as a single unit. A separate JavaScript front end (e.g., a React single-page app) would add its own npm build and a JSON API for the browser to call, because the browser would fetch data instead of receiving finished pages.</a:t>
            </a:r>
            <a:endParaRPr lang="en-US" dirty="0"/>
          </a:p>
          <a:p>
            <a:endParaRPr lang="en-US" dirty="0"/>
          </a:p>
          <a:p>
            <a:r>
              <a:rPr lang="en-US" dirty="0"/>
              <a:t>Modular monolith (</a:t>
            </a:r>
            <a:r>
              <a:rPr lang="en-US" dirty="0">
                <a:hlinkClick r:id="rId5"/>
              </a:rPr>
              <a:t>ADR-0002</a:t>
            </a:r>
            <a:r>
              <a:rPr lang="en-US" dirty="0"/>
              <a:t>). Cost: one feature spans four projects, so adding a transaction type touches Domain, Application, Infrastructure, and Web. The payoff is that business rules can be tested without the web host or the database. Microservices would add operational complexity with no payoff at this scope.</a:t>
            </a:r>
            <a:endParaRPr lang="en-US" dirty="0"/>
          </a:p>
          <a:p>
            <a:endParaRPr lang="en-US" dirty="0"/>
          </a:p>
          <a:p>
            <a:r>
              <a:rPr lang="en-US" dirty="0"/>
              <a:t>SQLite + EF Core (</a:t>
            </a:r>
            <a:r>
              <a:rPr lang="en-US" dirty="0">
                <a:hlinkClick r:id="rId6"/>
              </a:rPr>
              <a:t>ADR-0003</a:t>
            </a:r>
            <a:r>
              <a:rPr lang="en-US" dirty="0"/>
              <a:t>). Cost: single-writer ceiling. A server database is the upgrade path if concurrent load ever matters. The next slide covers the datastore choice.</a:t>
            </a:r>
            <a:endParaRPr lang="en-US" dirty="0"/>
          </a:p>
          <a:p>
            <a:endParaRPr lang="en-US" dirty="0"/>
          </a:p>
          <a:p>
            <a:r>
              <a:rPr lang="en-US" dirty="0"/>
              <a:t>2-decimal USD (</a:t>
            </a:r>
            <a:r>
              <a:rPr lang="en-US" dirty="0">
                <a:hlinkClick r:id="rId7"/>
              </a:rPr>
              <a:t>ADR-0005</a:t>
            </a:r>
            <a:r>
              <a:rPr lang="en-US" dirty="0"/>
              <a:t>). Cost: single-currency support. Amounts are decimal with at most two fractional digits, which rules out floating-point error. The two-digit rule fits USD only, and there is no currency field, so supporting another currency (e.g., JPY with 0 places or KWD with 3) would change the Money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in-memory store would have been enough. I chose a persistent one so balances and history survive restarts (</a:t>
            </a:r>
            <a:r>
              <a:rPr lang="en-US" dirty="0">
                <a:hlinkClick r:id="rId3"/>
              </a:rPr>
              <a:t>ADR-0003</a:t>
            </a:r>
            <a:r>
              <a:rPr lang="en-US" dirty="0"/>
              <a:t>).</a:t>
            </a:r>
            <a:endParaRPr lang="en-US" dirty="0"/>
          </a:p>
          <a:p>
            <a:r>
              <a:rPr lang="en-US" dirty="0"/>
              <a:t>• SQLite – single-file DB with near-zero setup.</a:t>
            </a:r>
            <a:endParaRPr lang="en-US" dirty="0"/>
          </a:p>
          <a:p>
            <a:r>
              <a:rPr lang="en-US" dirty="0"/>
              <a:t>• EF Core – the ORM (the .NET counterpart to Hibernate).</a:t>
            </a:r>
            <a:endParaRPr lang="en-US" dirty="0"/>
          </a:p>
          <a:p>
            <a:r>
              <a:rPr lang="en-US" dirty="0"/>
              <a:t>   – Transactions: saves a transfer's debit, credit, and history rows in a single DB transaction, so they either commit or roll back as a unit.</a:t>
            </a:r>
            <a:endParaRPr lang="en-US" dirty="0"/>
          </a:p>
          <a:p>
            <a:r>
              <a:rPr lang="en-US" dirty="0"/>
              <a:t>   – Optimistic concurrency: rejects a write based on an outdated balance, e.g., two tabs withdrawing against the same $1,000 and overdrawing it. Doesn't lock account rows; assumes conflicts are rare.</a:t>
            </a:r>
            <a:endParaRPr lang="en-US" dirty="0"/>
          </a:p>
          <a:p>
            <a:endParaRPr lang="en-US" dirty="0"/>
          </a:p>
          <a:p>
            <a:r>
              <a:rPr lang="en-US" dirty="0"/>
              <a:t>Every option sits behind the same Application ports, so switching is an Infrastructure-only change.</a:t>
            </a:r>
            <a:endParaRPr lang="en-US" dirty="0"/>
          </a:p>
          <a:p>
            <a:r>
              <a:rPr lang="en-US" dirty="0"/>
              <a:t>• SQLite in-memory – an in-memory connection string with one connection held open. Keeps EF Core, migrations, transactions, and constraints, but data is lost on restart. The best in-memory choice, e.g., for a demo mode.</a:t>
            </a:r>
            <a:endParaRPr lang="en-US" dirty="0"/>
          </a:p>
          <a:p>
            <a:r>
              <a:rPr lang="en-US" dirty="0"/>
              <a:t>• Hand-written store – dictionaries behind a single lock. No dependencies, but the code itself must commit balance and history together instead of relying on a database transaction.</a:t>
            </a:r>
            <a:endParaRPr lang="en-US" dirty="0"/>
          </a:p>
          <a:p>
            <a:r>
              <a:rPr lang="en-US" dirty="0"/>
              <a:t>• EF Core InMemory provider – discouraged by Microsoft. It isn't relational, ignores transactions, and enforces no constraints, so it can't prove the invariants.</a:t>
            </a:r>
            <a:endParaRPr lang="en-US" dirty="0"/>
          </a:p>
          <a:p>
            <a:r>
              <a:rPr lang="en-US" dirty="0"/>
              <a:t>• Redis – a separate server process to install and run, and atomic transfers need MULTI/EXEC or Lua scripts. More operational machinery than this exercise needs, and still volatile unless its persistence is configured.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GPT-5.6 Sol in Codex with my architect agent</a:t>
            </a:r>
            <a:endParaRPr lang="en-US" dirty="0"/>
          </a:p>
          <a:p>
            <a:r>
              <a:rPr lang="en-US" dirty="0"/>
              <a:t>• </a:t>
            </a:r>
            <a:r>
              <a:rPr lang="en-US" dirty="0">
                <a:hlinkClick r:id="rId3"/>
              </a:rPr>
              <a:t>Architetto</a:t>
            </a:r>
            <a:r>
              <a:rPr lang="en-US" dirty="0"/>
              <a:t> is my open-source architect agent: it bootstraps new repositories and records every foundational decision.</a:t>
            </a:r>
            <a:endParaRPr lang="en-US" dirty="0"/>
          </a:p>
          <a:p>
            <a:r>
              <a:rPr lang="en-US" dirty="0"/>
              <a:t>• Interviewed me on four open questions: time box, persistence, seed accounts, repo visibility.</a:t>
            </a:r>
            <a:endParaRPr lang="en-US" dirty="0"/>
          </a:p>
          <a:p>
            <a:r>
              <a:rPr lang="en-US" dirty="0"/>
              <a:t>• The model proposed the stack; I approved it.</a:t>
            </a:r>
            <a:endParaRPr lang="en-US" dirty="0"/>
          </a:p>
          <a:p>
            <a:r>
              <a:rPr lang="en-US" dirty="0"/>
              <a:t>• Scaffolded before any feature code: </a:t>
            </a:r>
            <a:r>
              <a:rPr lang="en-US" dirty="0">
                <a:hlinkClick r:id="rId4"/>
              </a:rPr>
              <a:t>SPEC.md</a:t>
            </a:r>
            <a:r>
              <a:rPr lang="en-US" dirty="0"/>
              <a:t>, </a:t>
            </a:r>
            <a:r>
              <a:rPr lang="en-US" dirty="0">
                <a:hlinkClick r:id="rId5"/>
              </a:rPr>
              <a:t>PLAN.md</a:t>
            </a:r>
            <a:r>
              <a:rPr lang="en-US" dirty="0"/>
              <a:t>, six </a:t>
            </a:r>
            <a:r>
              <a:rPr lang="en-US" dirty="0">
                <a:hlinkClick r:id="rId6"/>
              </a:rPr>
              <a:t>ADRs</a:t>
            </a:r>
            <a:r>
              <a:rPr lang="en-US" dirty="0"/>
              <a:t>, </a:t>
            </a:r>
            <a:r>
              <a:rPr lang="en-US" dirty="0">
                <a:hlinkClick r:id="rId7"/>
              </a:rPr>
              <a:t>AGENTS.md</a:t>
            </a:r>
            <a:r>
              <a:rPr lang="en-US" dirty="0"/>
              <a:t>.</a:t>
            </a:r>
            <a:endParaRPr lang="en-US" dirty="0"/>
          </a:p>
          <a:p>
            <a:r>
              <a:rPr lang="en-US" dirty="0"/>
              <a:t>   – </a:t>
            </a:r>
            <a:r>
              <a:rPr lang="en-US" dirty="0">
                <a:hlinkClick r:id="rId8"/>
              </a:rPr>
              <a:t>AGENTS.md</a:t>
            </a:r>
            <a:r>
              <a:rPr lang="en-US" dirty="0"/>
              <a:t> lists the rules for this repo: money is decimal, balances never go negative, etc.</a:t>
            </a:r>
            <a:endParaRPr lang="en-US" dirty="0"/>
          </a:p>
          <a:p>
            <a:endParaRPr lang="en-US" dirty="0"/>
          </a:p>
          <a:p>
            <a:r>
              <a:rPr lang="en-US" dirty="0"/>
              <a:t>Build: Fable 5.1 in Claude Code</a:t>
            </a:r>
            <a:endParaRPr lang="en-US" dirty="0"/>
          </a:p>
          <a:p>
            <a:r>
              <a:rPr lang="en-US" dirty="0"/>
              <a:t>• Why Fable 5.1: I know the best approach is to plan with the strongest model and execute with cheaper ones, but when I reached the implementation phase, I was running short on time. Therefore, I chose the strongest end-to-end model at the time (a whopping week ago, before Opus 5.5 shipped).</a:t>
            </a:r>
            <a:endParaRPr lang="en-US" dirty="0"/>
          </a:p>
          <a:p>
            <a:r>
              <a:rPr lang="en-US" dirty="0"/>
              <a:t>• Six phases in order: domain, application, persistence, web, HTTP tests and accessibility, deck.</a:t>
            </a:r>
            <a:endParaRPr lang="en-US" dirty="0"/>
          </a:p>
          <a:p>
            <a:r>
              <a:rPr lang="en-US" dirty="0"/>
              <a:t>• Each phase committed only with the build and every test green; domain tests written first.</a:t>
            </a:r>
            <a:endParaRPr lang="en-US" dirty="0"/>
          </a:p>
          <a:p>
            <a:endParaRPr lang="en-US" dirty="0"/>
          </a:p>
          <a:p>
            <a:r>
              <a:rPr lang="en-US" dirty="0"/>
              <a:t>Refine: Opus 5.5 and GPT-6 Sol in Codex</a:t>
            </a:r>
            <a:endParaRPr lang="en-US" dirty="0"/>
          </a:p>
          <a:p>
            <a:r>
              <a:rPr lang="en-US" dirty="0"/>
              <a:t>• Windows setup steps in </a:t>
            </a:r>
            <a:r>
              <a:rPr lang="en-US" dirty="0">
                <a:hlinkClick r:id="rId9"/>
              </a:rPr>
              <a:t>README.md</a:t>
            </a:r>
            <a:r>
              <a:rPr lang="en-US" dirty="0"/>
              <a:t>, a Dependabot fix, the deck redesign, slide wording.</a:t>
            </a:r>
            <a:endParaRPr lang="en-US" dirty="0"/>
          </a:p>
          <a:p>
            <a:r>
              <a:rPr lang="en-US" dirty="0"/>
              <a:t>• The design direction came from </a:t>
            </a:r>
            <a:r>
              <a:rPr lang="en-US" dirty="0">
                <a:hlinkClick r:id="rId10"/>
              </a:rPr>
              <a:t>jony-vibe</a:t>
            </a:r>
            <a:r>
              <a:rPr lang="en-US" dirty="0"/>
              <a:t>, my design-consultation agent; the first deck skipped that consultation and was redone.</a:t>
            </a:r>
            <a:endParaRPr lang="en-US" dirty="0"/>
          </a:p>
          <a:p>
            <a:r>
              <a:rPr lang="en-US" dirty="0"/>
              <a:t>• </a:t>
            </a:r>
            <a:r>
              <a:rPr lang="en-US" dirty="0">
                <a:hlinkClick r:id="rId11"/>
              </a:rPr>
              <a:t>c4po</a:t>
            </a:r>
            <a:r>
              <a:rPr lang="en-US" dirty="0"/>
              <a:t>, my workspace-admin agent, moved the deck's visual checks from Keynote to PowerPoint after Keynote passed a deck that PowerPoint had to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Domain (75): pure tests. No database, no I/O, no fakes. They call the business rules directly (money, accounts, transfers), so they are fast and deterministic.</a:t>
            </a:r>
            <a:endParaRPr lang="en-US" dirty="0"/>
          </a:p>
          <a:p>
            <a:endParaRPr lang="en-US" dirty="0"/>
          </a:p>
          <a:p>
            <a:r>
              <a:rPr lang="en-US" dirty="0"/>
              <a:t>• Application (33): use cases run against hand-written fakes for the store and the clock.</a:t>
            </a:r>
            <a:endParaRPr lang="en-US" dirty="0"/>
          </a:p>
          <a:p>
            <a:endParaRPr lang="en-US" dirty="0"/>
          </a:p>
          <a:p>
            <a:r>
              <a:rPr lang="en-US" dirty="0"/>
              <a:t>• Integration + HTTP (35): the real host, with an isolated SQLite file per test.</a:t>
            </a:r>
            <a:endParaRPr lang="en-US" dirty="0"/>
          </a:p>
          <a:p>
            <a:endParaRPr lang="en-US" dirty="0"/>
          </a:p>
          <a:p>
            <a:r>
              <a:rPr lang="en-US" dirty="0"/>
              <a:t>• Those cover concurrency conflicts, atomic rollback, Post/Redirect/Get, security, and accessibility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Omitted (out of scope in </a:t>
            </a:r>
            <a:r>
              <a:rPr lang="en-US" b="1" dirty="0">
                <a:hlinkClick r:id="rId3"/>
              </a:rPr>
              <a:t>SPEC.md</a:t>
            </a:r>
            <a:r>
              <a:rPr lang="en-US" b="1" dirty="0"/>
              <a:t>)</a:t>
            </a:r>
            <a:endParaRPr lang="en-US" dirty="0"/>
          </a:p>
          <a:p>
            <a:pPr marL="228600" lvl="0" indent="-228600">
              <a:buFont typeface="Arial"/>
              <a:buChar char="•"/>
            </a:pPr>
            <a:r>
              <a:rPr lang="en-US" dirty="0"/>
              <a:t>Identity</a:t>
            </a:r>
            <a:endParaRPr lang="en-US" dirty="0"/>
          </a:p>
          <a:p>
            <a:pPr marL="457200" lvl="1" indent="-228600">
              <a:buFont typeface="Arial"/>
              <a:buChar char="–"/>
            </a:pPr>
            <a:r>
              <a:rPr lang="en-US" dirty="0"/>
              <a:t>No login, card, PIN, or session; one local user</a:t>
            </a:r>
            <a:endParaRPr lang="en-US" dirty="0"/>
          </a:p>
          <a:p>
            <a:pPr marL="228600" lvl="0" indent="-228600">
              <a:buFont typeface="Arial"/>
              <a:buChar char="•"/>
            </a:pPr>
            <a:r>
              <a:rPr lang="en-US" dirty="0"/>
              <a:t>Banking breadth</a:t>
            </a:r>
            <a:endParaRPr lang="en-US" dirty="0"/>
          </a:p>
          <a:p>
            <a:pPr marL="457200" lvl="1" indent="-228600">
              <a:buFont typeface="Arial"/>
              <a:buChar char="–"/>
            </a:pPr>
            <a:r>
              <a:rPr lang="en-US" dirty="0"/>
              <a:t>No fees, interest, overdraft lines, scheduled payments, other currencies, or bank rails</a:t>
            </a:r>
            <a:endParaRPr lang="en-US" dirty="0"/>
          </a:p>
          <a:p>
            <a:pPr marL="228600" lvl="0" indent="-228600">
              <a:buFont typeface="Arial"/>
              <a:buChar char="•"/>
            </a:pPr>
            <a:r>
              <a:rPr lang="en-US" dirty="0"/>
              <a:t>Distributed operations</a:t>
            </a:r>
            <a:endParaRPr lang="en-US" dirty="0"/>
          </a:p>
          <a:p>
            <a:pPr marL="457200" lvl="1" indent="-228600">
              <a:buFont typeface="Arial"/>
              <a:buChar char="–"/>
            </a:pPr>
            <a:r>
              <a:rPr lang="en-US" dirty="0"/>
              <a:t>One process, one SQLite file</a:t>
            </a:r>
            <a:endParaRPr lang="en-US" dirty="0"/>
          </a:p>
          <a:p>
            <a:pPr marL="457200" lvl="1" indent="-228600">
              <a:buFont typeface="Arial"/>
              <a:buChar char="–"/>
            </a:pPr>
            <a:r>
              <a:rPr lang="en-US" dirty="0"/>
              <a:t>In a real bank, Domain and Application would become a backend service shared by every client (ATMs, mobile app, online banking, branch tellers)</a:t>
            </a:r>
            <a:endParaRPr lang="en-US" dirty="0"/>
          </a:p>
          <a:p>
            <a:pPr marL="457200" lvl="1" indent="-228600">
              <a:buFont typeface="Arial"/>
              <a:buChar char="–"/>
            </a:pPr>
            <a:r>
              <a:rPr lang="en-US" dirty="0"/>
              <a:t>Microservices only once separate teams need to deploy independently</a:t>
            </a:r>
            <a:endParaRPr lang="en-US" dirty="0"/>
          </a:p>
          <a:p>
            <a:endParaRPr lang="en-US" dirty="0"/>
          </a:p>
          <a:p>
            <a:r>
              <a:rPr lang="en-US" b="1" dirty="0"/>
              <a:t>Roadmap</a:t>
            </a:r>
            <a:endParaRPr lang="en-US" dirty="0"/>
          </a:p>
          <a:p>
            <a:pPr marL="228600" lvl="0" indent="-228600">
              <a:buFont typeface="Arial"/>
              <a:buChar char="•"/>
            </a:pPr>
            <a:r>
              <a:rPr lang="en-US" dirty="0"/>
              <a:t>Now</a:t>
            </a:r>
            <a:endParaRPr lang="en-US" dirty="0"/>
          </a:p>
          <a:p>
            <a:pPr marL="457200" lvl="1" indent="-228600">
              <a:buFont typeface="Arial"/>
              <a:buChar char="–"/>
            </a:pPr>
            <a:r>
              <a:rPr lang="en-US" dirty="0"/>
              <a:t>Idempotency keys: a retry after a lost response repeats the operation; Post/Redirect/Get and EF Core's concurrency token cannot catch it</a:t>
            </a:r>
            <a:endParaRPr lang="en-US" dirty="0"/>
          </a:p>
          <a:p>
            <a:pPr marL="457200" lvl="1" indent="-228600">
              <a:buFont typeface="Arial"/>
              <a:buChar char="–"/>
            </a:pPr>
            <a:r>
              <a:rPr lang="en-US" dirty="0"/>
              <a:t>Auditing: history exists; add who acted and from where</a:t>
            </a:r>
            <a:endParaRPr lang="en-US" dirty="0"/>
          </a:p>
          <a:p>
            <a:pPr marL="457200" lvl="1" indent="-228600">
              <a:buFont typeface="Arial"/>
              <a:buChar char="–"/>
            </a:pPr>
            <a:r>
              <a:rPr lang="en-US" dirty="0"/>
              <a:t>Authentication: prerequisite for multiple users and attributable audits</a:t>
            </a:r>
            <a:endParaRPr lang="en-US" dirty="0"/>
          </a:p>
          <a:p>
            <a:pPr marL="228600" lvl="0" indent="-228600">
              <a:buFont typeface="Arial"/>
              <a:buChar char="•"/>
            </a:pPr>
            <a:r>
              <a:rPr lang="en-US" dirty="0"/>
              <a:t>Next</a:t>
            </a:r>
            <a:endParaRPr lang="en-US" dirty="0"/>
          </a:p>
          <a:p>
            <a:pPr marL="457200" lvl="1" indent="-228600">
              <a:buFont typeface="Arial"/>
              <a:buChar char="–"/>
            </a:pPr>
            <a:r>
              <a:rPr lang="en-US" dirty="0"/>
              <a:t>Accessibility: screen-reader testing, axe or Lighthouse in CI</a:t>
            </a:r>
            <a:endParaRPr lang="en-US" dirty="0"/>
          </a:p>
          <a:p>
            <a:pPr marL="457200" lvl="1" indent="-228600">
              <a:buFont typeface="Arial"/>
              <a:buChar char="–"/>
            </a:pPr>
            <a:r>
              <a:rPr lang="en-US" dirty="0"/>
              <a:t>Observability: structured logs, metrics, traces</a:t>
            </a:r>
            <a:endParaRPr lang="en-US" dirty="0"/>
          </a:p>
          <a:p>
            <a:pPr marL="457200" lvl="1" indent="-228600">
              <a:buFont typeface="Arial"/>
              <a:buChar char="–"/>
            </a:pPr>
            <a:r>
              <a:rPr lang="en-US" dirty="0"/>
              <a:t>Load tests: find SQLite's single-writer ceiling</a:t>
            </a:r>
            <a:endParaRPr lang="en-US" dirty="0"/>
          </a:p>
          <a:p>
            <a:pPr marL="228600" lvl="0" indent="-228600">
              <a:buFont typeface="Arial"/>
              <a:buChar char="•"/>
            </a:pPr>
            <a:r>
              <a:rPr lang="en-US" dirty="0"/>
              <a:t>Later</a:t>
            </a:r>
            <a:endParaRPr lang="en-US" dirty="0"/>
          </a:p>
          <a:p>
            <a:pPr marL="457200" lvl="1" indent="-228600">
              <a:buFont typeface="Arial"/>
              <a:buChar char="–"/>
            </a:pPr>
            <a:r>
              <a:rPr lang="en-US" dirty="0"/>
              <a:t>Deployment: container, CI/CD, hosting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212"/>
        </a:solidFill>
      </p:bgPr>
    </p:bg>
    <p:spTree>
      <p:nvGrpSpPr>
        <p:cNvPr id="1" name=""/>
        <p:cNvGrpSpPr/>
        <p:nvPr/>
      </p:nvGrpSpPr>
      <p:grpSpPr>
        <a:xfrm>
          <a:off x="0" y="0"/>
          <a:ext cx="0" cy="0"/>
          <a:chOff x="0" y="0"/>
          <a:chExt cx="0" cy="0"/>
        </a:xfrm>
      </p:grpSpPr>
      <p:sp>
        <p:nvSpPr>
          <p:cNvPr id="2" name="Text 0"/>
          <p:cNvSpPr txBox="1"/>
          <p:nvPr/>
        </p:nvSpPr>
        <p:spPr>
          <a:xfrm>
            <a:off x="585216" y="457200"/>
            <a:ext cx="25603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CASE STUDY</a:t>
            </a:r>
            <a:endParaRPr lang="en-US" sz="1100" dirty="0"/>
          </a:p>
        </p:txBody>
      </p:sp>
      <p:sp>
        <p:nvSpPr>
          <p:cNvPr id="3" name="Text 1"/>
          <p:cNvSpPr txBox="1"/>
          <p:nvPr/>
        </p:nvSpPr>
        <p:spPr>
          <a:xfrm>
            <a:off x="585216" y="850392"/>
            <a:ext cx="2834640" cy="594360"/>
          </a:xfrm>
          <a:prstGeom prst="rect">
            <a:avLst/>
          </a:prstGeom>
          <a:noFill/>
          <a:ln/>
        </p:spPr>
        <p:txBody>
          <a:bodyPr wrap="square" lIns="0" tIns="0" rIns="0" bIns="0" rtlCol="0" anchor="t"/>
          <a:lstStyle/>
          <a:p>
            <a:pPr indent="0" marL="0">
              <a:buNone/>
            </a:pPr>
            <a:r>
              <a:rPr lang="en-US" sz="4700" b="1" dirty="0">
                <a:solidFill>
                  <a:srgbClr val="00F604"/>
                </a:solidFill>
                <a:latin typeface="Avenir Next" pitchFamily="34" charset="0"/>
                <a:ea typeface="Avenir Next" pitchFamily="34" charset="-122"/>
                <a:cs typeface="Avenir Next" pitchFamily="34" charset="-120"/>
              </a:rPr>
              <a:t>ATM</a:t>
            </a:r>
            <a:endParaRPr lang="en-US" sz="4700" dirty="0"/>
          </a:p>
        </p:txBody>
      </p:sp>
      <p:sp>
        <p:nvSpPr>
          <p:cNvPr id="4" name="Text 2"/>
          <p:cNvSpPr txBox="1"/>
          <p:nvPr/>
        </p:nvSpPr>
        <p:spPr>
          <a:xfrm>
            <a:off x="585216" y="1463040"/>
            <a:ext cx="3182112" cy="493776"/>
          </a:xfrm>
          <a:prstGeom prst="rect">
            <a:avLst/>
          </a:prstGeom>
          <a:noFill/>
          <a:ln/>
        </p:spPr>
        <p:txBody>
          <a:bodyPr wrap="square" lIns="0" tIns="0" rIns="0" bIns="0" rtlCol="0" anchor="t">
            <a:normAutofit/>
          </a:bodyPr>
          <a:lstStyle/>
          <a:p>
            <a:pPr indent="0" marL="0">
              <a:buNone/>
            </a:pPr>
            <a:r>
              <a:rPr lang="en-US" sz="2700" b="1" dirty="0">
                <a:solidFill>
                  <a:srgbClr val="F5F5F5"/>
                </a:solidFill>
                <a:latin typeface="Avenir Next" pitchFamily="34" charset="0"/>
                <a:ea typeface="Avenir Next" pitchFamily="34" charset="-122"/>
                <a:cs typeface="Avenir Next" pitchFamily="34" charset="-120"/>
              </a:rPr>
              <a:t>Coding Exercise</a:t>
            </a:r>
            <a:endParaRPr lang="en-US" sz="2700" dirty="0"/>
          </a:p>
        </p:txBody>
      </p:sp>
      <p:sp>
        <p:nvSpPr>
          <p:cNvPr id="5" name="Text 3"/>
          <p:cNvSpPr txBox="1"/>
          <p:nvPr/>
        </p:nvSpPr>
        <p:spPr>
          <a:xfrm>
            <a:off x="585216" y="2267712"/>
            <a:ext cx="2907792" cy="566928"/>
          </a:xfrm>
          <a:prstGeom prst="rect">
            <a:avLst/>
          </a:prstGeom>
          <a:noFill/>
          <a:ln/>
        </p:spPr>
        <p:txBody>
          <a:bodyPr wrap="square" lIns="0" tIns="0" rIns="0" bIns="0" rtlCol="0" anchor="t"/>
          <a:lstStyle/>
          <a:p>
            <a:pPr indent="0" marL="0">
              <a:buNone/>
            </a:pPr>
            <a:r>
              <a:rPr lang="en-US" sz="1500" dirty="0">
                <a:solidFill>
                  <a:srgbClr val="A9ADB3"/>
                </a:solidFill>
                <a:latin typeface="Avenir Next" pitchFamily="34" charset="0"/>
                <a:ea typeface="Avenir Next" pitchFamily="34" charset="-122"/>
                <a:cs typeface="Avenir Next" pitchFamily="34" charset="-120"/>
              </a:rPr>
              <a:t>Two accounts, persisted locally,</a:t>
            </a:r>
            <a:endParaRPr lang="en-US" sz="1500" dirty="0"/>
          </a:p>
          <a:p>
            <a:pPr indent="0" marL="0">
              <a:buNone/>
            </a:pPr>
            <a:r>
              <a:rPr lang="en-US" sz="1500" dirty="0">
                <a:solidFill>
                  <a:srgbClr val="A9ADB3"/>
                </a:solidFill>
                <a:latin typeface="Avenir Next" pitchFamily="34" charset="0"/>
                <a:ea typeface="Avenir Next" pitchFamily="34" charset="-122"/>
                <a:cs typeface="Avenir Next" pitchFamily="34" charset="-120"/>
              </a:rPr>
              <a:t>covered by 143 tests.</a:t>
            </a:r>
            <a:endParaRPr lang="en-US" sz="1500" dirty="0"/>
          </a:p>
        </p:txBody>
      </p:sp>
      <p:sp>
        <p:nvSpPr>
          <p:cNvPr id="6" name="Shape 4"/>
          <p:cNvSpPr/>
          <p:nvPr/>
        </p:nvSpPr>
        <p:spPr>
          <a:xfrm>
            <a:off x="3813048" y="457200"/>
            <a:ext cx="4745736" cy="3694176"/>
          </a:xfrm>
          <a:prstGeom prst="rect">
            <a:avLst/>
          </a:prstGeom>
          <a:solidFill>
            <a:srgbClr val="1B1B1B"/>
          </a:solidFill>
          <a:ln w="10160">
            <a:solidFill>
              <a:srgbClr val="333333"/>
            </a:solidFill>
            <a:prstDash val="solid"/>
          </a:ln>
        </p:spPr>
      </p:sp>
      <p:pic>
        <p:nvPicPr>
          <p:cNvPr id="7" name="Image 0" descr="/Users/john/theborg/repos/atm/design/screenshots/dashboard.png">    </p:cNvPr>
          <p:cNvPicPr>
            <a:picLocks noChangeAspect="1"/>
          </p:cNvPicPr>
          <p:nvPr/>
        </p:nvPicPr>
        <p:blipFill>
          <a:blip r:embed="rId1"/>
          <a:stretch>
            <a:fillRect/>
          </a:stretch>
        </p:blipFill>
        <p:spPr>
          <a:xfrm>
            <a:off x="3849624" y="493776"/>
            <a:ext cx="4672584" cy="3621024"/>
          </a:xfrm>
          <a:prstGeom prst="rect">
            <a:avLst/>
          </a:prstGeom>
        </p:spPr>
      </p:pic>
      <p:sp>
        <p:nvSpPr>
          <p:cNvPr id="8" name="Text 5"/>
          <p:cNvSpPr txBox="1"/>
          <p:nvPr/>
        </p:nvSpPr>
        <p:spPr>
          <a:xfrm>
            <a:off x="3813048" y="4279392"/>
            <a:ext cx="4745736" cy="210312"/>
          </a:xfrm>
          <a:prstGeom prst="rect">
            <a:avLst/>
          </a:prstGeom>
          <a:noFill/>
          <a:ln/>
        </p:spPr>
        <p:txBody>
          <a:bodyPr wrap="square" lIns="0" tIns="0" rIns="0" bIns="0" rtlCol="0" anchor="t"/>
          <a:lstStyle/>
          <a:p>
            <a:pPr indent="0" marL="0">
              <a:buNone/>
            </a:pPr>
            <a:r>
              <a:rPr lang="en-US" sz="1150" dirty="0">
                <a:solidFill>
                  <a:srgbClr val="00F604"/>
                </a:solidFill>
                <a:latin typeface="Avenir Next" pitchFamily="34" charset="0"/>
                <a:ea typeface="Avenir Next" pitchFamily="34" charset="-122"/>
                <a:cs typeface="Avenir Next" pitchFamily="34" charset="-120"/>
              </a:rPr>
              <a:t>Hint: try the Konami code.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Technology stack</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FRONTEND</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Razor Pages, vanilla JavaScript, CSS</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No client framework or packages</a:t>
            </a:r>
            <a:endParaRPr lang="en-US" sz="1250" dirty="0"/>
          </a:p>
        </p:txBody>
      </p:sp>
      <p:sp>
        <p:nvSpPr>
          <p:cNvPr id="8" name="Shape 5"/>
          <p:cNvSpPr/>
          <p:nvPr/>
        </p:nvSpPr>
        <p:spPr>
          <a:xfrm>
            <a:off x="585216" y="1993392"/>
            <a:ext cx="7973568" cy="0"/>
          </a:xfrm>
          <a:prstGeom prst="line">
            <a:avLst/>
          </a:prstGeom>
          <a:noFill/>
          <a:ln w="9525">
            <a:solidFill>
              <a:srgbClr val="333333"/>
            </a:solidFill>
            <a:prstDash val="solid"/>
          </a:ln>
        </p:spPr>
      </p:sp>
      <p:sp>
        <p:nvSpPr>
          <p:cNvPr id="9" name="Text 6"/>
          <p:cNvSpPr txBox="1"/>
          <p:nvPr/>
        </p:nvSpPr>
        <p:spPr>
          <a:xfrm>
            <a:off x="585216" y="22311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BACKEND</a:t>
            </a:r>
            <a:endParaRPr lang="en-US" sz="1100" dirty="0"/>
          </a:p>
        </p:txBody>
      </p:sp>
      <p:sp>
        <p:nvSpPr>
          <p:cNvPr id="10" name="Text 7"/>
          <p:cNvSpPr txBox="1"/>
          <p:nvPr/>
        </p:nvSpPr>
        <p:spPr>
          <a:xfrm>
            <a:off x="2468880" y="21762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C# 14 on .NET 10</a:t>
            </a:r>
            <a:endParaRPr lang="en-US" sz="2000" dirty="0"/>
          </a:p>
        </p:txBody>
      </p:sp>
      <p:sp>
        <p:nvSpPr>
          <p:cNvPr id="11" name="Text 8"/>
          <p:cNvSpPr txBox="1"/>
          <p:nvPr/>
        </p:nvSpPr>
        <p:spPr>
          <a:xfrm>
            <a:off x="2468880" y="25237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ASP.NET Core</a:t>
            </a:r>
            <a:endParaRPr lang="en-US" sz="1250" dirty="0"/>
          </a:p>
        </p:txBody>
      </p:sp>
      <p:sp>
        <p:nvSpPr>
          <p:cNvPr id="12" name="Shape 9"/>
          <p:cNvSpPr/>
          <p:nvPr/>
        </p:nvSpPr>
        <p:spPr>
          <a:xfrm>
            <a:off x="585216" y="2907792"/>
            <a:ext cx="7973568" cy="0"/>
          </a:xfrm>
          <a:prstGeom prst="line">
            <a:avLst/>
          </a:prstGeom>
          <a:noFill/>
          <a:ln w="9525">
            <a:solidFill>
              <a:srgbClr val="333333"/>
            </a:solidFill>
            <a:prstDash val="solid"/>
          </a:ln>
        </p:spPr>
      </p:sp>
      <p:sp>
        <p:nvSpPr>
          <p:cNvPr id="13" name="Text 10"/>
          <p:cNvSpPr txBox="1"/>
          <p:nvPr/>
        </p:nvSpPr>
        <p:spPr>
          <a:xfrm>
            <a:off x="585216" y="31455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DATABASE</a:t>
            </a:r>
            <a:endParaRPr lang="en-US" sz="1100" dirty="0"/>
          </a:p>
        </p:txBody>
      </p:sp>
      <p:sp>
        <p:nvSpPr>
          <p:cNvPr id="14" name="Text 11"/>
          <p:cNvSpPr txBox="1"/>
          <p:nvPr/>
        </p:nvSpPr>
        <p:spPr>
          <a:xfrm>
            <a:off x="2468880" y="30906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SQLite via EF Core 10</a:t>
            </a:r>
            <a:endParaRPr lang="en-US" sz="2000" dirty="0"/>
          </a:p>
        </p:txBody>
      </p:sp>
      <p:sp>
        <p:nvSpPr>
          <p:cNvPr id="15" name="Text 12"/>
          <p:cNvSpPr txBox="1"/>
          <p:nvPr/>
        </p:nvSpPr>
        <p:spPr>
          <a:xfrm>
            <a:off x="2468880" y="34381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Code-first migrations</a:t>
            </a:r>
            <a:endParaRPr lang="en-US" sz="1250" dirty="0"/>
          </a:p>
        </p:txBody>
      </p:sp>
      <p:sp>
        <p:nvSpPr>
          <p:cNvPr id="16" name="Shape 13"/>
          <p:cNvSpPr/>
          <p:nvPr/>
        </p:nvSpPr>
        <p:spPr>
          <a:xfrm>
            <a:off x="585216" y="3822192"/>
            <a:ext cx="7973568" cy="0"/>
          </a:xfrm>
          <a:prstGeom prst="line">
            <a:avLst/>
          </a:prstGeom>
          <a:noFill/>
          <a:ln w="9525">
            <a:solidFill>
              <a:srgbClr val="333333"/>
            </a:solidFill>
            <a:prstDash val="solid"/>
          </a:ln>
        </p:spPr>
      </p:sp>
      <p:sp>
        <p:nvSpPr>
          <p:cNvPr id="17" name="Text 14"/>
          <p:cNvSpPr txBox="1"/>
          <p:nvPr/>
        </p:nvSpPr>
        <p:spPr>
          <a:xfrm>
            <a:off x="585216" y="40599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TESTING</a:t>
            </a:r>
            <a:endParaRPr lang="en-US" sz="1100" dirty="0"/>
          </a:p>
        </p:txBody>
      </p:sp>
      <p:sp>
        <p:nvSpPr>
          <p:cNvPr id="18" name="Text 15"/>
          <p:cNvSpPr txBox="1"/>
          <p:nvPr/>
        </p:nvSpPr>
        <p:spPr>
          <a:xfrm>
            <a:off x="2468880" y="40050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xUnit, WebApplicationFactory, coverlet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Decisions and costs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85216" y="1161288"/>
          <a:ext cx="7973568" cy="3346704"/>
        </p:xfrm>
        <a:graphic>
          <a:graphicData uri="http://schemas.openxmlformats.org/drawingml/2006/table">
            <a:tbl>
              <a:tblPr/>
              <a:tblGrid>
                <a:gridCol w="3977640"/>
                <a:gridCol w="3995928"/>
              </a:tblGrid>
              <a:tr h="384048">
                <a:tc>
                  <a:txBody>
                    <a:bodyPr/>
                    <a:lstStyle/>
                    <a:p>
                      <a:pPr indent="0" marL="0">
                        <a:buNone/>
                      </a:pPr>
                      <a:r>
                        <a:rPr lang="en-US" sz="1250" b="1" dirty="0">
                          <a:solidFill>
                            <a:srgbClr val="00F604"/>
                          </a:solidFill>
                          <a:latin typeface="Avenir Next" pitchFamily="34" charset="0"/>
                          <a:ea typeface="Avenir Next" pitchFamily="34" charset="-122"/>
                          <a:cs typeface="Avenir Next" pitchFamily="34" charset="-120"/>
                        </a:rPr>
                        <a:t>DECISION</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COST</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Razor Pages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Full page reload per action</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Modular monolith</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One feature spans four projects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SQLite + EF Core</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Single-writer ceiling</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2-decimal USD</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Single-currency support</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Datastore choice</a:t>
            </a:r>
            <a:endParaRPr lang="en-US" sz="3200" dirty="0"/>
          </a:p>
        </p:txBody>
      </p:sp>
      <p:sp>
        <p:nvSpPr>
          <p:cNvPr id="5" name="Text 2"/>
          <p:cNvSpPr txBox="1"/>
          <p:nvPr/>
        </p:nvSpPr>
        <p:spPr>
          <a:xfrm>
            <a:off x="832104" y="896112"/>
            <a:ext cx="7726680" cy="237744"/>
          </a:xfrm>
          <a:prstGeom prst="rect">
            <a:avLst/>
          </a:prstGeom>
          <a:noFill/>
          <a:ln/>
        </p:spPr>
        <p:txBody>
          <a:bodyPr wrap="square" lIns="0" tIns="0" rIns="0" bIns="0" rtlCol="0" anchor="t"/>
          <a:lstStyle/>
          <a:p>
            <a:pPr indent="0" marL="0">
              <a:buNone/>
            </a:pPr>
            <a:r>
              <a:rPr lang="en-US" sz="1300" dirty="0">
                <a:solidFill>
                  <a:srgbClr val="A9ADB3"/>
                </a:solidFill>
                <a:latin typeface="Avenir Next" pitchFamily="34" charset="0"/>
                <a:ea typeface="Avenir Next" pitchFamily="34" charset="-122"/>
                <a:cs typeface="Avenir Next" pitchFamily="34" charset="-120"/>
              </a:rPr>
              <a:t>In-memory would suffice.</a:t>
            </a:r>
            <a:endParaRPr lang="en-US" sz="1300" dirty="0"/>
          </a:p>
        </p:txBody>
      </p:sp>
      <p:sp>
        <p:nvSpPr>
          <p:cNvPr id="6" name="Text 3"/>
          <p:cNvSpPr txBox="1"/>
          <p:nvPr/>
        </p:nvSpPr>
        <p:spPr>
          <a:xfrm>
            <a:off x="585216" y="1536192"/>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CHOSEN</a:t>
            </a:r>
            <a:endParaRPr lang="en-US" sz="1100" dirty="0"/>
          </a:p>
        </p:txBody>
      </p:sp>
      <p:sp>
        <p:nvSpPr>
          <p:cNvPr id="7" name="Text 4"/>
          <p:cNvSpPr txBox="1"/>
          <p:nvPr/>
        </p:nvSpPr>
        <p:spPr>
          <a:xfrm>
            <a:off x="2468880" y="148132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SQLite file</a:t>
            </a:r>
            <a:endParaRPr lang="en-US" sz="1900" dirty="0"/>
          </a:p>
        </p:txBody>
      </p:sp>
      <p:sp>
        <p:nvSpPr>
          <p:cNvPr id="8" name="Text 5"/>
          <p:cNvSpPr txBox="1"/>
          <p:nvPr/>
        </p:nvSpPr>
        <p:spPr>
          <a:xfrm>
            <a:off x="5577840" y="1517904"/>
            <a:ext cx="2980944" cy="292608"/>
          </a:xfrm>
          <a:prstGeom prst="rect">
            <a:avLst/>
          </a:prstGeom>
          <a:noFill/>
          <a:ln/>
        </p:spPr>
        <p:txBody>
          <a:bodyPr wrap="square" lIns="0" tIns="0" rIns="0" bIns="0" rtlCol="0" anchor="t">
            <a:normAutofit/>
          </a:bodyPr>
          <a:lstStyle/>
          <a:p>
            <a:pPr indent="0" marL="0">
              <a:buNone/>
            </a:pPr>
            <a:r>
              <a:rPr lang="en-US" sz="1500" dirty="0">
                <a:solidFill>
                  <a:srgbClr val="F5F5F5"/>
                </a:solidFill>
                <a:latin typeface="Avenir Next" pitchFamily="34" charset="0"/>
                <a:ea typeface="Avenir Next" pitchFamily="34" charset="-122"/>
                <a:cs typeface="Avenir Next" pitchFamily="34" charset="-120"/>
              </a:rPr>
              <a:t>Survives restarts</a:t>
            </a:r>
            <a:endParaRPr lang="en-US" sz="1500" dirty="0"/>
          </a:p>
        </p:txBody>
      </p:sp>
      <p:sp>
        <p:nvSpPr>
          <p:cNvPr id="9" name="Shape 6"/>
          <p:cNvSpPr/>
          <p:nvPr/>
        </p:nvSpPr>
        <p:spPr>
          <a:xfrm>
            <a:off x="585216" y="1965960"/>
            <a:ext cx="7973568" cy="0"/>
          </a:xfrm>
          <a:prstGeom prst="line">
            <a:avLst/>
          </a:prstGeom>
          <a:noFill/>
          <a:ln w="9525">
            <a:solidFill>
              <a:srgbClr val="333333"/>
            </a:solidFill>
            <a:prstDash val="solid"/>
          </a:ln>
        </p:spPr>
      </p:sp>
      <p:sp>
        <p:nvSpPr>
          <p:cNvPr id="10" name="Text 7"/>
          <p:cNvSpPr txBox="1"/>
          <p:nvPr/>
        </p:nvSpPr>
        <p:spPr>
          <a:xfrm>
            <a:off x="585216" y="2176272"/>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CONSIDERED</a:t>
            </a:r>
            <a:endParaRPr lang="en-US" sz="1100" dirty="0"/>
          </a:p>
        </p:txBody>
      </p:sp>
      <p:sp>
        <p:nvSpPr>
          <p:cNvPr id="11" name="Text 8"/>
          <p:cNvSpPr txBox="1"/>
          <p:nvPr/>
        </p:nvSpPr>
        <p:spPr>
          <a:xfrm>
            <a:off x="2468880" y="212140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SQLite in-memory</a:t>
            </a:r>
            <a:endParaRPr lang="en-US" sz="1900" dirty="0"/>
          </a:p>
        </p:txBody>
      </p:sp>
      <p:sp>
        <p:nvSpPr>
          <p:cNvPr id="12" name="Text 9"/>
          <p:cNvSpPr txBox="1"/>
          <p:nvPr/>
        </p:nvSpPr>
        <p:spPr>
          <a:xfrm>
            <a:off x="5577840" y="215798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Lost on restart</a:t>
            </a:r>
            <a:endParaRPr lang="en-US" sz="1500" dirty="0"/>
          </a:p>
        </p:txBody>
      </p:sp>
      <p:sp>
        <p:nvSpPr>
          <p:cNvPr id="13" name="Shape 10"/>
          <p:cNvSpPr/>
          <p:nvPr/>
        </p:nvSpPr>
        <p:spPr>
          <a:xfrm>
            <a:off x="585216" y="2606040"/>
            <a:ext cx="7973568" cy="0"/>
          </a:xfrm>
          <a:prstGeom prst="line">
            <a:avLst/>
          </a:prstGeom>
          <a:noFill/>
          <a:ln w="9525">
            <a:solidFill>
              <a:srgbClr val="333333"/>
            </a:solidFill>
            <a:prstDash val="solid"/>
          </a:ln>
        </p:spPr>
      </p:sp>
      <p:sp>
        <p:nvSpPr>
          <p:cNvPr id="14" name="Text 11"/>
          <p:cNvSpPr txBox="1"/>
          <p:nvPr/>
        </p:nvSpPr>
        <p:spPr>
          <a:xfrm>
            <a:off x="2468880" y="276148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Hand-written store</a:t>
            </a:r>
            <a:endParaRPr lang="en-US" sz="1900" dirty="0"/>
          </a:p>
        </p:txBody>
      </p:sp>
      <p:sp>
        <p:nvSpPr>
          <p:cNvPr id="15" name="Text 12"/>
          <p:cNvSpPr txBox="1"/>
          <p:nvPr/>
        </p:nvSpPr>
        <p:spPr>
          <a:xfrm>
            <a:off x="5577840" y="279806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Owns atomicity</a:t>
            </a:r>
            <a:endParaRPr lang="en-US" sz="1500" dirty="0"/>
          </a:p>
        </p:txBody>
      </p:sp>
      <p:sp>
        <p:nvSpPr>
          <p:cNvPr id="16" name="Shape 13"/>
          <p:cNvSpPr/>
          <p:nvPr/>
        </p:nvSpPr>
        <p:spPr>
          <a:xfrm>
            <a:off x="585216" y="3246120"/>
            <a:ext cx="7973568" cy="0"/>
          </a:xfrm>
          <a:prstGeom prst="line">
            <a:avLst/>
          </a:prstGeom>
          <a:noFill/>
          <a:ln w="9525">
            <a:solidFill>
              <a:srgbClr val="333333"/>
            </a:solidFill>
            <a:prstDash val="solid"/>
          </a:ln>
        </p:spPr>
      </p:sp>
      <p:sp>
        <p:nvSpPr>
          <p:cNvPr id="17" name="Text 14"/>
          <p:cNvSpPr txBox="1"/>
          <p:nvPr/>
        </p:nvSpPr>
        <p:spPr>
          <a:xfrm>
            <a:off x="2468880" y="340156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EF Core InMemory</a:t>
            </a:r>
            <a:endParaRPr lang="en-US" sz="1900" dirty="0"/>
          </a:p>
        </p:txBody>
      </p:sp>
      <p:sp>
        <p:nvSpPr>
          <p:cNvPr id="18" name="Text 15"/>
          <p:cNvSpPr txBox="1"/>
          <p:nvPr/>
        </p:nvSpPr>
        <p:spPr>
          <a:xfrm>
            <a:off x="5577840" y="343814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No transactions</a:t>
            </a:r>
            <a:endParaRPr lang="en-US" sz="1500" dirty="0"/>
          </a:p>
        </p:txBody>
      </p:sp>
      <p:sp>
        <p:nvSpPr>
          <p:cNvPr id="19" name="Shape 16"/>
          <p:cNvSpPr/>
          <p:nvPr/>
        </p:nvSpPr>
        <p:spPr>
          <a:xfrm>
            <a:off x="585216" y="3886200"/>
            <a:ext cx="7973568" cy="0"/>
          </a:xfrm>
          <a:prstGeom prst="line">
            <a:avLst/>
          </a:prstGeom>
          <a:noFill/>
          <a:ln w="9525">
            <a:solidFill>
              <a:srgbClr val="333333"/>
            </a:solidFill>
            <a:prstDash val="solid"/>
          </a:ln>
        </p:spPr>
      </p:sp>
      <p:sp>
        <p:nvSpPr>
          <p:cNvPr id="20" name="Text 17"/>
          <p:cNvSpPr txBox="1"/>
          <p:nvPr/>
        </p:nvSpPr>
        <p:spPr>
          <a:xfrm>
            <a:off x="2468880" y="404164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Redis</a:t>
            </a:r>
            <a:endParaRPr lang="en-US" sz="1900" dirty="0"/>
          </a:p>
        </p:txBody>
      </p:sp>
      <p:sp>
        <p:nvSpPr>
          <p:cNvPr id="21" name="Text 18"/>
          <p:cNvSpPr txBox="1"/>
          <p:nvPr/>
        </p:nvSpPr>
        <p:spPr>
          <a:xfrm>
            <a:off x="5577840" y="407822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Extra process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How I AI'ed</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FRAME</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GPT-5.6 Sol</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I approved spec, plan, ADRs</a:t>
            </a:r>
            <a:endParaRPr lang="en-US" sz="1250" dirty="0"/>
          </a:p>
        </p:txBody>
      </p:sp>
      <p:sp>
        <p:nvSpPr>
          <p:cNvPr id="8" name="Shape 5"/>
          <p:cNvSpPr/>
          <p:nvPr/>
        </p:nvSpPr>
        <p:spPr>
          <a:xfrm>
            <a:off x="585216" y="2066544"/>
            <a:ext cx="7973568" cy="0"/>
          </a:xfrm>
          <a:prstGeom prst="line">
            <a:avLst/>
          </a:prstGeom>
          <a:noFill/>
          <a:ln w="9525">
            <a:solidFill>
              <a:srgbClr val="333333"/>
            </a:solidFill>
            <a:prstDash val="solid"/>
          </a:ln>
        </p:spPr>
      </p:sp>
      <p:sp>
        <p:nvSpPr>
          <p:cNvPr id="9" name="Text 6"/>
          <p:cNvSpPr txBox="1"/>
          <p:nvPr/>
        </p:nvSpPr>
        <p:spPr>
          <a:xfrm>
            <a:off x="585216" y="232257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BUILD</a:t>
            </a:r>
            <a:endParaRPr lang="en-US" sz="1100" dirty="0"/>
          </a:p>
        </p:txBody>
      </p:sp>
      <p:sp>
        <p:nvSpPr>
          <p:cNvPr id="10" name="Text 7"/>
          <p:cNvSpPr txBox="1"/>
          <p:nvPr/>
        </p:nvSpPr>
        <p:spPr>
          <a:xfrm>
            <a:off x="2468880" y="226771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Fable 5.1</a:t>
            </a:r>
            <a:endParaRPr lang="en-US" sz="2000" dirty="0"/>
          </a:p>
        </p:txBody>
      </p:sp>
      <p:sp>
        <p:nvSpPr>
          <p:cNvPr id="11" name="Text 8"/>
          <p:cNvSpPr txBox="1"/>
          <p:nvPr/>
        </p:nvSpPr>
        <p:spPr>
          <a:xfrm>
            <a:off x="2468880" y="261518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Six phases, tests green per commit</a:t>
            </a:r>
            <a:endParaRPr lang="en-US" sz="1250" dirty="0"/>
          </a:p>
        </p:txBody>
      </p:sp>
      <p:sp>
        <p:nvSpPr>
          <p:cNvPr id="12" name="Text 9"/>
          <p:cNvSpPr txBox="1"/>
          <p:nvPr/>
        </p:nvSpPr>
        <p:spPr>
          <a:xfrm>
            <a:off x="2468880" y="2889504"/>
            <a:ext cx="6089904" cy="219456"/>
          </a:xfrm>
          <a:prstGeom prst="rect">
            <a:avLst/>
          </a:prstGeom>
          <a:noFill/>
          <a:ln/>
        </p:spPr>
        <p:txBody>
          <a:bodyPr wrap="square" lIns="0" tIns="0" rIns="0" bIns="0" rtlCol="0" anchor="t">
            <a:normAutofit/>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Chose to minimize rework over tokens</a:t>
            </a:r>
            <a:endParaRPr lang="en-US" sz="1250" dirty="0"/>
          </a:p>
        </p:txBody>
      </p:sp>
      <p:sp>
        <p:nvSpPr>
          <p:cNvPr id="13" name="Shape 10"/>
          <p:cNvSpPr/>
          <p:nvPr/>
        </p:nvSpPr>
        <p:spPr>
          <a:xfrm>
            <a:off x="585216" y="3255264"/>
            <a:ext cx="7973568" cy="0"/>
          </a:xfrm>
          <a:prstGeom prst="line">
            <a:avLst/>
          </a:prstGeom>
          <a:noFill/>
          <a:ln w="9525">
            <a:solidFill>
              <a:srgbClr val="333333"/>
            </a:solidFill>
            <a:prstDash val="solid"/>
          </a:ln>
        </p:spPr>
      </p:sp>
      <p:sp>
        <p:nvSpPr>
          <p:cNvPr id="14" name="Text 11"/>
          <p:cNvSpPr txBox="1"/>
          <p:nvPr/>
        </p:nvSpPr>
        <p:spPr>
          <a:xfrm>
            <a:off x="585216" y="351129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REFINE</a:t>
            </a:r>
            <a:endParaRPr lang="en-US" sz="1100" dirty="0"/>
          </a:p>
        </p:txBody>
      </p:sp>
      <p:sp>
        <p:nvSpPr>
          <p:cNvPr id="15" name="Text 12"/>
          <p:cNvSpPr txBox="1"/>
          <p:nvPr/>
        </p:nvSpPr>
        <p:spPr>
          <a:xfrm>
            <a:off x="2468880" y="345643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Opus 5.5, GPT-6 Sol</a:t>
            </a:r>
            <a:endParaRPr lang="en-US" sz="2000" dirty="0"/>
          </a:p>
        </p:txBody>
      </p:sp>
      <p:sp>
        <p:nvSpPr>
          <p:cNvPr id="16" name="Text 13"/>
          <p:cNvSpPr txBox="1"/>
          <p:nvPr/>
        </p:nvSpPr>
        <p:spPr>
          <a:xfrm>
            <a:off x="2468880" y="380390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Docs, deck, fixes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143 tests by layer</a:t>
            </a:r>
            <a:endParaRPr lang="en-US" sz="3200" dirty="0"/>
          </a:p>
        </p:txBody>
      </p:sp>
      <p:sp>
        <p:nvSpPr>
          <p:cNvPr id="5" name="Text 2"/>
          <p:cNvSpPr txBox="1"/>
          <p:nvPr/>
        </p:nvSpPr>
        <p:spPr>
          <a:xfrm>
            <a:off x="585216" y="1225296"/>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75</a:t>
            </a:r>
            <a:endParaRPr lang="en-US" sz="3400" dirty="0"/>
          </a:p>
        </p:txBody>
      </p:sp>
      <p:sp>
        <p:nvSpPr>
          <p:cNvPr id="6" name="Text 3"/>
          <p:cNvSpPr txBox="1"/>
          <p:nvPr/>
        </p:nvSpPr>
        <p:spPr>
          <a:xfrm>
            <a:off x="1508760" y="1243584"/>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Domain</a:t>
            </a:r>
            <a:endParaRPr lang="en-US" sz="1600" dirty="0"/>
          </a:p>
        </p:txBody>
      </p:sp>
      <p:sp>
        <p:nvSpPr>
          <p:cNvPr id="7" name="Text 4"/>
          <p:cNvSpPr txBox="1"/>
          <p:nvPr/>
        </p:nvSpPr>
        <p:spPr>
          <a:xfrm>
            <a:off x="1508760" y="1572768"/>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Business rules</a:t>
            </a:r>
            <a:endParaRPr lang="en-US" sz="1200" dirty="0"/>
          </a:p>
        </p:txBody>
      </p:sp>
      <p:sp>
        <p:nvSpPr>
          <p:cNvPr id="8" name="Text 5"/>
          <p:cNvSpPr txBox="1"/>
          <p:nvPr/>
        </p:nvSpPr>
        <p:spPr>
          <a:xfrm>
            <a:off x="585216" y="2203704"/>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33</a:t>
            </a:r>
            <a:endParaRPr lang="en-US" sz="3400" dirty="0"/>
          </a:p>
        </p:txBody>
      </p:sp>
      <p:sp>
        <p:nvSpPr>
          <p:cNvPr id="9" name="Text 6"/>
          <p:cNvSpPr txBox="1"/>
          <p:nvPr/>
        </p:nvSpPr>
        <p:spPr>
          <a:xfrm>
            <a:off x="1508760" y="2221992"/>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Application</a:t>
            </a:r>
            <a:endParaRPr lang="en-US" sz="1600" dirty="0"/>
          </a:p>
        </p:txBody>
      </p:sp>
      <p:sp>
        <p:nvSpPr>
          <p:cNvPr id="10" name="Text 7"/>
          <p:cNvSpPr txBox="1"/>
          <p:nvPr/>
        </p:nvSpPr>
        <p:spPr>
          <a:xfrm>
            <a:off x="1508760" y="2551176"/>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Orchestration</a:t>
            </a:r>
            <a:endParaRPr lang="en-US" sz="1200" dirty="0"/>
          </a:p>
        </p:txBody>
      </p:sp>
      <p:sp>
        <p:nvSpPr>
          <p:cNvPr id="11" name="Text 8"/>
          <p:cNvSpPr txBox="1"/>
          <p:nvPr/>
        </p:nvSpPr>
        <p:spPr>
          <a:xfrm>
            <a:off x="585216" y="3182112"/>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35</a:t>
            </a:r>
            <a:endParaRPr lang="en-US" sz="3400" dirty="0"/>
          </a:p>
        </p:txBody>
      </p:sp>
      <p:sp>
        <p:nvSpPr>
          <p:cNvPr id="12" name="Text 9"/>
          <p:cNvSpPr txBox="1"/>
          <p:nvPr/>
        </p:nvSpPr>
        <p:spPr>
          <a:xfrm>
            <a:off x="1508760" y="3200400"/>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Integration + HTTP</a:t>
            </a:r>
            <a:endParaRPr lang="en-US" sz="1600" dirty="0"/>
          </a:p>
        </p:txBody>
      </p:sp>
      <p:sp>
        <p:nvSpPr>
          <p:cNvPr id="13" name="Text 10"/>
          <p:cNvSpPr txBox="1"/>
          <p:nvPr/>
        </p:nvSpPr>
        <p:spPr>
          <a:xfrm>
            <a:off x="1508760" y="3529584"/>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Persistence and HTTP</a:t>
            </a:r>
            <a:endParaRPr lang="en-US" sz="1200" dirty="0"/>
          </a:p>
        </p:txBody>
      </p:sp>
      <p:sp>
        <p:nvSpPr>
          <p:cNvPr id="14" name="Shape 11"/>
          <p:cNvSpPr/>
          <p:nvPr/>
        </p:nvSpPr>
        <p:spPr>
          <a:xfrm>
            <a:off x="4800600" y="1115568"/>
            <a:ext cx="3758184" cy="2926080"/>
          </a:xfrm>
          <a:prstGeom prst="rect">
            <a:avLst/>
          </a:prstGeom>
          <a:solidFill>
            <a:srgbClr val="1B1B1B"/>
          </a:solidFill>
          <a:ln w="10160">
            <a:solidFill>
              <a:srgbClr val="333333"/>
            </a:solidFill>
            <a:prstDash val="solid"/>
          </a:ln>
        </p:spPr>
      </p:sp>
      <p:pic>
        <p:nvPicPr>
          <p:cNvPr id="15" name="Image 0" descr="/Users/john/theborg/repos/atm/design/screenshots/receipt.png">    </p:cNvPr>
          <p:cNvPicPr>
            <a:picLocks noChangeAspect="1"/>
          </p:cNvPicPr>
          <p:nvPr/>
        </p:nvPicPr>
        <p:blipFill>
          <a:blip r:embed="rId1"/>
          <a:stretch>
            <a:fillRect/>
          </a:stretch>
        </p:blipFill>
        <p:spPr>
          <a:xfrm>
            <a:off x="4837176" y="1152144"/>
            <a:ext cx="3685032" cy="2852928"/>
          </a:xfrm>
          <a:prstGeom prst="rect">
            <a:avLst/>
          </a:prstGeom>
        </p:spPr>
      </p:pic>
      <p:sp>
        <p:nvSpPr>
          <p:cNvPr id="16" name="Text 12"/>
          <p:cNvSpPr txBox="1"/>
          <p:nvPr/>
        </p:nvSpPr>
        <p:spPr>
          <a:xfrm>
            <a:off x="4800600" y="4187952"/>
            <a:ext cx="3758184" cy="219456"/>
          </a:xfrm>
          <a:prstGeom prst="rect">
            <a:avLst/>
          </a:prstGeom>
          <a:noFill/>
          <a:ln/>
        </p:spPr>
        <p:txBody>
          <a:bodyPr wrap="square" lIns="0" tIns="0" rIns="0" bIns="0" rtlCol="0" anchor="t"/>
          <a:lstStyle/>
          <a:p>
            <a:pPr algn="r" indent="0" marL="0">
              <a:buNone/>
            </a:pPr>
            <a:r>
              <a:rPr lang="en-US" sz="1200" dirty="0">
                <a:solidFill>
                  <a:srgbClr val="00F604"/>
                </a:solidFill>
                <a:latin typeface="Avenir Next" pitchFamily="34" charset="0"/>
                <a:ea typeface="Avenir Next" pitchFamily="34" charset="-122"/>
                <a:cs typeface="Avenir Next" pitchFamily="34" charset="-120"/>
              </a:rPr>
              <a:t>Deposit confirmed. Refreshing won’t repeat 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Roadmap</a:t>
            </a:r>
            <a:endParaRPr lang="en-US" sz="3200" dirty="0"/>
          </a:p>
        </p:txBody>
      </p:sp>
      <p:sp>
        <p:nvSpPr>
          <p:cNvPr id="5" name="Text 2"/>
          <p:cNvSpPr txBox="1"/>
          <p:nvPr/>
        </p:nvSpPr>
        <p:spPr>
          <a:xfrm>
            <a:off x="585216" y="1188720"/>
            <a:ext cx="224028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OMITTED</a:t>
            </a:r>
            <a:endParaRPr lang="en-US" sz="1100" dirty="0"/>
          </a:p>
        </p:txBody>
      </p:sp>
      <p:sp>
        <p:nvSpPr>
          <p:cNvPr id="6" name="Text 3"/>
          <p:cNvSpPr txBox="1"/>
          <p:nvPr/>
        </p:nvSpPr>
        <p:spPr>
          <a:xfrm>
            <a:off x="585216" y="1627632"/>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Identity</a:t>
            </a:r>
            <a:endParaRPr lang="en-US" sz="1900" dirty="0"/>
          </a:p>
        </p:txBody>
      </p:sp>
      <p:sp>
        <p:nvSpPr>
          <p:cNvPr id="7" name="Text 4"/>
          <p:cNvSpPr txBox="1"/>
          <p:nvPr/>
        </p:nvSpPr>
        <p:spPr>
          <a:xfrm>
            <a:off x="585216" y="2286000"/>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Banking breadth</a:t>
            </a:r>
            <a:endParaRPr lang="en-US" sz="1900" dirty="0"/>
          </a:p>
        </p:txBody>
      </p:sp>
      <p:sp>
        <p:nvSpPr>
          <p:cNvPr id="8" name="Text 5"/>
          <p:cNvSpPr txBox="1"/>
          <p:nvPr/>
        </p:nvSpPr>
        <p:spPr>
          <a:xfrm>
            <a:off x="585216" y="2944368"/>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Distributed operations</a:t>
            </a:r>
            <a:endParaRPr lang="en-US" sz="1900" dirty="0"/>
          </a:p>
        </p:txBody>
      </p:sp>
      <p:sp>
        <p:nvSpPr>
          <p:cNvPr id="9" name="Shape 6"/>
          <p:cNvSpPr/>
          <p:nvPr/>
        </p:nvSpPr>
        <p:spPr>
          <a:xfrm>
            <a:off x="3054096" y="1179576"/>
            <a:ext cx="0" cy="3054096"/>
          </a:xfrm>
          <a:prstGeom prst="line">
            <a:avLst/>
          </a:prstGeom>
          <a:noFill/>
          <a:ln w="12700">
            <a:solidFill>
              <a:srgbClr val="333333"/>
            </a:solidFill>
            <a:prstDash val="solid"/>
          </a:ln>
        </p:spPr>
      </p:sp>
      <p:sp>
        <p:nvSpPr>
          <p:cNvPr id="10" name="Text 7"/>
          <p:cNvSpPr txBox="1"/>
          <p:nvPr/>
        </p:nvSpPr>
        <p:spPr>
          <a:xfrm>
            <a:off x="3383280" y="1188720"/>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NOW</a:t>
            </a:r>
            <a:endParaRPr lang="en-US" sz="1100" dirty="0"/>
          </a:p>
        </p:txBody>
      </p:sp>
      <p:sp>
        <p:nvSpPr>
          <p:cNvPr id="11" name="Text 8"/>
          <p:cNvSpPr txBox="1"/>
          <p:nvPr/>
        </p:nvSpPr>
        <p:spPr>
          <a:xfrm>
            <a:off x="3383280" y="1536192"/>
            <a:ext cx="5175504"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Idempotency keys, auditing, authentication</a:t>
            </a:r>
            <a:endParaRPr lang="en-US" sz="1600" dirty="0"/>
          </a:p>
        </p:txBody>
      </p:sp>
      <p:sp>
        <p:nvSpPr>
          <p:cNvPr id="12" name="Text 9"/>
          <p:cNvSpPr txBox="1"/>
          <p:nvPr/>
        </p:nvSpPr>
        <p:spPr>
          <a:xfrm>
            <a:off x="3383280" y="2167128"/>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NEXT</a:t>
            </a:r>
            <a:endParaRPr lang="en-US" sz="1100" dirty="0"/>
          </a:p>
        </p:txBody>
      </p:sp>
      <p:sp>
        <p:nvSpPr>
          <p:cNvPr id="13" name="Text 10"/>
          <p:cNvSpPr txBox="1"/>
          <p:nvPr/>
        </p:nvSpPr>
        <p:spPr>
          <a:xfrm>
            <a:off x="3383280" y="2514600"/>
            <a:ext cx="5175504"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Accessibility, observability, load tests</a:t>
            </a:r>
            <a:endParaRPr lang="en-US" sz="1600" dirty="0"/>
          </a:p>
        </p:txBody>
      </p:sp>
      <p:sp>
        <p:nvSpPr>
          <p:cNvPr id="14" name="Text 11"/>
          <p:cNvSpPr txBox="1"/>
          <p:nvPr/>
        </p:nvSpPr>
        <p:spPr>
          <a:xfrm>
            <a:off x="3383280" y="3145536"/>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LATER</a:t>
            </a:r>
            <a:endParaRPr lang="en-US" sz="1100" dirty="0"/>
          </a:p>
        </p:txBody>
      </p:sp>
      <p:sp>
        <p:nvSpPr>
          <p:cNvPr id="15" name="Text 12"/>
          <p:cNvSpPr txBox="1"/>
          <p:nvPr/>
        </p:nvSpPr>
        <p:spPr>
          <a:xfrm>
            <a:off x="3383280" y="3493008"/>
            <a:ext cx="5175504"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Deployment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venir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ATM Coding Exercise</dc:title>
  <dc:subject>ATM coding exercise: architecture, correctness, and delivery</dc:subject>
  <dc:creator>John DiFini</dc:creator>
  <cp:lastModifiedBy>John DiFini</cp:lastModifiedBy>
  <cp:revision>1</cp:revision>
  <dcterms:created xsi:type="dcterms:W3CDTF">2026-09-27T03:37:43Z</dcterms:created>
  <dcterms:modified xsi:type="dcterms:W3CDTF">2026-09-27T03:37:43Z</dcterms:modified>
</cp:coreProperties>
</file>