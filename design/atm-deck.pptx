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777240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57200" y="228600"/>
            <a:ext cx="3429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6200" y="228600"/>
            <a:ext cx="3429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685800"/>
            <a:ext cx="6858000" cy="3857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57200" y="4800600"/>
            <a:ext cx="6858000" cy="448056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457200" y="9371013"/>
            <a:ext cx="3429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6200" y="9371013"/>
            <a:ext cx="3429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Relationship Id="rId3" Type="http://schemas.openxmlformats.org/officeDocument/2006/relationships/hyperlink" Target="https://github.com/johndifini/atm/blob/main/docs/adr/0002-modular-monolith.md" TargetMode="External"/>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Relationship Id="rId3" Type="http://schemas.openxmlformats.org/officeDocument/2006/relationships/hyperlink" Target="https://github.com/johndifini/atm/blob/main/docs/adr/0001-dotnet-razor-pages.md" TargetMode="External"/><Relationship Id="rId4" Type="http://schemas.openxmlformats.org/officeDocument/2006/relationships/hyperlink" Target="https://github.com/johndifini/atm/blob/main/docs/adr/0002-modular-monolith.md" TargetMode="External"/><Relationship Id="rId5" Type="http://schemas.openxmlformats.org/officeDocument/2006/relationships/hyperlink" Target="https://github.com/johndifini/atm/blob/main/docs/adr/0003-sqlite-ef-core.md" TargetMode="External"/><Relationship Id="rId6" Type="http://schemas.openxmlformats.org/officeDocument/2006/relationships/hyperlink" Target="https://github.com/johndifini/atm/blob/main/docs/adr/0005-money-transaction-semantics.md" TargetMode="External"/>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Relationship Id="rId3" Type="http://schemas.openxmlformats.org/officeDocument/2006/relationships/hyperlink" Target="https://github.com/johndifini/atm/blob/main/docs/adr/0003-sqlite-ef-core.md" TargetMode="External"/>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Relationship Id="rId3" Type="http://schemas.openxmlformats.org/officeDocument/2006/relationships/hyperlink" Target="https://github.com/johndifini/theborg/tree/main/architetto" TargetMode="External"/><Relationship Id="rId4" Type="http://schemas.openxmlformats.org/officeDocument/2006/relationships/hyperlink" Target="https://github.com/johndifini/atm/blob/main/SPEC.md" TargetMode="External"/><Relationship Id="rId5" Type="http://schemas.openxmlformats.org/officeDocument/2006/relationships/hyperlink" Target="https://github.com/johndifini/atm/blob/main/PLAN.md" TargetMode="External"/><Relationship Id="rId6" Type="http://schemas.openxmlformats.org/officeDocument/2006/relationships/hyperlink" Target="https://github.com/johndifini/atm/tree/main/docs/adr" TargetMode="External"/><Relationship Id="rId7" Type="http://schemas.openxmlformats.org/officeDocument/2006/relationships/hyperlink" Target="https://github.com/johndifini/atm/blob/main/AGENTS.md" TargetMode="External"/><Relationship Id="rId8" Type="http://schemas.openxmlformats.org/officeDocument/2006/relationships/hyperlink" Target="https://github.com/johndifini/atm/blob/main/AGENTS.md" TargetMode="External"/><Relationship Id="rId9" Type="http://schemas.openxmlformats.org/officeDocument/2006/relationships/hyperlink" Target="https://github.com/johndifini/atm/blob/main/README.md" TargetMode="External"/><Relationship Id="rId10" Type="http://schemas.openxmlformats.org/officeDocument/2006/relationships/hyperlink" Target="https://github.com/johndifini/theborg/tree/main/jony-vibe" TargetMode="External"/><Relationship Id="rId11" Type="http://schemas.openxmlformats.org/officeDocument/2006/relationships/hyperlink" Target="https://github.com/johndifini/theborg/tree/main/c4po" TargetMode="External"/>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Relationship Id="rId3" Type="http://schemas.openxmlformats.org/officeDocument/2006/relationships/hyperlink" Target="https://github.com/johndifini/atm/blob/main/SPEC.md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Runs against a scratch SQLite database.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intentionally narrow scope keeps the review on correctness, architectural boundaries, and evidence.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Konami code is up, up, down, down, left, right, left, right, B,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dependencies: no client-side framework or npm packages.</a:t>
            </a:r>
            <a:endParaRPr lang="en-US" dirty="0"/>
          </a:p>
          <a:p>
            <a:r>
              <a:rPr lang="en-US" dirty="0"/>
              <a:t>Pages are server-rendered Razor Pages with a small amount of vanilla JavaScript and one “hand-written” stylesheet.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solution is a modular monolith of four projects (Domain, Application, Infrastructure, Web) with dependencies pointing inward, recorded in </a:t>
            </a:r>
            <a:r>
              <a:rPr lang="en-US" dirty="0">
                <a:hlinkClick r:id="rId3"/>
              </a:rPr>
              <a:t>ADR-0002</a:t>
            </a:r>
            <a:r>
              <a:rPr lang="en-US" dirty="0"/>
              <a:t>.</a:t>
            </a:r>
            <a:endParaRPr lang="en-US" dirty="0"/>
          </a:p>
          <a:p>
            <a:r>
              <a:rPr lang="en-US" dirty="0"/>
              <a:t>EF Core and SQLite live only in the Infrastructure project.</a:t>
            </a:r>
            <a:endParaRPr lang="en-US" dirty="0"/>
          </a:p>
          <a:p>
            <a:endParaRPr lang="en-US" dirty="0"/>
          </a:p>
          <a:p>
            <a:r>
              <a:rPr lang="en-US" dirty="0"/>
              <a:t>Tests use xUnit, WebApplicationFactory for in-process HTTP, and coverlet for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Razor Pages (</a:t>
            </a:r>
            <a:r>
              <a:rPr lang="en-US" b="1" dirty="0">
                <a:hlinkClick r:id="rId3"/>
              </a:rPr>
              <a:t>ADR-0001</a:t>
            </a:r>
            <a:r>
              <a:rPr lang="en-US" b="1" dirty="0"/>
              <a:t>)</a:t>
            </a:r>
            <a:endParaRPr lang="en-US" dirty="0"/>
          </a:p>
          <a:p>
            <a:r>
              <a:rPr lang="en-US" b="1" dirty="0"/>
              <a:t>Cost</a:t>
            </a:r>
            <a:r>
              <a:rPr lang="en-US" dirty="0"/>
              <a:t>: a full page reload per action.</a:t>
            </a:r>
            <a:endParaRPr lang="en-US" dirty="0"/>
          </a:p>
          <a:p>
            <a:r>
              <a:rPr lang="en-US" dirty="0"/>
              <a:t>The server renders HTML with minimal JavaScript, so the whole app is written in C# and ships as a single unit. A separate JavaScript front end (e.g., a React single-page app) would add its own npm build and a JSON API for the browser to call, because the browser would fetch data instead of receiving finished pages.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Modular monolith (</a:t>
            </a:r>
            <a:r>
              <a:rPr lang="en-US" b="1" dirty="0">
                <a:hlinkClick r:id="rId4"/>
              </a:rPr>
              <a:t>ADR-0002</a:t>
            </a:r>
            <a:r>
              <a:rPr lang="en-US" b="1" dirty="0"/>
              <a:t>)</a:t>
            </a:r>
            <a:endParaRPr lang="en-US" dirty="0"/>
          </a:p>
          <a:p>
            <a:r>
              <a:rPr lang="en-US" b="1" dirty="0"/>
              <a:t>Cost</a:t>
            </a:r>
            <a:r>
              <a:rPr lang="en-US" dirty="0"/>
              <a:t>: one feature spans four projects, so adding a transaction type touches Domain, Application, Infrastructure, and Web.</a:t>
            </a:r>
            <a:endParaRPr lang="en-US" dirty="0"/>
          </a:p>
          <a:p>
            <a:r>
              <a:rPr lang="en-US" dirty="0"/>
              <a:t>The payoff is that business rules can be tested without the web host or the database. Microservices would add operational complexity with no payoff at this scope.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SQLite + EF Core (</a:t>
            </a:r>
            <a:r>
              <a:rPr lang="en-US" b="1" dirty="0">
                <a:hlinkClick r:id="rId5"/>
              </a:rPr>
              <a:t>ADR-0003</a:t>
            </a:r>
            <a:r>
              <a:rPr lang="en-US" b="1" dirty="0"/>
              <a:t>)</a:t>
            </a:r>
            <a:endParaRPr lang="en-US" dirty="0"/>
          </a:p>
          <a:p>
            <a:r>
              <a:rPr lang="en-US" b="1" dirty="0"/>
              <a:t>Cost</a:t>
            </a:r>
            <a:r>
              <a:rPr lang="en-US" dirty="0"/>
              <a:t>: single-writer ceiling.</a:t>
            </a:r>
            <a:endParaRPr lang="en-US" dirty="0"/>
          </a:p>
          <a:p>
            <a:r>
              <a:rPr lang="en-US" dirty="0"/>
              <a:t>A server database is the upgrade path if concurrent load ever matters. The next slide covers the datastore choice.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2-decimal USD (</a:t>
            </a:r>
            <a:r>
              <a:rPr lang="en-US" b="1" dirty="0">
                <a:hlinkClick r:id="rId6"/>
              </a:rPr>
              <a:t>ADR-0005</a:t>
            </a:r>
            <a:r>
              <a:rPr lang="en-US" b="1" dirty="0"/>
              <a:t>)</a:t>
            </a:r>
            <a:endParaRPr lang="en-US" dirty="0"/>
          </a:p>
          <a:p>
            <a:r>
              <a:rPr lang="en-US" b="1" dirty="0"/>
              <a:t>Cost</a:t>
            </a:r>
            <a:r>
              <a:rPr lang="en-US" dirty="0"/>
              <a:t>: single-currency support.</a:t>
            </a:r>
            <a:endParaRPr lang="en-US" dirty="0"/>
          </a:p>
          <a:p>
            <a:r>
              <a:rPr lang="en-US" dirty="0"/>
              <a:t>Amounts are decimal with at most two fractional digits, which rules out floating-point error. The two-digit rule fits USD but not many other currencies.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in-memory store would have been enough. I chose a persistent one so balances and history survive restarts (</a:t>
            </a:r>
            <a:r>
              <a:rPr lang="en-US" dirty="0">
                <a:hlinkClick r:id="rId3"/>
              </a:rPr>
              <a:t>ADR-0003</a:t>
            </a:r>
            <a:r>
              <a:rPr lang="en-US" dirty="0"/>
              <a:t>).</a:t>
            </a:r>
            <a:endParaRPr lang="en-US" dirty="0"/>
          </a:p>
          <a:p>
            <a:r>
              <a:rPr lang="en-US" dirty="0"/>
              <a:t>• SQLite – single-file DB with near-zero setup.</a:t>
            </a:r>
            <a:endParaRPr lang="en-US" dirty="0"/>
          </a:p>
          <a:p>
            <a:r>
              <a:rPr lang="en-US" dirty="0"/>
              <a:t>• EF Core – the ORM (the .NET counterpart to Hibernate).</a:t>
            </a:r>
            <a:endParaRPr lang="en-US" dirty="0"/>
          </a:p>
          <a:p>
            <a:r>
              <a:rPr lang="en-US" dirty="0"/>
              <a:t>   – Transactions: saves a transfer's debit, credit, and history rows in a single DB transaction, so they either commit or roll back as a unit.</a:t>
            </a:r>
            <a:endParaRPr lang="en-US" dirty="0"/>
          </a:p>
          <a:p>
            <a:r>
              <a:rPr lang="en-US" dirty="0"/>
              <a:t>   – Optimistic concurrency: rejects a write based on an outdated balance, e.g., two tabs withdrawing against the same $1,000 and overdrawing it. Doesn't lock account rows; assumes conflicts are rare.</a:t>
            </a:r>
            <a:endParaRPr lang="en-US" dirty="0"/>
          </a:p>
          <a:p>
            <a:endParaRPr lang="en-US" dirty="0"/>
          </a:p>
          <a:p>
            <a:r>
              <a:rPr lang="en-US" dirty="0"/>
              <a:t>Every option sits behind the same Application ports, so switching is an Infrastructure-only change.</a:t>
            </a:r>
            <a:endParaRPr lang="en-US" dirty="0"/>
          </a:p>
          <a:p>
            <a:r>
              <a:rPr lang="en-US" dirty="0"/>
              <a:t>• SQLite in-memory – an in-memory connection string with one connection held open. Keeps EF Core, migrations, transactions, and constraints, but data is lost on restart. The best in-memory choice, e.g., for a demo mode.</a:t>
            </a:r>
            <a:endParaRPr lang="en-US" dirty="0"/>
          </a:p>
          <a:p>
            <a:r>
              <a:rPr lang="en-US" dirty="0"/>
              <a:t>• Hand-written store – dictionaries behind a single lock. No dependencies, but the code itself must commit balance and history together instead of relying on a database transaction.</a:t>
            </a:r>
            <a:endParaRPr lang="en-US" dirty="0"/>
          </a:p>
          <a:p>
            <a:r>
              <a:rPr lang="en-US" dirty="0"/>
              <a:t>• EF Core InMemory provider – discouraged by Microsoft. It isn't relational, ignores transactions, and enforces no constraints, so it can't prove the invariants.</a:t>
            </a:r>
            <a:endParaRPr lang="en-US" dirty="0"/>
          </a:p>
          <a:p>
            <a:r>
              <a:rPr lang="en-US" dirty="0"/>
              <a:t>• Redis – a separate server process to install and run, and atomic transfers need MULTI/EXEC or Lua scripts. More operational machinery than this exercise needs, and still volatile unless its persistence is configured.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Ranked by how soon LLM mistakes surface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 model writes, runs, and fixes code; the sooner an error appears, the fewer turns it wastes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 fast-changing framework can confuse an LLM into mixing in a pattern from an older version; newer or niche frameworks, released after a model's training cutoff, are where it is weakest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ASP.NET Core</a:t>
            </a:r>
            <a:r>
              <a:rPr lang="en-US" dirty="0"/>
              <a:t> (chosen)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the compiler catches type and null errors before tests run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in-process HTTP tests run in seconds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less public code; outdated patterns (Startup.cs) linger in examples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Django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most public examples; stable API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no static types, so errors wait for a test to hit them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Spring Boot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huge corpus; static types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wiring errors appear at startup; tests start slowly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the javax-to-jakarta rename splits examples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Node.js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huge corpus; TypeScript types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no default stack; fastest-changing ecosystem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GPT-5.6 Sol in Codex with my architect agent</a:t>
            </a:r>
            <a:endParaRPr lang="en-US" dirty="0"/>
          </a:p>
          <a:p>
            <a:r>
              <a:rPr lang="en-US" dirty="0"/>
              <a:t>• </a:t>
            </a:r>
            <a:r>
              <a:rPr lang="en-US" dirty="0">
                <a:hlinkClick r:id="rId3"/>
              </a:rPr>
              <a:t>Architetto</a:t>
            </a:r>
            <a:r>
              <a:rPr lang="en-US" dirty="0"/>
              <a:t> is my open-source architect agent: it bootstraps new repositories and records every foundational decision.</a:t>
            </a:r>
            <a:endParaRPr lang="en-US" dirty="0"/>
          </a:p>
          <a:p>
            <a:r>
              <a:rPr lang="en-US" dirty="0"/>
              <a:t>• Interviewed me on four open questions: time box, persistence, seed accounts, repo visibility.</a:t>
            </a:r>
            <a:endParaRPr lang="en-US" dirty="0"/>
          </a:p>
          <a:p>
            <a:r>
              <a:rPr lang="en-US" dirty="0"/>
              <a:t>• The model proposed the stack; I approved it.</a:t>
            </a:r>
            <a:endParaRPr lang="en-US" dirty="0"/>
          </a:p>
          <a:p>
            <a:r>
              <a:rPr lang="en-US" dirty="0"/>
              <a:t>• Scaffolded before any feature code: </a:t>
            </a:r>
            <a:r>
              <a:rPr lang="en-US" dirty="0">
                <a:hlinkClick r:id="rId4"/>
              </a:rPr>
              <a:t>SPEC.md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PLAN.md</a:t>
            </a:r>
            <a:r>
              <a:rPr lang="en-US" dirty="0"/>
              <a:t>, six </a:t>
            </a:r>
            <a:r>
              <a:rPr lang="en-US" dirty="0">
                <a:hlinkClick r:id="rId6"/>
              </a:rPr>
              <a:t>ADRs</a:t>
            </a:r>
            <a:r>
              <a:rPr lang="en-US" dirty="0"/>
              <a:t>, </a:t>
            </a:r>
            <a:r>
              <a:rPr lang="en-US" dirty="0">
                <a:hlinkClick r:id="rId7"/>
              </a:rPr>
              <a:t>AGENTS.md</a:t>
            </a:r>
            <a:r>
              <a:rPr lang="en-US" dirty="0"/>
              <a:t>.</a:t>
            </a:r>
            <a:endParaRPr lang="en-US" dirty="0"/>
          </a:p>
          <a:p>
            <a:r>
              <a:rPr lang="en-US" dirty="0"/>
              <a:t>   – </a:t>
            </a:r>
            <a:r>
              <a:rPr lang="en-US" dirty="0">
                <a:hlinkClick r:id="rId8"/>
              </a:rPr>
              <a:t>AGENTS.md</a:t>
            </a:r>
            <a:r>
              <a:rPr lang="en-US" dirty="0"/>
              <a:t> lists the rules for this repo: money is decimal, balances never go negative, etc.</a:t>
            </a:r>
            <a:endParaRPr lang="en-US" dirty="0"/>
          </a:p>
          <a:p>
            <a:endParaRPr lang="en-US" dirty="0"/>
          </a:p>
          <a:p>
            <a:r>
              <a:rPr lang="en-US" dirty="0"/>
              <a:t>Build: Fable 5.1 in Claude Code</a:t>
            </a:r>
            <a:endParaRPr lang="en-US" dirty="0"/>
          </a:p>
          <a:p>
            <a:r>
              <a:rPr lang="en-US" dirty="0"/>
              <a:t>• Why Fable 5.1: I know the best approach is to plan with the strongest model and execute with cheaper ones, but when I reached the implementation phase, I was running short on time. Therefore, I chose the strongest end-to-end model at the time (a whopping week ago, before Opus 5.5 shipped).</a:t>
            </a:r>
            <a:endParaRPr lang="en-US" dirty="0"/>
          </a:p>
          <a:p>
            <a:r>
              <a:rPr lang="en-US" dirty="0"/>
              <a:t>• Six phases in order: domain, application, persistence, web, HTTP tests and accessibility, deck.</a:t>
            </a:r>
            <a:endParaRPr lang="en-US" dirty="0"/>
          </a:p>
          <a:p>
            <a:r>
              <a:rPr lang="en-US" dirty="0"/>
              <a:t>• Each phase committed only with the build and every test green; domain tests written first.</a:t>
            </a:r>
            <a:endParaRPr lang="en-US" dirty="0"/>
          </a:p>
          <a:p>
            <a:endParaRPr lang="en-US" dirty="0"/>
          </a:p>
          <a:p>
            <a:r>
              <a:rPr lang="en-US" dirty="0"/>
              <a:t>Refine: Opus 5.5 and GPT-6 Sol in Codex</a:t>
            </a:r>
            <a:endParaRPr lang="en-US" dirty="0"/>
          </a:p>
          <a:p>
            <a:r>
              <a:rPr lang="en-US" dirty="0"/>
              <a:t>• Windows setup steps in </a:t>
            </a:r>
            <a:r>
              <a:rPr lang="en-US" dirty="0">
                <a:hlinkClick r:id="rId9"/>
              </a:rPr>
              <a:t>README.md</a:t>
            </a:r>
            <a:r>
              <a:rPr lang="en-US" dirty="0"/>
              <a:t>, a Dependabot fix, the deck redesign, slide wording.</a:t>
            </a:r>
            <a:endParaRPr lang="en-US" dirty="0"/>
          </a:p>
          <a:p>
            <a:r>
              <a:rPr lang="en-US" dirty="0"/>
              <a:t>• The design direction came from </a:t>
            </a:r>
            <a:r>
              <a:rPr lang="en-US" dirty="0">
                <a:hlinkClick r:id="rId10"/>
              </a:rPr>
              <a:t>jony-vibe</a:t>
            </a:r>
            <a:r>
              <a:rPr lang="en-US" dirty="0"/>
              <a:t>, my design-consultation agent; the first deck skipped that consultation and was redone.</a:t>
            </a:r>
            <a:endParaRPr lang="en-US" dirty="0"/>
          </a:p>
          <a:p>
            <a:r>
              <a:rPr lang="en-US" dirty="0"/>
              <a:t>• </a:t>
            </a:r>
            <a:r>
              <a:rPr lang="en-US" dirty="0">
                <a:hlinkClick r:id="rId11"/>
              </a:rPr>
              <a:t>c4po</a:t>
            </a:r>
            <a:r>
              <a:rPr lang="en-US" dirty="0"/>
              <a:t>, my workspace-admin agent, moved the deck's visual checks from Keynote to PowerPoint after Keynote passed a deck that PowerPoint had to repair.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Omitted (out of scope in </a:t>
            </a:r>
            <a:r>
              <a:rPr lang="en-US" b="1" dirty="0">
                <a:hlinkClick r:id="rId3"/>
              </a:rPr>
              <a:t>SPEC.md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Identity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No login, card, PIN, or session; one local user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Banking breadth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No fees, interest, overdraft lines, scheduled payments, other currencies, or bank rails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Distributed operations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One process, one SQLite file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In a real bank, Domain and Application would become a backend service shared by every client (ATMs, mobile app, online banking, branch tellers)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Roadmap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Now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Idempotency keys: a retry after a lost response repeats the operation; Post/Redirect/Get and EF Core's concurrency token cannot catch it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Cross-model code review: Fable 5.1 wrote the implementation, so have a different model (GPT-6 Sol) review it; a second model does not share the author's blind spots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Authentication: prerequisite for multiple users and attributable audits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Next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Accessibility: screen-reader testing, axe or Lighthouse in CI</a:t>
            </a:r>
            <a:endParaRPr lang="en-US" dirty="0"/>
          </a:p>
          <a:p>
            <a:pPr marL="685800" lvl="2" indent="-228600">
              <a:buFont typeface="Arial"/>
              <a:buChar char="–"/>
            </a:pPr>
            <a:r>
              <a:rPr lang="en-US" dirty="0"/>
              <a:t>Known gap: with JavaScript on, Tab cannot reach the Withdraw and Transfer tabs (in BACKLOG.md)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Observability: structured logs, metrics, traces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Later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Deployment: container, CI/CD, hosting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5216" y="8503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ATM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1463040"/>
            <a:ext cx="3182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Coding Exercise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267712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accounts, persisted locally,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covered by 143 tests.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813048" y="457200"/>
            <a:ext cx="4745736" cy="3694176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6" name="Image 0" descr="/Users/john/theborg/repos/atm/design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9624" y="493776"/>
            <a:ext cx="4672584" cy="3621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813048" y="4279392"/>
            <a:ext cx="47457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Hint: try the Konami code.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167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FRONTEND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618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Razor Pages, vanilla JavaScript, CSS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6093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client framework or packages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5216" y="19933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22311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BACKEND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1762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C# 14 on .NET 10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5237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ASP.NET Core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216" y="29077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31455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30906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via EF Core 10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34381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Code-first migrations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85216" y="38221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" y="40599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40050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xUnit, WebApplicationFactory, coverlet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Decisions and costs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1161288"/>
          <a:ext cx="7973568" cy="3346704"/>
        </p:xfrm>
        <a:graphic>
          <a:graphicData uri="http://schemas.openxmlformats.org/drawingml/2006/table">
            <a:tbl>
              <a:tblPr/>
              <a:tblGrid>
                <a:gridCol w="3977640"/>
                <a:gridCol w="399592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F604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DECISION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7F0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COST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Razor Pages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Full page reload per action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Modular monolith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One feature spans four projects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SQLite + EF Core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Single-writer ceiling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2-decimal USD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Single-currency support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Datastore choice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32104" y="896112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In-memory would suffice.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153619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4813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file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151790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Survives restarts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85216" y="196596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21762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CONSIDERED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214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in-memory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215798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Lost on restart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85216" y="260604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68880" y="27614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Hand-written store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279806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Owns atomicity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85216" y="324612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68880" y="34015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EF Core InMemory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5577840" y="343814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transactions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85216" y="388620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68880" y="40416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Redis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5577840" y="407822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Extra process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Best framework for the model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533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98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ASP.NET Core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35024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Compile-time checks but fewer examples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85216" y="1755648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RUNNER-UP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9019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Django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1938528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examples but runtime-only errors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85216" y="235915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880" y="250545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Spring Boot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2542032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Typed but slow tests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85216" y="296265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468880" y="31089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Node.js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3145536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Popular but fast-changing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85216" y="3840480"/>
            <a:ext cx="7973568" cy="0"/>
          </a:xfrm>
          <a:prstGeom prst="line">
            <a:avLst/>
          </a:prstGeom>
          <a:noFill/>
          <a:ln w="9525">
            <a:solidFill>
              <a:srgbClr val="A9ADB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85216" y="40599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RANKED BY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40050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soon LLM mistakes surface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I AI'ed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167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FRAME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618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GPT-5.6 Sol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6093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 approved spec, plan, ADRs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5216" y="2066544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232257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26771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Fable 5.1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61518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Six phases, tests green per commit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288950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 to minimize rework over tokens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85216" y="3255264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5216" y="351129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REFINE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345643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Opus 5.5, GPT-6 Sol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2468880" y="380390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Docs, deck, fixes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Roadmap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1887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OMITTED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16276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Identity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Banking breadth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2944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Distributed operations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054096" y="1179576"/>
            <a:ext cx="0" cy="3054096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1536192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Idempotency keys, cross-model review, authentication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2167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514600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Accessibility, observability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145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3493008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Deployment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 Coding Exercise</dc:title>
  <dc:subject>ATM coding exercise: architecture, correctness, and delivery</dc:subject>
  <dc:creator>John DiFini</dc:creator>
  <cp:lastModifiedBy>John DiFini</cp:lastModifiedBy>
  <cp:revision>1</cp:revision>
  <dcterms:created xsi:type="dcterms:W3CDTF">2026-09-27T16:30:51Z</dcterms:created>
  <dcterms:modified xsi:type="dcterms:W3CDTF">2026-09-27T16:30:51Z</dcterms:modified>
</cp:coreProperties>
</file>