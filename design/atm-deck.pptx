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blob/main/docs/adr/0002-modular-monolith.md"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a:t>
            </a:r>
            <a:endParaRPr lang="en-US" dirty="0"/>
          </a:p>
          <a:p>
            <a:r>
              <a:rPr lang="en-US" dirty="0"/>
              <a:t>• SQLite – single-file DB with near-zero setup; balances survive restarts.</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r>
              <a:rPr lang="en-US" dirty="0"/>
              <a:t>A server database is the upgrade path if concurrent load ever matters.</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a real rejected overdraft. The typed value stays visible, the error names the available balance, and persisted state is unchanged. Account versions turn stale writes into a safe retry instead of lost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tests are pure. Application tests use hand-written fakes. Integration and HTTP tests exercise the real host with an isolated SQLite file per test, including concurrency conflicts, atomic rollback, Post/Redirect/Get, security, and accessibility structure. Commands: dotnet restore Atm.sln; dotnet build Atm.sln --no-restore; dotnet test Atm.sln --no-build.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omissions are conscious. The roadmap begins with the correctness gap that Post/Redirect/Get does not solve: a retried network request. The phone capture proves the existing presentation adapter already reflows at 380 pixels.</a:t>
            </a:r>
            <a:endParaRPr lang="en-US" dirty="0"/>
          </a:p>
          <a:p>
            <a:endParaRPr lang="en-US" dirty="0"/>
          </a:p>
          <a:p>
            <a:r>
              <a:rPr lang="en-US" dirty="0"/>
              <a:t>In a real bank, the Domain and Application layers would become a backend service behind an API that every channel (ATM, mobile, web, branch) shares, so the rules live in one place. This ATM would be one thin client. Splitting that backend into microservices becomes worthwhile once separate teams own accounts, transfers, and fraud and need to deploy independently. The inward dependencies here are what make that extraction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Failure leaves no partial state</a:t>
            </a:r>
            <a:endParaRPr lang="en-US" sz="3200" dirty="0"/>
          </a:p>
        </p:txBody>
      </p:sp>
      <p:sp>
        <p:nvSpPr>
          <p:cNvPr id="5" name="Text 2"/>
          <p:cNvSpPr txBox="1"/>
          <p:nvPr/>
        </p:nvSpPr>
        <p:spPr>
          <a:xfrm>
            <a:off x="585216" y="130759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01</a:t>
            </a:r>
            <a:endParaRPr lang="en-US" sz="1300" dirty="0"/>
          </a:p>
        </p:txBody>
      </p:sp>
      <p:sp>
        <p:nvSpPr>
          <p:cNvPr id="6" name="Text 3"/>
          <p:cNvSpPr txBox="1"/>
          <p:nvPr/>
        </p:nvSpPr>
        <p:spPr>
          <a:xfrm>
            <a:off x="1115568" y="126187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Validate before mutation</a:t>
            </a:r>
            <a:endParaRPr lang="en-US" sz="2000" dirty="0"/>
          </a:p>
        </p:txBody>
      </p:sp>
      <p:sp>
        <p:nvSpPr>
          <p:cNvPr id="7" name="Text 4"/>
          <p:cNvSpPr txBox="1"/>
          <p:nvPr/>
        </p:nvSpPr>
        <p:spPr>
          <a:xfrm>
            <a:off x="585216" y="231343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02</a:t>
            </a:r>
            <a:endParaRPr lang="en-US" sz="1300" dirty="0"/>
          </a:p>
        </p:txBody>
      </p:sp>
      <p:sp>
        <p:nvSpPr>
          <p:cNvPr id="8" name="Text 5"/>
          <p:cNvSpPr txBox="1"/>
          <p:nvPr/>
        </p:nvSpPr>
        <p:spPr>
          <a:xfrm>
            <a:off x="1115568" y="226771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Commit balance and history together</a:t>
            </a:r>
            <a:endParaRPr lang="en-US" sz="2000" dirty="0"/>
          </a:p>
        </p:txBody>
      </p:sp>
      <p:sp>
        <p:nvSpPr>
          <p:cNvPr id="9" name="Text 6"/>
          <p:cNvSpPr txBox="1"/>
          <p:nvPr/>
        </p:nvSpPr>
        <p:spPr>
          <a:xfrm>
            <a:off x="585216" y="331927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03</a:t>
            </a:r>
            <a:endParaRPr lang="en-US" sz="1300" dirty="0"/>
          </a:p>
        </p:txBody>
      </p:sp>
      <p:sp>
        <p:nvSpPr>
          <p:cNvPr id="10" name="Text 7"/>
          <p:cNvSpPr txBox="1"/>
          <p:nvPr/>
        </p:nvSpPr>
        <p:spPr>
          <a:xfrm>
            <a:off x="1115568" y="327355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Reject stale writes</a:t>
            </a:r>
            <a:endParaRPr lang="en-US" sz="2000" dirty="0"/>
          </a:p>
        </p:txBody>
      </p:sp>
      <p:sp>
        <p:nvSpPr>
          <p:cNvPr id="11" name="Shape 8"/>
          <p:cNvSpPr/>
          <p:nvPr/>
        </p:nvSpPr>
        <p:spPr>
          <a:xfrm>
            <a:off x="4233672" y="1133856"/>
            <a:ext cx="4325112" cy="3282696"/>
          </a:xfrm>
          <a:prstGeom prst="rect">
            <a:avLst/>
          </a:prstGeom>
          <a:solidFill>
            <a:srgbClr val="1B1B1B"/>
          </a:solidFill>
          <a:ln w="10160">
            <a:solidFill>
              <a:srgbClr val="333333"/>
            </a:solidFill>
            <a:prstDash val="solid"/>
          </a:ln>
        </p:spPr>
      </p:sp>
      <p:pic>
        <p:nvPicPr>
          <p:cNvPr id="12" name="Image 0" descr="/Users/john/theborg/repos/atm/design/screenshots/overdraft.png">    </p:cNvPr>
          <p:cNvPicPr>
            <a:picLocks noChangeAspect="1"/>
          </p:cNvPicPr>
          <p:nvPr/>
        </p:nvPicPr>
        <p:blipFill>
          <a:blip r:embed="rId1"/>
          <a:stretch>
            <a:fillRect/>
          </a:stretch>
        </p:blipFill>
        <p:spPr>
          <a:xfrm>
            <a:off x="4270248" y="1170432"/>
            <a:ext cx="4251960" cy="3209544"/>
          </a:xfrm>
          <a:prstGeom prst="rect">
            <a:avLst/>
          </a:prstGeom>
        </p:spPr>
      </p:pic>
      <p:sp>
        <p:nvSpPr>
          <p:cNvPr id="13" name="Text 9"/>
          <p:cNvSpPr txBox="1"/>
          <p:nvPr/>
        </p:nvSpPr>
        <p:spPr>
          <a:xfrm>
            <a:off x="4233672" y="4489704"/>
            <a:ext cx="4325112" cy="201168"/>
          </a:xfrm>
          <a:prstGeom prst="rect">
            <a:avLst/>
          </a:prstGeom>
          <a:noFill/>
          <a:ln/>
        </p:spPr>
        <p:txBody>
          <a:bodyPr wrap="square" lIns="0" tIns="0" rIns="0" bIns="0" rtlCol="0" anchor="t">
            <a:normAutofit/>
          </a:bodyPr>
          <a:lstStyle/>
          <a:p>
            <a:pPr algn="r" indent="0" marL="0">
              <a:buNone/>
            </a:pPr>
            <a:r>
              <a:rPr lang="en-US" sz="1150" b="1" dirty="0">
                <a:solidFill>
                  <a:srgbClr val="00F604"/>
                </a:solidFill>
                <a:latin typeface="Avenir Next" pitchFamily="34" charset="0"/>
                <a:ea typeface="Avenir Next" pitchFamily="34" charset="-122"/>
                <a:cs typeface="Avenir Next" pitchFamily="34" charset="-120"/>
              </a:rPr>
              <a:t>Rejected overdraft. Persisted state stays unchanged.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143 tests by layer</a:t>
            </a:r>
            <a:endParaRPr lang="en-US" sz="3200" dirty="0"/>
          </a:p>
        </p:txBody>
      </p:sp>
      <p:sp>
        <p:nvSpPr>
          <p:cNvPr id="5" name="Text 2"/>
          <p:cNvSpPr txBox="1"/>
          <p:nvPr/>
        </p:nvSpPr>
        <p:spPr>
          <a:xfrm>
            <a:off x="585216" y="1225296"/>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75</a:t>
            </a:r>
            <a:endParaRPr lang="en-US" sz="3400" dirty="0"/>
          </a:p>
        </p:txBody>
      </p:sp>
      <p:sp>
        <p:nvSpPr>
          <p:cNvPr id="6" name="Text 3"/>
          <p:cNvSpPr txBox="1"/>
          <p:nvPr/>
        </p:nvSpPr>
        <p:spPr>
          <a:xfrm>
            <a:off x="1508760" y="1243584"/>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Domain</a:t>
            </a:r>
            <a:endParaRPr lang="en-US" sz="1600" dirty="0"/>
          </a:p>
        </p:txBody>
      </p:sp>
      <p:sp>
        <p:nvSpPr>
          <p:cNvPr id="7" name="Text 4"/>
          <p:cNvSpPr txBox="1"/>
          <p:nvPr/>
        </p:nvSpPr>
        <p:spPr>
          <a:xfrm>
            <a:off x="1508760" y="1572768"/>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Invariants</a:t>
            </a:r>
            <a:endParaRPr lang="en-US" sz="1200" dirty="0"/>
          </a:p>
        </p:txBody>
      </p:sp>
      <p:sp>
        <p:nvSpPr>
          <p:cNvPr id="8" name="Text 5"/>
          <p:cNvSpPr txBox="1"/>
          <p:nvPr/>
        </p:nvSpPr>
        <p:spPr>
          <a:xfrm>
            <a:off x="585216" y="2203704"/>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33</a:t>
            </a:r>
            <a:endParaRPr lang="en-US" sz="3400" dirty="0"/>
          </a:p>
        </p:txBody>
      </p:sp>
      <p:sp>
        <p:nvSpPr>
          <p:cNvPr id="9" name="Text 6"/>
          <p:cNvSpPr txBox="1"/>
          <p:nvPr/>
        </p:nvSpPr>
        <p:spPr>
          <a:xfrm>
            <a:off x="1508760" y="2221992"/>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Application</a:t>
            </a:r>
            <a:endParaRPr lang="en-US" sz="1600" dirty="0"/>
          </a:p>
        </p:txBody>
      </p:sp>
      <p:sp>
        <p:nvSpPr>
          <p:cNvPr id="10" name="Text 7"/>
          <p:cNvSpPr txBox="1"/>
          <p:nvPr/>
        </p:nvSpPr>
        <p:spPr>
          <a:xfrm>
            <a:off x="1508760" y="2551176"/>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Orchestration</a:t>
            </a:r>
            <a:endParaRPr lang="en-US" sz="1200" dirty="0"/>
          </a:p>
        </p:txBody>
      </p:sp>
      <p:sp>
        <p:nvSpPr>
          <p:cNvPr id="11" name="Text 8"/>
          <p:cNvSpPr txBox="1"/>
          <p:nvPr/>
        </p:nvSpPr>
        <p:spPr>
          <a:xfrm>
            <a:off x="585216" y="3182112"/>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35</a:t>
            </a:r>
            <a:endParaRPr lang="en-US" sz="3400" dirty="0"/>
          </a:p>
        </p:txBody>
      </p:sp>
      <p:sp>
        <p:nvSpPr>
          <p:cNvPr id="12" name="Text 9"/>
          <p:cNvSpPr txBox="1"/>
          <p:nvPr/>
        </p:nvSpPr>
        <p:spPr>
          <a:xfrm>
            <a:off x="1508760" y="3200400"/>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Integration + HTTP</a:t>
            </a:r>
            <a:endParaRPr lang="en-US" sz="1600" dirty="0"/>
          </a:p>
        </p:txBody>
      </p:sp>
      <p:sp>
        <p:nvSpPr>
          <p:cNvPr id="13" name="Text 10"/>
          <p:cNvSpPr txBox="1"/>
          <p:nvPr/>
        </p:nvSpPr>
        <p:spPr>
          <a:xfrm>
            <a:off x="1508760" y="3529584"/>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Persistence and HTTP</a:t>
            </a:r>
            <a:endParaRPr lang="en-US" sz="1200" dirty="0"/>
          </a:p>
        </p:txBody>
      </p:sp>
      <p:sp>
        <p:nvSpPr>
          <p:cNvPr id="14" name="Shape 11"/>
          <p:cNvSpPr/>
          <p:nvPr/>
        </p:nvSpPr>
        <p:spPr>
          <a:xfrm>
            <a:off x="4800600" y="1115568"/>
            <a:ext cx="3758184" cy="2926080"/>
          </a:xfrm>
          <a:prstGeom prst="rect">
            <a:avLst/>
          </a:prstGeom>
          <a:solidFill>
            <a:srgbClr val="1B1B1B"/>
          </a:solidFill>
          <a:ln w="10160">
            <a:solidFill>
              <a:srgbClr val="333333"/>
            </a:solidFill>
            <a:prstDash val="solid"/>
          </a:ln>
        </p:spPr>
      </p:sp>
      <p:pic>
        <p:nvPicPr>
          <p:cNvPr id="15" name="Image 0" descr="/Users/john/theborg/repos/atm/design/screenshots/receipt.png">    </p:cNvPr>
          <p:cNvPicPr>
            <a:picLocks noChangeAspect="1"/>
          </p:cNvPicPr>
          <p:nvPr/>
        </p:nvPicPr>
        <p:blipFill>
          <a:blip r:embed="rId1"/>
          <a:stretch>
            <a:fillRect/>
          </a:stretch>
        </p:blipFill>
        <p:spPr>
          <a:xfrm>
            <a:off x="4837176" y="1152144"/>
            <a:ext cx="3685032" cy="2852928"/>
          </a:xfrm>
          <a:prstGeom prst="rect">
            <a:avLst/>
          </a:prstGeom>
        </p:spPr>
      </p:pic>
      <p:sp>
        <p:nvSpPr>
          <p:cNvPr id="16" name="Text 12"/>
          <p:cNvSpPr txBox="1"/>
          <p:nvPr/>
        </p:nvSpPr>
        <p:spPr>
          <a:xfrm>
            <a:off x="4800600" y="4187952"/>
            <a:ext cx="3758184" cy="219456"/>
          </a:xfrm>
          <a:prstGeom prst="rect">
            <a:avLst/>
          </a:prstGeom>
          <a:noFill/>
          <a:ln/>
        </p:spPr>
        <p:txBody>
          <a:bodyPr wrap="square" lIns="0" tIns="0" rIns="0" bIns="0" rtlCol="0" anchor="t"/>
          <a:lstStyle/>
          <a:p>
            <a:pPr algn="r" indent="0" marL="0">
              <a:buNone/>
            </a:pPr>
            <a:r>
              <a:rPr lang="en-US" sz="1200" dirty="0">
                <a:solidFill>
                  <a:srgbClr val="00F604"/>
                </a:solidFill>
                <a:latin typeface="Avenir Next" pitchFamily="34" charset="0"/>
                <a:ea typeface="Avenir Next" pitchFamily="34" charset="-122"/>
                <a:cs typeface="Avenir Next" pitchFamily="34" charset="-120"/>
              </a:rPr>
              <a:t>Success receipt after Post/Redirect/Get.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Tradeoffs and 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1" name="Text 8"/>
          <p:cNvSpPr txBox="1"/>
          <p:nvPr/>
        </p:nvSpPr>
        <p:spPr>
          <a:xfrm>
            <a:off x="3383280" y="1536192"/>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Double-submit protection, auditing,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THEN</a:t>
            </a:r>
            <a:endParaRPr lang="en-US" sz="1100" dirty="0"/>
          </a:p>
        </p:txBody>
      </p:sp>
      <p:sp>
        <p:nvSpPr>
          <p:cNvPr id="13" name="Text 10"/>
          <p:cNvSpPr txBox="1"/>
          <p:nvPr/>
        </p:nvSpPr>
        <p:spPr>
          <a:xfrm>
            <a:off x="3383280" y="2514600"/>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 load tests</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 browser coverage</a:t>
            </a:r>
            <a:endParaRPr lang="en-US" sz="1600" dirty="0"/>
          </a:p>
        </p:txBody>
      </p:sp>
      <p:sp>
        <p:nvSpPr>
          <p:cNvPr id="16" name="Shape 13"/>
          <p:cNvSpPr/>
          <p:nvPr/>
        </p:nvSpPr>
        <p:spPr>
          <a:xfrm>
            <a:off x="6986016" y="1078992"/>
            <a:ext cx="1005840" cy="3310128"/>
          </a:xfrm>
          <a:prstGeom prst="rect">
            <a:avLst/>
          </a:prstGeom>
          <a:solidFill>
            <a:srgbClr val="1B1B1B"/>
          </a:solidFill>
          <a:ln w="10160">
            <a:solidFill>
              <a:srgbClr val="333333"/>
            </a:solidFill>
            <a:prstDash val="solid"/>
          </a:ln>
        </p:spPr>
      </p:sp>
      <p:pic>
        <p:nvPicPr>
          <p:cNvPr id="17" name="Image 0" descr="/Users/john/theborg/repos/atm/design/screenshots/phone.png">    </p:cNvPr>
          <p:cNvPicPr>
            <a:picLocks noChangeAspect="1"/>
          </p:cNvPicPr>
          <p:nvPr/>
        </p:nvPicPr>
        <p:blipFill>
          <a:blip r:embed="rId1"/>
          <a:stretch>
            <a:fillRect/>
          </a:stretch>
        </p:blipFill>
        <p:spPr>
          <a:xfrm>
            <a:off x="7022592" y="1115568"/>
            <a:ext cx="932688" cy="3236976"/>
          </a:xfrm>
          <a:prstGeom prst="rect">
            <a:avLst/>
          </a:prstGeom>
        </p:spPr>
      </p:pic>
      <p:sp>
        <p:nvSpPr>
          <p:cNvPr id="18" name="Text 14"/>
          <p:cNvSpPr txBox="1"/>
          <p:nvPr/>
        </p:nvSpPr>
        <p:spPr>
          <a:xfrm>
            <a:off x="6309360" y="4489704"/>
            <a:ext cx="2359152" cy="164592"/>
          </a:xfrm>
          <a:prstGeom prst="rect">
            <a:avLst/>
          </a:prstGeom>
          <a:noFill/>
          <a:ln/>
        </p:spPr>
        <p:txBody>
          <a:bodyPr wrap="square" lIns="0" tIns="0" rIns="0" bIns="0" rtlCol="0" anchor="t">
            <a:normAutofit/>
          </a:bodyPr>
          <a:lstStyle/>
          <a:p>
            <a:pPr algn="ctr" indent="0" marL="0">
              <a:buNone/>
            </a:pPr>
            <a:r>
              <a:rPr lang="en-US" sz="1050" dirty="0">
                <a:solidFill>
                  <a:srgbClr val="00F604"/>
                </a:solidFill>
                <a:latin typeface="Avenir Next" pitchFamily="34" charset="0"/>
                <a:ea typeface="Avenir Next" pitchFamily="34" charset="-122"/>
                <a:cs typeface="Avenir Next" pitchFamily="34" charset="-120"/>
              </a:rPr>
              <a:t>Responsive at 380 px.</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2026-09-26T22:16:56Z</dcterms:created>
  <dcterms:modified xsi:type="dcterms:W3CDTF">2026-09-26T22:16:56Z</dcterms:modified>
</cp:coreProperties>
</file>