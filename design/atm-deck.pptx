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Lst>
  <p:sldSz cy="5143500" cx="9144000"/>
  <p:notesSz cx="7772400" cy="100584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4" roundtripDataSignature="AMtx7mhPgy4XkL5rqpldgFi9i1lBZzP68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B7318C8-4767-44D0-9B3B-6969AC79C222}">
  <a:tblStyle styleId="{0B7318C8-4767-44D0-9B3B-6969AC79C222}"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4" Type="http://customschemas.google.com/relationships/presentationmetadata" Target="meta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457200" y="228600"/>
            <a:ext cx="34290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venir"/>
                <a:ea typeface="Avenir"/>
                <a:cs typeface="Avenir"/>
                <a:sym typeface="Avenir"/>
              </a:defRPr>
            </a:lvl1pPr>
            <a:lvl2pPr lvl="1"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2pPr>
            <a:lvl3pPr lvl="2"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3pPr>
            <a:lvl4pPr lvl="3"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4pPr>
            <a:lvl5pPr lvl="4"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5pPr>
            <a:lvl6pPr lvl="5"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6pPr>
            <a:lvl7pPr lvl="6"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7pPr>
            <a:lvl8pPr lvl="7"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8pPr>
            <a:lvl9pPr lvl="8"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9pPr>
          </a:lstStyle>
          <a:p/>
        </p:txBody>
      </p:sp>
      <p:sp>
        <p:nvSpPr>
          <p:cNvPr id="4" name="Google Shape;4;n"/>
          <p:cNvSpPr txBox="1"/>
          <p:nvPr>
            <p:ph idx="10" type="dt"/>
          </p:nvPr>
        </p:nvSpPr>
        <p:spPr>
          <a:xfrm>
            <a:off x="3886200" y="228600"/>
            <a:ext cx="34290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venir"/>
                <a:ea typeface="Avenir"/>
                <a:cs typeface="Avenir"/>
                <a:sym typeface="Avenir"/>
              </a:defRPr>
            </a:lvl1pPr>
            <a:lvl2pPr lvl="1"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2pPr>
            <a:lvl3pPr lvl="2"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3pPr>
            <a:lvl4pPr lvl="3"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4pPr>
            <a:lvl5pPr lvl="4"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5pPr>
            <a:lvl6pPr lvl="5"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6pPr>
            <a:lvl7pPr lvl="6"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7pPr>
            <a:lvl8pPr lvl="7"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8pPr>
            <a:lvl9pPr lvl="8"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9pPr>
          </a:lstStyle>
          <a:p/>
        </p:txBody>
      </p:sp>
      <p:sp>
        <p:nvSpPr>
          <p:cNvPr id="5" name="Google Shape;5;n"/>
          <p:cNvSpPr/>
          <p:nvPr>
            <p:ph idx="3" type="sldImg"/>
          </p:nvPr>
        </p:nvSpPr>
        <p:spPr>
          <a:xfrm>
            <a:off x="457200" y="685800"/>
            <a:ext cx="6858000" cy="3857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457200" y="4800600"/>
            <a:ext cx="6858000" cy="448056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venir"/>
                <a:ea typeface="Avenir"/>
                <a:cs typeface="Avenir"/>
                <a:sym typeface="Avenir"/>
              </a:defRPr>
            </a:lvl1pPr>
            <a:lvl2pPr indent="-228600" lvl="1" marL="914400" marR="0" rtl="0" algn="l">
              <a:spcBef>
                <a:spcPts val="0"/>
              </a:spcBef>
              <a:spcAft>
                <a:spcPts val="0"/>
              </a:spcAft>
              <a:buSzPts val="1400"/>
              <a:buNone/>
              <a:defRPr b="0" i="0" sz="1200" u="none" cap="none" strike="noStrike">
                <a:solidFill>
                  <a:schemeClr val="dk1"/>
                </a:solidFill>
                <a:latin typeface="Avenir"/>
                <a:ea typeface="Avenir"/>
                <a:cs typeface="Avenir"/>
                <a:sym typeface="Avenir"/>
              </a:defRPr>
            </a:lvl2pPr>
            <a:lvl3pPr indent="-228600" lvl="2" marL="1371600" marR="0" rtl="0" algn="l">
              <a:spcBef>
                <a:spcPts val="0"/>
              </a:spcBef>
              <a:spcAft>
                <a:spcPts val="0"/>
              </a:spcAft>
              <a:buSzPts val="1400"/>
              <a:buNone/>
              <a:defRPr b="0" i="0" sz="1200" u="none" cap="none" strike="noStrike">
                <a:solidFill>
                  <a:schemeClr val="dk1"/>
                </a:solidFill>
                <a:latin typeface="Avenir"/>
                <a:ea typeface="Avenir"/>
                <a:cs typeface="Avenir"/>
                <a:sym typeface="Avenir"/>
              </a:defRPr>
            </a:lvl3pPr>
            <a:lvl4pPr indent="-228600" lvl="3" marL="1828800" marR="0" rtl="0" algn="l">
              <a:spcBef>
                <a:spcPts val="0"/>
              </a:spcBef>
              <a:spcAft>
                <a:spcPts val="0"/>
              </a:spcAft>
              <a:buSzPts val="1400"/>
              <a:buNone/>
              <a:defRPr b="0" i="0" sz="1200" u="none" cap="none" strike="noStrike">
                <a:solidFill>
                  <a:schemeClr val="dk1"/>
                </a:solidFill>
                <a:latin typeface="Avenir"/>
                <a:ea typeface="Avenir"/>
                <a:cs typeface="Avenir"/>
                <a:sym typeface="Avenir"/>
              </a:defRPr>
            </a:lvl4pPr>
            <a:lvl5pPr indent="-228600" lvl="4" marL="2286000" marR="0" rtl="0" algn="l">
              <a:spcBef>
                <a:spcPts val="0"/>
              </a:spcBef>
              <a:spcAft>
                <a:spcPts val="0"/>
              </a:spcAft>
              <a:buSzPts val="1400"/>
              <a:buNone/>
              <a:defRPr b="0" i="0" sz="1200" u="none" cap="none" strike="noStrike">
                <a:solidFill>
                  <a:schemeClr val="dk1"/>
                </a:solidFill>
                <a:latin typeface="Avenir"/>
                <a:ea typeface="Avenir"/>
                <a:cs typeface="Avenir"/>
                <a:sym typeface="Avenir"/>
              </a:defRPr>
            </a:lvl5pPr>
            <a:lvl6pPr indent="-228600" lvl="5" marL="2743200" marR="0" rtl="0" algn="l">
              <a:spcBef>
                <a:spcPts val="0"/>
              </a:spcBef>
              <a:spcAft>
                <a:spcPts val="0"/>
              </a:spcAft>
              <a:buSzPts val="1400"/>
              <a:buNone/>
              <a:defRPr b="0" i="0" sz="1200" u="none" cap="none" strike="noStrike">
                <a:solidFill>
                  <a:schemeClr val="dk1"/>
                </a:solidFill>
                <a:latin typeface="Avenir"/>
                <a:ea typeface="Avenir"/>
                <a:cs typeface="Avenir"/>
                <a:sym typeface="Avenir"/>
              </a:defRPr>
            </a:lvl6pPr>
            <a:lvl7pPr indent="-228600" lvl="6" marL="3200400" marR="0" rtl="0" algn="l">
              <a:spcBef>
                <a:spcPts val="0"/>
              </a:spcBef>
              <a:spcAft>
                <a:spcPts val="0"/>
              </a:spcAft>
              <a:buSzPts val="1400"/>
              <a:buNone/>
              <a:defRPr b="0" i="0" sz="1200" u="none" cap="none" strike="noStrike">
                <a:solidFill>
                  <a:schemeClr val="dk1"/>
                </a:solidFill>
                <a:latin typeface="Avenir"/>
                <a:ea typeface="Avenir"/>
                <a:cs typeface="Avenir"/>
                <a:sym typeface="Avenir"/>
              </a:defRPr>
            </a:lvl7pPr>
            <a:lvl8pPr indent="-228600" lvl="7" marL="3657600" marR="0" rtl="0" algn="l">
              <a:spcBef>
                <a:spcPts val="0"/>
              </a:spcBef>
              <a:spcAft>
                <a:spcPts val="0"/>
              </a:spcAft>
              <a:buSzPts val="1400"/>
              <a:buNone/>
              <a:defRPr b="0" i="0" sz="1200" u="none" cap="none" strike="noStrike">
                <a:solidFill>
                  <a:schemeClr val="dk1"/>
                </a:solidFill>
                <a:latin typeface="Avenir"/>
                <a:ea typeface="Avenir"/>
                <a:cs typeface="Avenir"/>
                <a:sym typeface="Avenir"/>
              </a:defRPr>
            </a:lvl8pPr>
            <a:lvl9pPr indent="-228600" lvl="8" marL="4114800" marR="0" rtl="0" algn="l">
              <a:spcBef>
                <a:spcPts val="0"/>
              </a:spcBef>
              <a:spcAft>
                <a:spcPts val="0"/>
              </a:spcAft>
              <a:buSzPts val="1400"/>
              <a:buNone/>
              <a:defRPr b="0" i="0" sz="1200" u="none" cap="none" strike="noStrike">
                <a:solidFill>
                  <a:schemeClr val="dk1"/>
                </a:solidFill>
                <a:latin typeface="Avenir"/>
                <a:ea typeface="Avenir"/>
                <a:cs typeface="Avenir"/>
                <a:sym typeface="Avenir"/>
              </a:defRPr>
            </a:lvl9pPr>
          </a:lstStyle>
          <a:p/>
        </p:txBody>
      </p:sp>
      <p:sp>
        <p:nvSpPr>
          <p:cNvPr id="7" name="Google Shape;7;n"/>
          <p:cNvSpPr txBox="1"/>
          <p:nvPr>
            <p:ph idx="11" type="ftr"/>
          </p:nvPr>
        </p:nvSpPr>
        <p:spPr>
          <a:xfrm>
            <a:off x="457200" y="9371013"/>
            <a:ext cx="34290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venir"/>
                <a:ea typeface="Avenir"/>
                <a:cs typeface="Avenir"/>
                <a:sym typeface="Avenir"/>
              </a:defRPr>
            </a:lvl1pPr>
            <a:lvl2pPr lvl="1"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2pPr>
            <a:lvl3pPr lvl="2"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3pPr>
            <a:lvl4pPr lvl="3"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4pPr>
            <a:lvl5pPr lvl="4"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5pPr>
            <a:lvl6pPr lvl="5"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6pPr>
            <a:lvl7pPr lvl="6"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7pPr>
            <a:lvl8pPr lvl="7"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8pPr>
            <a:lvl9pPr lvl="8"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9pPr>
          </a:lstStyle>
          <a:p/>
        </p:txBody>
      </p:sp>
      <p:sp>
        <p:nvSpPr>
          <p:cNvPr id="8" name="Google Shape;8;n"/>
          <p:cNvSpPr txBox="1"/>
          <p:nvPr>
            <p:ph idx="12" type="sldNum"/>
          </p:nvPr>
        </p:nvSpPr>
        <p:spPr>
          <a:xfrm>
            <a:off x="3886200" y="9371013"/>
            <a:ext cx="34290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venir"/>
                <a:ea typeface="Avenir"/>
                <a:cs typeface="Avenir"/>
                <a:sym typeface="Avenir"/>
              </a:rPr>
              <a:t>‹#›</a:t>
            </a:fld>
            <a:endParaRPr b="0" i="0" sz="1200" u="none" cap="none" strike="noStrike">
              <a:solidFill>
                <a:schemeClr val="dk1"/>
              </a:solidFill>
              <a:latin typeface="Avenir"/>
              <a:ea typeface="Avenir"/>
              <a:cs typeface="Avenir"/>
              <a:sym typeface="Avenir"/>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github.com/johndifini/atm/blob/main/docs/adr/0002-modular-monolith.md" TargetMode="Externa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github.com/johndifini/atm/tree/main/docs/adr" TargetMode="External"/><Relationship Id="rId3" Type="http://schemas.openxmlformats.org/officeDocument/2006/relationships/hyperlink" Target="https://github.com/johndifini/atm/blob/main/docs/adr/0001-dotnet-razor-pages.md" TargetMode="External"/><Relationship Id="rId4" Type="http://schemas.openxmlformats.org/officeDocument/2006/relationships/hyperlink" Target="https://github.com/johndifini/atm/blob/main/docs/adr/0002-modular-monolith.md" TargetMode="External"/><Relationship Id="rId5" Type="http://schemas.openxmlformats.org/officeDocument/2006/relationships/hyperlink" Target="https://github.com/johndifini/atm/blob/main/docs/adr/0003-sqlite-ef-core.md" TargetMode="External"/><Relationship Id="rId6" Type="http://schemas.openxmlformats.org/officeDocument/2006/relationships/hyperlink" Target="https://github.com/johndifini/atm/blob/main/docs/adr/0005-money-transaction-semantics.md" TargetMode="Externa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github.com/johndifini/atm/blob/main/docs/adr/0003-sqlite-ef-core.md" TargetMode="Externa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github.com/johndifini/theborg/tree/main/architetto" TargetMode="External"/><Relationship Id="rId3" Type="http://schemas.openxmlformats.org/officeDocument/2006/relationships/hyperlink" Target="https://github.com/johndifini/atm/blob/main/SPEC.md" TargetMode="External"/><Relationship Id="rId4" Type="http://schemas.openxmlformats.org/officeDocument/2006/relationships/hyperlink" Target="https://github.com/johndifini/atm/blob/main/PLAN.md" TargetMode="External"/><Relationship Id="rId10" Type="http://schemas.openxmlformats.org/officeDocument/2006/relationships/hyperlink" Target="https://github.com/johndifini/theborg/tree/main/c4po" TargetMode="External"/><Relationship Id="rId9" Type="http://schemas.openxmlformats.org/officeDocument/2006/relationships/hyperlink" Target="https://github.com/johndifini/theborg/tree/main/jony-vibe" TargetMode="External"/><Relationship Id="rId5" Type="http://schemas.openxmlformats.org/officeDocument/2006/relationships/hyperlink" Target="https://github.com/johndifini/atm/tree/main/docs/adr" TargetMode="External"/><Relationship Id="rId6" Type="http://schemas.openxmlformats.org/officeDocument/2006/relationships/hyperlink" Target="https://github.com/johndifini/atm/blob/main/AGENTS.md" TargetMode="External"/><Relationship Id="rId7" Type="http://schemas.openxmlformats.org/officeDocument/2006/relationships/hyperlink" Target="https://github.com/johndifini/atm/blob/main/AGENTS.md" TargetMode="External"/><Relationship Id="rId8" Type="http://schemas.openxmlformats.org/officeDocument/2006/relationships/hyperlink" Target="https://github.com/johndifini/atm/blob/main/README.md" TargetMode="Externa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457200" y="685800"/>
            <a:ext cx="6858000" cy="3857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457200" y="4800600"/>
            <a:ext cx="6858000" cy="448056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Open with the finished product, running against a scratch SQLite database. The intentionally narrow scope keeps the review on correctness, architectural boundaries, and evidence. The hint points at an opt-in easter egg: the Konami code (up, up, down, down, left, right, left, right, B, A) toggles a Matrix theme; Esc, the blue pill, or the code again exits it.</a:t>
            </a:r>
            <a:endParaRPr/>
          </a:p>
        </p:txBody>
      </p:sp>
      <p:sp>
        <p:nvSpPr>
          <p:cNvPr id="14" name="Google Shape;14;p1:notes"/>
          <p:cNvSpPr txBox="1"/>
          <p:nvPr>
            <p:ph idx="12" type="sldNum"/>
          </p:nvPr>
        </p:nvSpPr>
        <p:spPr>
          <a:xfrm>
            <a:off x="3886200" y="9371013"/>
            <a:ext cx="34290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 name="Shape 23"/>
        <p:cNvGrpSpPr/>
        <p:nvPr/>
      </p:nvGrpSpPr>
      <p:grpSpPr>
        <a:xfrm>
          <a:off x="0" y="0"/>
          <a:ext cx="0" cy="0"/>
          <a:chOff x="0" y="0"/>
          <a:chExt cx="0" cy="0"/>
        </a:xfrm>
      </p:grpSpPr>
      <p:sp>
        <p:nvSpPr>
          <p:cNvPr id="24" name="Google Shape;24;p3:notes"/>
          <p:cNvSpPr/>
          <p:nvPr>
            <p:ph idx="2" type="sldImg"/>
          </p:nvPr>
        </p:nvSpPr>
        <p:spPr>
          <a:xfrm>
            <a:off x="457200" y="685800"/>
            <a:ext cx="6858000" cy="3857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 name="Google Shape;25;p3:notes"/>
          <p:cNvSpPr txBox="1"/>
          <p:nvPr>
            <p:ph idx="1" type="body"/>
          </p:nvPr>
        </p:nvSpPr>
        <p:spPr>
          <a:xfrm>
            <a:off x="457200" y="4800600"/>
            <a:ext cx="6858000" cy="448056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No client-side framework or npm packages ship with the app.</a:t>
            </a:r>
            <a:endParaRPr/>
          </a:p>
          <a:p>
            <a:pPr indent="0" lvl="0" marL="0" rtl="0" algn="l">
              <a:spcBef>
                <a:spcPts val="0"/>
              </a:spcBef>
              <a:spcAft>
                <a:spcPts val="0"/>
              </a:spcAft>
              <a:buNone/>
            </a:pPr>
            <a:r>
              <a:rPr lang="en-US"/>
              <a:t>Pages are server-rendered Razor Pages with a small amount of vanilla JavaScript and one “hand-written” stylesheet.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 solution is a modular monolith of four projects (Domain, Application, Infrastructure, Web) with dependencies pointing inward, recorded in </a:t>
            </a:r>
            <a:r>
              <a:rPr lang="en-US" u="sng">
                <a:solidFill>
                  <a:schemeClr val="hlink"/>
                </a:solidFill>
                <a:hlinkClick r:id="rId2"/>
              </a:rPr>
              <a:t>ADR-0002</a:t>
            </a:r>
            <a:r>
              <a:rPr lang="en-US"/>
              <a:t>.</a:t>
            </a:r>
            <a:endParaRPr/>
          </a:p>
          <a:p>
            <a:pPr indent="0" lvl="0" marL="0" rtl="0" algn="l">
              <a:spcBef>
                <a:spcPts val="0"/>
              </a:spcBef>
              <a:spcAft>
                <a:spcPts val="0"/>
              </a:spcAft>
              <a:buNone/>
            </a:pPr>
            <a:r>
              <a:rPr lang="en-US"/>
              <a:t>EF Core and SQLite live only in the Infrastructure project.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Tests use xUnit, WebApplicationFactory for in-process HTTP, and coverlet for coverage.</a:t>
            </a:r>
            <a:endParaRPr/>
          </a:p>
        </p:txBody>
      </p:sp>
      <p:sp>
        <p:nvSpPr>
          <p:cNvPr id="26" name="Google Shape;26;p3:notes"/>
          <p:cNvSpPr txBox="1"/>
          <p:nvPr>
            <p:ph idx="12" type="sldNum"/>
          </p:nvPr>
        </p:nvSpPr>
        <p:spPr>
          <a:xfrm>
            <a:off x="3886200" y="9371013"/>
            <a:ext cx="34290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 name="Shape 44"/>
        <p:cNvGrpSpPr/>
        <p:nvPr/>
      </p:nvGrpSpPr>
      <p:grpSpPr>
        <a:xfrm>
          <a:off x="0" y="0"/>
          <a:ext cx="0" cy="0"/>
          <a:chOff x="0" y="0"/>
          <a:chExt cx="0" cy="0"/>
        </a:xfrm>
      </p:grpSpPr>
      <p:sp>
        <p:nvSpPr>
          <p:cNvPr id="45" name="Google Shape;45;p4:notes"/>
          <p:cNvSpPr/>
          <p:nvPr>
            <p:ph idx="2" type="sldImg"/>
          </p:nvPr>
        </p:nvSpPr>
        <p:spPr>
          <a:xfrm>
            <a:off x="457200" y="685800"/>
            <a:ext cx="6858000" cy="3857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 name="Google Shape;46;p4:notes"/>
          <p:cNvSpPr txBox="1"/>
          <p:nvPr>
            <p:ph idx="1" type="body"/>
          </p:nvPr>
        </p:nvSpPr>
        <p:spPr>
          <a:xfrm>
            <a:off x="457200" y="4800600"/>
            <a:ext cx="6858000" cy="448056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a:t>
            </a:r>
            <a:r>
              <a:rPr lang="en-US" u="sng">
                <a:solidFill>
                  <a:schemeClr val="hlink"/>
                </a:solidFill>
                <a:hlinkClick r:id="rId2"/>
              </a:rPr>
              <a:t>ADRs</a:t>
            </a:r>
            <a:r>
              <a:rPr lang="en-US"/>
              <a:t> explain why each choice fits the exercise.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Razor Pages (</a:t>
            </a:r>
            <a:r>
              <a:rPr lang="en-US" u="sng">
                <a:solidFill>
                  <a:schemeClr val="hlink"/>
                </a:solidFill>
                <a:hlinkClick r:id="rId3"/>
              </a:rPr>
              <a:t>ADR-0001</a:t>
            </a:r>
            <a:r>
              <a:rPr lang="en-US"/>
              <a:t>). Cost: a full page reload per action. The server renders HTML with minimal JavaScript, so the whole app is written in C# and ships as a single unit. A separate JavaScript front end (e.g., a React single-page app) would add its own npm build and a JSON API for the browser to call, because the browser would fetch data instead of receiving finished pages.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Modular monolith (</a:t>
            </a:r>
            <a:r>
              <a:rPr lang="en-US" u="sng">
                <a:solidFill>
                  <a:schemeClr val="hlink"/>
                </a:solidFill>
                <a:hlinkClick r:id="rId4"/>
              </a:rPr>
              <a:t>ADR-0002</a:t>
            </a:r>
            <a:r>
              <a:rPr lang="en-US"/>
              <a:t>). Cost: one feature spans four projects, so adding a transaction type touches Domain, Application, Infrastructure, and Web. The payoff is that business rules can be tested without the web host or the database. Microservices would add operational complexity with no payoff at this scope.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SQLite + EF Core (</a:t>
            </a:r>
            <a:r>
              <a:rPr lang="en-US" u="sng">
                <a:solidFill>
                  <a:schemeClr val="hlink"/>
                </a:solidFill>
                <a:hlinkClick r:id="rId5"/>
              </a:rPr>
              <a:t>ADR-0003</a:t>
            </a:r>
            <a:r>
              <a:rPr lang="en-US"/>
              <a:t>). Cost: single-writer ceiling. A server database is the upgrade path if concurrent load ever matters. The next slide covers the datastore choice.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2-decimal USD (</a:t>
            </a:r>
            <a:r>
              <a:rPr lang="en-US" u="sng">
                <a:solidFill>
                  <a:schemeClr val="hlink"/>
                </a:solidFill>
                <a:hlinkClick r:id="rId6"/>
              </a:rPr>
              <a:t>ADR-0005</a:t>
            </a:r>
            <a:r>
              <a:rPr lang="en-US"/>
              <a:t>). Cost: single-currency support. Amounts are decimal with at most two fractional digits, which rules out floating-point error. The two-digit rule fits USD only, and there is no currency field, so supporting another currency (e.g., JPY with 0 places or KWD with 3) would change the Money type.</a:t>
            </a:r>
            <a:endParaRPr/>
          </a:p>
        </p:txBody>
      </p:sp>
      <p:sp>
        <p:nvSpPr>
          <p:cNvPr id="47" name="Google Shape;47;p4:notes"/>
          <p:cNvSpPr txBox="1"/>
          <p:nvPr>
            <p:ph idx="12" type="sldNum"/>
          </p:nvPr>
        </p:nvSpPr>
        <p:spPr>
          <a:xfrm>
            <a:off x="3886200" y="9371013"/>
            <a:ext cx="34290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p5:notes"/>
          <p:cNvSpPr/>
          <p:nvPr>
            <p:ph idx="2" type="sldImg"/>
          </p:nvPr>
        </p:nvSpPr>
        <p:spPr>
          <a:xfrm>
            <a:off x="457200" y="685800"/>
            <a:ext cx="6858000" cy="3857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 name="Google Shape;54;p5:notes"/>
          <p:cNvSpPr txBox="1"/>
          <p:nvPr>
            <p:ph idx="1" type="body"/>
          </p:nvPr>
        </p:nvSpPr>
        <p:spPr>
          <a:xfrm>
            <a:off x="457200" y="4800600"/>
            <a:ext cx="6858000" cy="448056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An in-memory store would have been enough. I chose a persistent one so balances and history survive restarts (</a:t>
            </a:r>
            <a:r>
              <a:rPr lang="en-US" u="sng">
                <a:solidFill>
                  <a:schemeClr val="hlink"/>
                </a:solidFill>
                <a:hlinkClick r:id="rId2"/>
              </a:rPr>
              <a:t>ADR-0003</a:t>
            </a:r>
            <a:r>
              <a:rPr lang="en-US"/>
              <a:t>).</a:t>
            </a:r>
            <a:endParaRPr/>
          </a:p>
          <a:p>
            <a:pPr indent="0" lvl="0" marL="0" rtl="0" algn="l">
              <a:spcBef>
                <a:spcPts val="0"/>
              </a:spcBef>
              <a:spcAft>
                <a:spcPts val="0"/>
              </a:spcAft>
              <a:buNone/>
            </a:pPr>
            <a:r>
              <a:rPr lang="en-US"/>
              <a:t>• SQLite – single-file DB with near-zero setup.</a:t>
            </a:r>
            <a:endParaRPr/>
          </a:p>
          <a:p>
            <a:pPr indent="0" lvl="0" marL="0" rtl="0" algn="l">
              <a:spcBef>
                <a:spcPts val="0"/>
              </a:spcBef>
              <a:spcAft>
                <a:spcPts val="0"/>
              </a:spcAft>
              <a:buNone/>
            </a:pPr>
            <a:r>
              <a:rPr lang="en-US"/>
              <a:t>• EF Core – the ORM (the .NET counterpart to Hibernate).</a:t>
            </a:r>
            <a:endParaRPr/>
          </a:p>
          <a:p>
            <a:pPr indent="0" lvl="0" marL="0" rtl="0" algn="l">
              <a:spcBef>
                <a:spcPts val="0"/>
              </a:spcBef>
              <a:spcAft>
                <a:spcPts val="0"/>
              </a:spcAft>
              <a:buNone/>
            </a:pPr>
            <a:r>
              <a:rPr lang="en-US"/>
              <a:t>   – Transactions: saves a transfer's debit, credit, and history rows in a single DB transaction, so they either commit or roll back as a unit.</a:t>
            </a:r>
            <a:endParaRPr/>
          </a:p>
          <a:p>
            <a:pPr indent="0" lvl="0" marL="0" rtl="0" algn="l">
              <a:spcBef>
                <a:spcPts val="0"/>
              </a:spcBef>
              <a:spcAft>
                <a:spcPts val="0"/>
              </a:spcAft>
              <a:buNone/>
            </a:pPr>
            <a:r>
              <a:rPr lang="en-US"/>
              <a:t>   – Optimistic concurrency: rejects a write based on an outdated balance, e.g., two tabs withdrawing against the same $1,000 and overdrawing it. Doesn't lock account rows; assumes conflicts are rare.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Every option sits behind the same Application ports, so switching is an Infrastructure-only change.</a:t>
            </a:r>
            <a:endParaRPr/>
          </a:p>
          <a:p>
            <a:pPr indent="0" lvl="0" marL="0" rtl="0" algn="l">
              <a:spcBef>
                <a:spcPts val="0"/>
              </a:spcBef>
              <a:spcAft>
                <a:spcPts val="0"/>
              </a:spcAft>
              <a:buNone/>
            </a:pPr>
            <a:r>
              <a:rPr lang="en-US"/>
              <a:t>• SQLite in-memory – an in-memory connection string with one connection held open. Keeps EF Core, migrations, transactions, and constraints, but data is lost on restart. The best in-memory choice, e.g., for a demo mode.</a:t>
            </a:r>
            <a:endParaRPr/>
          </a:p>
          <a:p>
            <a:pPr indent="0" lvl="0" marL="0" rtl="0" algn="l">
              <a:spcBef>
                <a:spcPts val="0"/>
              </a:spcBef>
              <a:spcAft>
                <a:spcPts val="0"/>
              </a:spcAft>
              <a:buNone/>
            </a:pPr>
            <a:r>
              <a:rPr lang="en-US"/>
              <a:t>• Hand-written store – dictionaries behind a single lock. No dependencies, but the code itself must commit balance and history together instead of relying on a database transaction.</a:t>
            </a:r>
            <a:endParaRPr/>
          </a:p>
          <a:p>
            <a:pPr indent="0" lvl="0" marL="0" rtl="0" algn="l">
              <a:spcBef>
                <a:spcPts val="0"/>
              </a:spcBef>
              <a:spcAft>
                <a:spcPts val="0"/>
              </a:spcAft>
              <a:buNone/>
            </a:pPr>
            <a:r>
              <a:rPr lang="en-US"/>
              <a:t>• EF Core InMemory provider – discouraged by Microsoft. It isn't relational, ignores transactions, and enforces no constraints, so it can't prove the invariants.</a:t>
            </a:r>
            <a:endParaRPr/>
          </a:p>
          <a:p>
            <a:pPr indent="0" lvl="0" marL="0" rtl="0" algn="l">
              <a:spcBef>
                <a:spcPts val="0"/>
              </a:spcBef>
              <a:spcAft>
                <a:spcPts val="0"/>
              </a:spcAft>
              <a:buNone/>
            </a:pPr>
            <a:r>
              <a:rPr lang="en-US"/>
              <a:t>• Redis – a separate server process to install and run, and atomic transfers need MULTI/EXEC or Lua scripts. More operational machinery than this exercise needs, and still volatile unless its persistence is configured.</a:t>
            </a:r>
            <a:endParaRPr/>
          </a:p>
        </p:txBody>
      </p:sp>
      <p:sp>
        <p:nvSpPr>
          <p:cNvPr id="55" name="Google Shape;55;p5:notes"/>
          <p:cNvSpPr txBox="1"/>
          <p:nvPr>
            <p:ph idx="12" type="sldNum"/>
          </p:nvPr>
        </p:nvSpPr>
        <p:spPr>
          <a:xfrm>
            <a:off x="3886200" y="9371013"/>
            <a:ext cx="34290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p2:notes"/>
          <p:cNvSpPr/>
          <p:nvPr>
            <p:ph idx="2" type="sldImg"/>
          </p:nvPr>
        </p:nvSpPr>
        <p:spPr>
          <a:xfrm>
            <a:off x="457200" y="685800"/>
            <a:ext cx="6858000" cy="3857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8" name="Google Shape;78;p2:notes"/>
          <p:cNvSpPr txBox="1"/>
          <p:nvPr>
            <p:ph idx="1" type="body"/>
          </p:nvPr>
        </p:nvSpPr>
        <p:spPr>
          <a:xfrm>
            <a:off x="457200" y="4800600"/>
            <a:ext cx="6858000" cy="448056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a:t>Frame: GPT-5.6 Sol in Codex with my architect agent</a:t>
            </a:r>
            <a:endParaRPr b="1"/>
          </a:p>
          <a:p>
            <a:pPr indent="0" lvl="0" marL="0" rtl="0" algn="l">
              <a:spcBef>
                <a:spcPts val="0"/>
              </a:spcBef>
              <a:spcAft>
                <a:spcPts val="0"/>
              </a:spcAft>
              <a:buNone/>
            </a:pPr>
            <a:r>
              <a:rPr lang="en-US"/>
              <a:t>• </a:t>
            </a:r>
            <a:r>
              <a:rPr lang="en-US" u="sng">
                <a:solidFill>
                  <a:schemeClr val="hlink"/>
                </a:solidFill>
                <a:hlinkClick r:id="rId2"/>
              </a:rPr>
              <a:t>Architetto</a:t>
            </a:r>
            <a:r>
              <a:rPr lang="en-US"/>
              <a:t> is my open-source architect agent: it bootstraps new repositories and records every foundational decision.</a:t>
            </a:r>
            <a:endParaRPr/>
          </a:p>
          <a:p>
            <a:pPr indent="0" lvl="0" marL="0" rtl="0" algn="l">
              <a:spcBef>
                <a:spcPts val="0"/>
              </a:spcBef>
              <a:spcAft>
                <a:spcPts val="0"/>
              </a:spcAft>
              <a:buNone/>
            </a:pPr>
            <a:r>
              <a:rPr lang="en-US"/>
              <a:t>• Interviewed me on four open questions: time box, persistence, seed accounts, repo visibility.</a:t>
            </a:r>
            <a:endParaRPr/>
          </a:p>
          <a:p>
            <a:pPr indent="0" lvl="0" marL="0" rtl="0" algn="l">
              <a:spcBef>
                <a:spcPts val="0"/>
              </a:spcBef>
              <a:spcAft>
                <a:spcPts val="0"/>
              </a:spcAft>
              <a:buNone/>
            </a:pPr>
            <a:r>
              <a:rPr lang="en-US"/>
              <a:t>• The model proposed the stack; I approved it.</a:t>
            </a:r>
            <a:endParaRPr/>
          </a:p>
          <a:p>
            <a:pPr indent="0" lvl="0" marL="0" rtl="0" algn="l">
              <a:spcBef>
                <a:spcPts val="0"/>
              </a:spcBef>
              <a:spcAft>
                <a:spcPts val="0"/>
              </a:spcAft>
              <a:buNone/>
            </a:pPr>
            <a:r>
              <a:rPr lang="en-US"/>
              <a:t>• Scaffolded before any feature code: </a:t>
            </a:r>
            <a:r>
              <a:rPr lang="en-US" u="sng">
                <a:solidFill>
                  <a:schemeClr val="hlink"/>
                </a:solidFill>
                <a:hlinkClick r:id="rId3"/>
              </a:rPr>
              <a:t>SPEC.md</a:t>
            </a:r>
            <a:r>
              <a:rPr lang="en-US"/>
              <a:t>, </a:t>
            </a:r>
            <a:r>
              <a:rPr lang="en-US" u="sng">
                <a:solidFill>
                  <a:schemeClr val="hlink"/>
                </a:solidFill>
                <a:hlinkClick r:id="rId4"/>
              </a:rPr>
              <a:t>PLAN.md</a:t>
            </a:r>
            <a:r>
              <a:rPr lang="en-US"/>
              <a:t>, six </a:t>
            </a:r>
            <a:r>
              <a:rPr lang="en-US" u="sng">
                <a:solidFill>
                  <a:schemeClr val="hlink"/>
                </a:solidFill>
                <a:hlinkClick r:id="rId5"/>
              </a:rPr>
              <a:t>ADRs</a:t>
            </a:r>
            <a:r>
              <a:rPr lang="en-US"/>
              <a:t>, </a:t>
            </a:r>
            <a:r>
              <a:rPr lang="en-US" u="sng">
                <a:solidFill>
                  <a:schemeClr val="hlink"/>
                </a:solidFill>
                <a:hlinkClick r:id="rId6"/>
              </a:rPr>
              <a:t>AGENTS.md</a:t>
            </a:r>
            <a:r>
              <a:rPr lang="en-US"/>
              <a:t>.</a:t>
            </a:r>
            <a:endParaRPr/>
          </a:p>
          <a:p>
            <a:pPr indent="0" lvl="0" marL="0" rtl="0" algn="l">
              <a:spcBef>
                <a:spcPts val="0"/>
              </a:spcBef>
              <a:spcAft>
                <a:spcPts val="0"/>
              </a:spcAft>
              <a:buNone/>
            </a:pPr>
            <a:r>
              <a:rPr lang="en-US"/>
              <a:t>   – </a:t>
            </a:r>
            <a:r>
              <a:rPr lang="en-US" u="sng">
                <a:solidFill>
                  <a:schemeClr val="hlink"/>
                </a:solidFill>
                <a:hlinkClick r:id="rId7"/>
              </a:rPr>
              <a:t>AGENTS.md</a:t>
            </a:r>
            <a:r>
              <a:rPr lang="en-US"/>
              <a:t> lists the rules for this repo: money is decimal, balances never go negative, etc.</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US"/>
              <a:t>Build: Fable 5.1 in Claude Code</a:t>
            </a:r>
            <a:endParaRPr b="1"/>
          </a:p>
          <a:p>
            <a:pPr indent="0" lvl="0" marL="0" rtl="0" algn="l">
              <a:spcBef>
                <a:spcPts val="0"/>
              </a:spcBef>
              <a:spcAft>
                <a:spcPts val="0"/>
              </a:spcAft>
              <a:buClr>
                <a:schemeClr val="dk1"/>
              </a:buClr>
              <a:buFont typeface="Arial"/>
              <a:buNone/>
            </a:pPr>
            <a:r>
              <a:rPr lang="en-US"/>
              <a:t>• Why Fable 5.1: I know the best approach is to plan with the strongest model and execute with cheaper ones, but when I reached the implementation phase, I was running short on time. Therefore, I chose the strongest end-to-end model at the time (a whopping week ago, before Opus 5.5 shipped).</a:t>
            </a:r>
            <a:endParaRPr/>
          </a:p>
          <a:p>
            <a:pPr indent="0" lvl="0" marL="0" rtl="0" algn="l">
              <a:spcBef>
                <a:spcPts val="0"/>
              </a:spcBef>
              <a:spcAft>
                <a:spcPts val="0"/>
              </a:spcAft>
              <a:buNone/>
            </a:pPr>
            <a:r>
              <a:rPr lang="en-US"/>
              <a:t>• Six phases in order: domain, application, persistence, web, HTTP tests and accessibility, deck.</a:t>
            </a:r>
            <a:endParaRPr/>
          </a:p>
          <a:p>
            <a:pPr indent="0" lvl="0" marL="0" rtl="0" algn="l">
              <a:spcBef>
                <a:spcPts val="0"/>
              </a:spcBef>
              <a:spcAft>
                <a:spcPts val="0"/>
              </a:spcAft>
              <a:buNone/>
            </a:pPr>
            <a:r>
              <a:rPr lang="en-US"/>
              <a:t>• Each phase committed only with the build and every test green; domain tests written first.</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US"/>
              <a:t>Refine: Opus 5.5 and GPT-6 Sol in Codex</a:t>
            </a:r>
            <a:endParaRPr b="1"/>
          </a:p>
          <a:p>
            <a:pPr indent="0" lvl="0" marL="0" rtl="0" algn="l">
              <a:spcBef>
                <a:spcPts val="0"/>
              </a:spcBef>
              <a:spcAft>
                <a:spcPts val="0"/>
              </a:spcAft>
              <a:buNone/>
            </a:pPr>
            <a:r>
              <a:rPr lang="en-US"/>
              <a:t>• Windows setup steps in </a:t>
            </a:r>
            <a:r>
              <a:rPr lang="en-US" u="sng">
                <a:solidFill>
                  <a:schemeClr val="hlink"/>
                </a:solidFill>
                <a:hlinkClick r:id="rId8"/>
              </a:rPr>
              <a:t>README.md</a:t>
            </a:r>
            <a:r>
              <a:rPr lang="en-US"/>
              <a:t>, a Dependabot fix, the deck redesign, slide wording.</a:t>
            </a:r>
            <a:endParaRPr/>
          </a:p>
          <a:p>
            <a:pPr indent="0" lvl="0" marL="0" rtl="0" algn="l">
              <a:spcBef>
                <a:spcPts val="0"/>
              </a:spcBef>
              <a:spcAft>
                <a:spcPts val="0"/>
              </a:spcAft>
              <a:buNone/>
            </a:pPr>
            <a:r>
              <a:rPr lang="en-US"/>
              <a:t>• The design direction came from </a:t>
            </a:r>
            <a:r>
              <a:rPr lang="en-US" u="sng">
                <a:solidFill>
                  <a:schemeClr val="hlink"/>
                </a:solidFill>
                <a:hlinkClick r:id="rId9"/>
              </a:rPr>
              <a:t>jony-vibe</a:t>
            </a:r>
            <a:r>
              <a:rPr lang="en-US"/>
              <a:t>, my design-consultation agent; the first deck skipped that consultation and was redone.</a:t>
            </a:r>
            <a:endParaRPr/>
          </a:p>
          <a:p>
            <a:pPr indent="0" lvl="0" marL="0" rtl="0" algn="l">
              <a:spcBef>
                <a:spcPts val="0"/>
              </a:spcBef>
              <a:spcAft>
                <a:spcPts val="0"/>
              </a:spcAft>
              <a:buNone/>
            </a:pPr>
            <a:r>
              <a:rPr lang="en-US"/>
              <a:t>• </a:t>
            </a:r>
            <a:r>
              <a:rPr lang="en-US" u="sng">
                <a:solidFill>
                  <a:schemeClr val="hlink"/>
                </a:solidFill>
                <a:hlinkClick r:id="rId10"/>
              </a:rPr>
              <a:t>c4po</a:t>
            </a:r>
            <a:r>
              <a:rPr lang="en-US"/>
              <a:t>, my workspace-admin agent, moved the deck's visual checks from Keynote to PowerPoint after Keynote passed a deck that PowerPoint had to repair.</a:t>
            </a:r>
            <a:endParaRPr/>
          </a:p>
        </p:txBody>
      </p:sp>
      <p:sp>
        <p:nvSpPr>
          <p:cNvPr id="79" name="Google Shape;79;p2:notes"/>
          <p:cNvSpPr txBox="1"/>
          <p:nvPr>
            <p:ph idx="12" type="sldNum"/>
          </p:nvPr>
        </p:nvSpPr>
        <p:spPr>
          <a:xfrm>
            <a:off x="3886200" y="9371013"/>
            <a:ext cx="34290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6:notes"/>
          <p:cNvSpPr/>
          <p:nvPr>
            <p:ph idx="2" type="sldImg"/>
          </p:nvPr>
        </p:nvSpPr>
        <p:spPr>
          <a:xfrm>
            <a:off x="457200" y="685800"/>
            <a:ext cx="6858000" cy="3857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7" name="Google Shape;97;p6:notes"/>
          <p:cNvSpPr txBox="1"/>
          <p:nvPr>
            <p:ph idx="1" type="body"/>
          </p:nvPr>
        </p:nvSpPr>
        <p:spPr>
          <a:xfrm>
            <a:off x="457200" y="4800600"/>
            <a:ext cx="6858000" cy="448056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screenshot is a real rejected overdraft. The typed value stays visible, the error names the available balance, and persisted state is unchanged. Account versions turn stale writes into a safe retry instead of lost data.</a:t>
            </a:r>
            <a:endParaRPr/>
          </a:p>
        </p:txBody>
      </p:sp>
      <p:sp>
        <p:nvSpPr>
          <p:cNvPr id="98" name="Google Shape;98;p6:notes"/>
          <p:cNvSpPr txBox="1"/>
          <p:nvPr>
            <p:ph idx="12" type="sldNum"/>
          </p:nvPr>
        </p:nvSpPr>
        <p:spPr>
          <a:xfrm>
            <a:off x="3886200" y="9371013"/>
            <a:ext cx="34290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7:notes"/>
          <p:cNvSpPr/>
          <p:nvPr>
            <p:ph idx="2" type="sldImg"/>
          </p:nvPr>
        </p:nvSpPr>
        <p:spPr>
          <a:xfrm>
            <a:off x="457200" y="685800"/>
            <a:ext cx="6858000" cy="3857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3" name="Google Shape;113;p7:notes"/>
          <p:cNvSpPr txBox="1"/>
          <p:nvPr>
            <p:ph idx="1" type="body"/>
          </p:nvPr>
        </p:nvSpPr>
        <p:spPr>
          <a:xfrm>
            <a:off x="457200" y="4800600"/>
            <a:ext cx="6858000" cy="448056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Domain tests are pure. Application tests use hand-written fakes. Integration and HTTP tests exercise the real host with an isolated SQLite file per test, including concurrency conflicts, atomic rollback, Post/Redirect/Get, security, and accessibility structure. Commands: dotnet restore Atm.sln; dotnet build Atm.sln --no-restore; dotnet test Atm.sln --no-build.</a:t>
            </a:r>
            <a:endParaRPr/>
          </a:p>
        </p:txBody>
      </p:sp>
      <p:sp>
        <p:nvSpPr>
          <p:cNvPr id="114" name="Google Shape;114;p7:notes"/>
          <p:cNvSpPr txBox="1"/>
          <p:nvPr>
            <p:ph idx="12" type="sldNum"/>
          </p:nvPr>
        </p:nvSpPr>
        <p:spPr>
          <a:xfrm>
            <a:off x="3886200" y="9371013"/>
            <a:ext cx="34290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8:notes"/>
          <p:cNvSpPr/>
          <p:nvPr>
            <p:ph idx="2" type="sldImg"/>
          </p:nvPr>
        </p:nvSpPr>
        <p:spPr>
          <a:xfrm>
            <a:off x="457200" y="685800"/>
            <a:ext cx="6858000" cy="3857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2" name="Google Shape;132;p8:notes"/>
          <p:cNvSpPr txBox="1"/>
          <p:nvPr>
            <p:ph idx="1" type="body"/>
          </p:nvPr>
        </p:nvSpPr>
        <p:spPr>
          <a:xfrm>
            <a:off x="457200" y="4800600"/>
            <a:ext cx="6858000" cy="448056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omissions are conscious. The roadmap begins with the correctness gap that Post/Redirect/Get does not solve: a retried network request. The phone capture proves the existing presentation adapter already reflows at 380 pixels.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In a real bank, the Domain and Application layers would become a backend service behind an API that every channel (ATM, mobile, web, branch) shares, so the rules live in one place. This ATM would be one thin client. Splitting that backend into microservices becomes worthwhile once separate teams own accounts, transfers, and fraud and need to deploy independently. The inward dependencies here are what make that extraction straightforward.</a:t>
            </a:r>
            <a:endParaRPr/>
          </a:p>
        </p:txBody>
      </p:sp>
      <p:sp>
        <p:nvSpPr>
          <p:cNvPr id="133" name="Google Shape;133;p8:notes"/>
          <p:cNvSpPr txBox="1"/>
          <p:nvPr>
            <p:ph idx="12" type="sldNum"/>
          </p:nvPr>
        </p:nvSpPr>
        <p:spPr>
          <a:xfrm>
            <a:off x="3886200" y="9371013"/>
            <a:ext cx="34290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212"/>
        </a:solidFill>
      </p:bgPr>
    </p:bg>
    <p:spTree>
      <p:nvGrpSpPr>
        <p:cNvPr id="15" name="Shape 15"/>
        <p:cNvGrpSpPr/>
        <p:nvPr/>
      </p:nvGrpSpPr>
      <p:grpSpPr>
        <a:xfrm>
          <a:off x="0" y="0"/>
          <a:ext cx="0" cy="0"/>
          <a:chOff x="0" y="0"/>
          <a:chExt cx="0" cy="0"/>
        </a:xfrm>
      </p:grpSpPr>
      <p:sp>
        <p:nvSpPr>
          <p:cNvPr id="16" name="Google Shape;16;p1"/>
          <p:cNvSpPr txBox="1"/>
          <p:nvPr/>
        </p:nvSpPr>
        <p:spPr>
          <a:xfrm>
            <a:off x="585216" y="457200"/>
            <a:ext cx="2560320" cy="228600"/>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00F604"/>
              </a:buClr>
              <a:buSzPts val="1100"/>
              <a:buFont typeface="Avenir"/>
              <a:buNone/>
            </a:pPr>
            <a:r>
              <a:rPr b="1" i="0" lang="en-US" sz="1100" u="none" cap="none" strike="noStrike">
                <a:solidFill>
                  <a:srgbClr val="00F604"/>
                </a:solidFill>
                <a:latin typeface="Avenir"/>
                <a:ea typeface="Avenir"/>
                <a:cs typeface="Avenir"/>
                <a:sym typeface="Avenir"/>
              </a:rPr>
              <a:t>CASE STUDY</a:t>
            </a:r>
            <a:endParaRPr b="0" i="0" sz="1100" u="none" cap="none" strike="noStrike">
              <a:solidFill>
                <a:schemeClr val="dk1"/>
              </a:solidFill>
              <a:latin typeface="Avenir"/>
              <a:ea typeface="Avenir"/>
              <a:cs typeface="Avenir"/>
              <a:sym typeface="Avenir"/>
            </a:endParaRPr>
          </a:p>
        </p:txBody>
      </p:sp>
      <p:sp>
        <p:nvSpPr>
          <p:cNvPr id="17" name="Google Shape;17;p1"/>
          <p:cNvSpPr txBox="1"/>
          <p:nvPr/>
        </p:nvSpPr>
        <p:spPr>
          <a:xfrm>
            <a:off x="585216" y="850392"/>
            <a:ext cx="2834640" cy="5943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F604"/>
              </a:buClr>
              <a:buSzPts val="4700"/>
              <a:buFont typeface="Avenir"/>
              <a:buNone/>
            </a:pPr>
            <a:r>
              <a:rPr b="1" i="0" lang="en-US" sz="4700" u="none" cap="none" strike="noStrike">
                <a:solidFill>
                  <a:srgbClr val="00F604"/>
                </a:solidFill>
                <a:latin typeface="Avenir"/>
                <a:ea typeface="Avenir"/>
                <a:cs typeface="Avenir"/>
                <a:sym typeface="Avenir"/>
              </a:rPr>
              <a:t>ATM</a:t>
            </a:r>
            <a:endParaRPr b="0" i="0" sz="4700" u="none" cap="none" strike="noStrike">
              <a:solidFill>
                <a:schemeClr val="dk1"/>
              </a:solidFill>
              <a:latin typeface="Avenir"/>
              <a:ea typeface="Avenir"/>
              <a:cs typeface="Avenir"/>
              <a:sym typeface="Avenir"/>
            </a:endParaRPr>
          </a:p>
        </p:txBody>
      </p:sp>
      <p:sp>
        <p:nvSpPr>
          <p:cNvPr id="18" name="Google Shape;18;p1"/>
          <p:cNvSpPr txBox="1"/>
          <p:nvPr/>
        </p:nvSpPr>
        <p:spPr>
          <a:xfrm>
            <a:off x="585216" y="1463040"/>
            <a:ext cx="3182112" cy="493776"/>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F5F5F5"/>
              </a:buClr>
              <a:buSzPts val="2700"/>
              <a:buFont typeface="Avenir"/>
              <a:buNone/>
            </a:pPr>
            <a:r>
              <a:rPr b="1" i="0" lang="en-US" sz="2700" u="none" cap="none" strike="noStrike">
                <a:solidFill>
                  <a:srgbClr val="F5F5F5"/>
                </a:solidFill>
                <a:latin typeface="Avenir"/>
                <a:ea typeface="Avenir"/>
                <a:cs typeface="Avenir"/>
                <a:sym typeface="Avenir"/>
              </a:rPr>
              <a:t>Coding Exercise</a:t>
            </a:r>
            <a:endParaRPr b="0" i="0" sz="2700" u="none" cap="none" strike="noStrike">
              <a:solidFill>
                <a:schemeClr val="dk1"/>
              </a:solidFill>
              <a:latin typeface="Avenir"/>
              <a:ea typeface="Avenir"/>
              <a:cs typeface="Avenir"/>
              <a:sym typeface="Avenir"/>
            </a:endParaRPr>
          </a:p>
        </p:txBody>
      </p:sp>
      <p:sp>
        <p:nvSpPr>
          <p:cNvPr id="19" name="Google Shape;19;p1"/>
          <p:cNvSpPr txBox="1"/>
          <p:nvPr/>
        </p:nvSpPr>
        <p:spPr>
          <a:xfrm>
            <a:off x="585216" y="2267712"/>
            <a:ext cx="2907792" cy="5669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A9ADB3"/>
              </a:buClr>
              <a:buSzPts val="1500"/>
              <a:buFont typeface="Avenir"/>
              <a:buNone/>
            </a:pPr>
            <a:r>
              <a:rPr b="0" i="0" lang="en-US" sz="1500" u="none" cap="none" strike="noStrike">
                <a:solidFill>
                  <a:srgbClr val="A9ADB3"/>
                </a:solidFill>
                <a:latin typeface="Avenir"/>
                <a:ea typeface="Avenir"/>
                <a:cs typeface="Avenir"/>
                <a:sym typeface="Avenir"/>
              </a:rPr>
              <a:t>Two accounts, persisted locally,</a:t>
            </a:r>
            <a:endParaRPr b="0" i="0" sz="1500" u="none" cap="none" strike="noStrike">
              <a:solidFill>
                <a:schemeClr val="dk1"/>
              </a:solidFill>
              <a:latin typeface="Avenir"/>
              <a:ea typeface="Avenir"/>
              <a:cs typeface="Avenir"/>
              <a:sym typeface="Avenir"/>
            </a:endParaRPr>
          </a:p>
          <a:p>
            <a:pPr indent="0" lvl="0" marL="0" marR="0" rtl="0" algn="l">
              <a:spcBef>
                <a:spcPts val="0"/>
              </a:spcBef>
              <a:spcAft>
                <a:spcPts val="0"/>
              </a:spcAft>
              <a:buClr>
                <a:srgbClr val="A9ADB3"/>
              </a:buClr>
              <a:buSzPts val="1500"/>
              <a:buFont typeface="Avenir"/>
              <a:buNone/>
            </a:pPr>
            <a:r>
              <a:rPr b="0" i="0" lang="en-US" sz="1500" u="none" cap="none" strike="noStrike">
                <a:solidFill>
                  <a:srgbClr val="A9ADB3"/>
                </a:solidFill>
                <a:latin typeface="Avenir"/>
                <a:ea typeface="Avenir"/>
                <a:cs typeface="Avenir"/>
                <a:sym typeface="Avenir"/>
              </a:rPr>
              <a:t>covered by 143 tests.</a:t>
            </a:r>
            <a:endParaRPr b="0" i="0" sz="1500" u="none" cap="none" strike="noStrike">
              <a:solidFill>
                <a:schemeClr val="dk1"/>
              </a:solidFill>
              <a:latin typeface="Avenir"/>
              <a:ea typeface="Avenir"/>
              <a:cs typeface="Avenir"/>
              <a:sym typeface="Avenir"/>
            </a:endParaRPr>
          </a:p>
        </p:txBody>
      </p:sp>
      <p:sp>
        <p:nvSpPr>
          <p:cNvPr id="20" name="Google Shape;20;p1"/>
          <p:cNvSpPr/>
          <p:nvPr/>
        </p:nvSpPr>
        <p:spPr>
          <a:xfrm>
            <a:off x="3813048" y="457200"/>
            <a:ext cx="4745736" cy="3694176"/>
          </a:xfrm>
          <a:prstGeom prst="rect">
            <a:avLst/>
          </a:prstGeom>
          <a:solidFill>
            <a:srgbClr val="1B1B1B"/>
          </a:solidFill>
          <a:ln cap="flat" cmpd="sng" w="10150">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Users/john/theborg/repos/atm/design/screenshots/dashboard.png" id="21" name="Google Shape;21;p1"/>
          <p:cNvPicPr preferRelativeResize="0"/>
          <p:nvPr/>
        </p:nvPicPr>
        <p:blipFill rotWithShape="1">
          <a:blip r:embed="rId3">
            <a:alphaModFix/>
          </a:blip>
          <a:srcRect b="0" l="0" r="0" t="0"/>
          <a:stretch/>
        </p:blipFill>
        <p:spPr>
          <a:xfrm>
            <a:off x="3849624" y="493776"/>
            <a:ext cx="4672584" cy="3621024"/>
          </a:xfrm>
          <a:prstGeom prst="rect">
            <a:avLst/>
          </a:prstGeom>
          <a:noFill/>
          <a:ln>
            <a:noFill/>
          </a:ln>
        </p:spPr>
      </p:pic>
      <p:sp>
        <p:nvSpPr>
          <p:cNvPr id="22" name="Google Shape;22;p1"/>
          <p:cNvSpPr txBox="1"/>
          <p:nvPr/>
        </p:nvSpPr>
        <p:spPr>
          <a:xfrm>
            <a:off x="3813048" y="4279392"/>
            <a:ext cx="4745736" cy="21031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F604"/>
              </a:buClr>
              <a:buSzPts val="1150"/>
              <a:buFont typeface="Avenir"/>
              <a:buNone/>
            </a:pPr>
            <a:r>
              <a:rPr b="0" i="0" lang="en-US" sz="1150" u="none" cap="none" strike="noStrike">
                <a:solidFill>
                  <a:srgbClr val="00F604"/>
                </a:solidFill>
                <a:latin typeface="Avenir"/>
                <a:ea typeface="Avenir"/>
                <a:cs typeface="Avenir"/>
                <a:sym typeface="Avenir"/>
              </a:rPr>
              <a:t>Hint: try the Konami code.</a:t>
            </a:r>
            <a:endParaRPr b="0" i="0" sz="1150" u="none" cap="none" strike="noStrike">
              <a:solidFill>
                <a:schemeClr val="dk1"/>
              </a:solidFill>
              <a:latin typeface="Avenir"/>
              <a:ea typeface="Avenir"/>
              <a:cs typeface="Avenir"/>
              <a:sym typeface="Aveni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212"/>
        </a:solidFill>
      </p:bgPr>
    </p:bg>
    <p:spTree>
      <p:nvGrpSpPr>
        <p:cNvPr id="27" name="Shape 27"/>
        <p:cNvGrpSpPr/>
        <p:nvPr/>
      </p:nvGrpSpPr>
      <p:grpSpPr>
        <a:xfrm>
          <a:off x="0" y="0"/>
          <a:ext cx="0" cy="0"/>
          <a:chOff x="0" y="0"/>
          <a:chExt cx="0" cy="0"/>
        </a:xfrm>
      </p:grpSpPr>
      <p:sp>
        <p:nvSpPr>
          <p:cNvPr id="28" name="Google Shape;28;p3"/>
          <p:cNvSpPr/>
          <p:nvPr/>
        </p:nvSpPr>
        <p:spPr>
          <a:xfrm>
            <a:off x="585216" y="356616"/>
            <a:ext cx="91440" cy="438912"/>
          </a:xfrm>
          <a:prstGeom prst="rect">
            <a:avLst/>
          </a:prstGeom>
          <a:solidFill>
            <a:srgbClr val="00F604"/>
          </a:solidFill>
          <a:ln cap="flat" cmpd="sng" w="12700">
            <a:solidFill>
              <a:srgbClr val="00F604">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3"/>
          <p:cNvSpPr txBox="1"/>
          <p:nvPr/>
        </p:nvSpPr>
        <p:spPr>
          <a:xfrm>
            <a:off x="832104" y="356616"/>
            <a:ext cx="7726680" cy="512064"/>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F5F5F5"/>
              </a:buClr>
              <a:buSzPts val="3200"/>
              <a:buFont typeface="Avenir"/>
              <a:buNone/>
            </a:pPr>
            <a:r>
              <a:rPr b="1" i="0" lang="en-US" sz="3200" u="none" cap="none" strike="noStrike">
                <a:solidFill>
                  <a:srgbClr val="F5F5F5"/>
                </a:solidFill>
                <a:latin typeface="Avenir"/>
                <a:ea typeface="Avenir"/>
                <a:cs typeface="Avenir"/>
                <a:sym typeface="Avenir"/>
              </a:rPr>
              <a:t>Technology stack</a:t>
            </a:r>
            <a:endParaRPr b="0" i="0" sz="3200" u="none" cap="none" strike="noStrike">
              <a:solidFill>
                <a:schemeClr val="dk1"/>
              </a:solidFill>
              <a:latin typeface="Avenir"/>
              <a:ea typeface="Avenir"/>
              <a:cs typeface="Avenir"/>
              <a:sym typeface="Avenir"/>
            </a:endParaRPr>
          </a:p>
        </p:txBody>
      </p:sp>
      <p:sp>
        <p:nvSpPr>
          <p:cNvPr id="30" name="Google Shape;30;p3"/>
          <p:cNvSpPr txBox="1"/>
          <p:nvPr/>
        </p:nvSpPr>
        <p:spPr>
          <a:xfrm>
            <a:off x="585216" y="1316736"/>
            <a:ext cx="1737360" cy="228600"/>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00F604"/>
              </a:buClr>
              <a:buSzPts val="1100"/>
              <a:buFont typeface="Avenir"/>
              <a:buNone/>
            </a:pPr>
            <a:r>
              <a:rPr b="1" i="0" lang="en-US" sz="1100" u="none" cap="none" strike="noStrike">
                <a:solidFill>
                  <a:srgbClr val="00F604"/>
                </a:solidFill>
                <a:latin typeface="Avenir"/>
                <a:ea typeface="Avenir"/>
                <a:cs typeface="Avenir"/>
                <a:sym typeface="Avenir"/>
              </a:rPr>
              <a:t>FRONTEND</a:t>
            </a:r>
            <a:endParaRPr b="0" i="0" sz="1100" u="none" cap="none" strike="noStrike">
              <a:solidFill>
                <a:schemeClr val="dk1"/>
              </a:solidFill>
              <a:latin typeface="Avenir"/>
              <a:ea typeface="Avenir"/>
              <a:cs typeface="Avenir"/>
              <a:sym typeface="Avenir"/>
            </a:endParaRPr>
          </a:p>
        </p:txBody>
      </p:sp>
      <p:sp>
        <p:nvSpPr>
          <p:cNvPr id="31" name="Google Shape;31;p3"/>
          <p:cNvSpPr txBox="1"/>
          <p:nvPr/>
        </p:nvSpPr>
        <p:spPr>
          <a:xfrm>
            <a:off x="2468880" y="1261872"/>
            <a:ext cx="6089904" cy="329184"/>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F5F5F5"/>
              </a:buClr>
              <a:buSzPts val="2000"/>
              <a:buFont typeface="Avenir"/>
              <a:buNone/>
            </a:pPr>
            <a:r>
              <a:rPr b="1" i="0" lang="en-US" sz="2000" u="none" cap="none" strike="noStrike">
                <a:solidFill>
                  <a:srgbClr val="F5F5F5"/>
                </a:solidFill>
                <a:latin typeface="Avenir"/>
                <a:ea typeface="Avenir"/>
                <a:cs typeface="Avenir"/>
                <a:sym typeface="Avenir"/>
              </a:rPr>
              <a:t>Razor Pages, vanilla JavaScript, CSS</a:t>
            </a:r>
            <a:endParaRPr b="0" i="0" sz="2000" u="none" cap="none" strike="noStrike">
              <a:solidFill>
                <a:schemeClr val="dk1"/>
              </a:solidFill>
              <a:latin typeface="Avenir"/>
              <a:ea typeface="Avenir"/>
              <a:cs typeface="Avenir"/>
              <a:sym typeface="Avenir"/>
            </a:endParaRPr>
          </a:p>
        </p:txBody>
      </p:sp>
      <p:sp>
        <p:nvSpPr>
          <p:cNvPr id="32" name="Google Shape;32;p3"/>
          <p:cNvSpPr txBox="1"/>
          <p:nvPr/>
        </p:nvSpPr>
        <p:spPr>
          <a:xfrm>
            <a:off x="2468880" y="1609344"/>
            <a:ext cx="6089904" cy="219456"/>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A9ADB3"/>
              </a:buClr>
              <a:buSzPts val="1250"/>
              <a:buFont typeface="Avenir"/>
              <a:buNone/>
            </a:pPr>
            <a:r>
              <a:rPr b="0" i="0" lang="en-US" sz="1250" u="none" cap="none" strike="noStrike">
                <a:solidFill>
                  <a:srgbClr val="A9ADB3"/>
                </a:solidFill>
                <a:latin typeface="Avenir"/>
                <a:ea typeface="Avenir"/>
                <a:cs typeface="Avenir"/>
                <a:sym typeface="Avenir"/>
              </a:rPr>
              <a:t>No client framework or packages</a:t>
            </a:r>
            <a:endParaRPr b="0" i="0" sz="1250" u="none" cap="none" strike="noStrike">
              <a:solidFill>
                <a:schemeClr val="dk1"/>
              </a:solidFill>
              <a:latin typeface="Avenir"/>
              <a:ea typeface="Avenir"/>
              <a:cs typeface="Avenir"/>
              <a:sym typeface="Avenir"/>
            </a:endParaRPr>
          </a:p>
        </p:txBody>
      </p:sp>
      <p:cxnSp>
        <p:nvCxnSpPr>
          <p:cNvPr id="33" name="Google Shape;33;p3"/>
          <p:cNvCxnSpPr/>
          <p:nvPr/>
        </p:nvCxnSpPr>
        <p:spPr>
          <a:xfrm>
            <a:off x="585216" y="1993392"/>
            <a:ext cx="7973568" cy="0"/>
          </a:xfrm>
          <a:prstGeom prst="straightConnector1">
            <a:avLst/>
          </a:prstGeom>
          <a:noFill/>
          <a:ln cap="flat" cmpd="sng" w="9525">
            <a:solidFill>
              <a:srgbClr val="333333"/>
            </a:solidFill>
            <a:prstDash val="solid"/>
            <a:round/>
            <a:headEnd len="sm" w="sm" type="none"/>
            <a:tailEnd len="sm" w="sm" type="none"/>
          </a:ln>
        </p:spPr>
      </p:cxnSp>
      <p:sp>
        <p:nvSpPr>
          <p:cNvPr id="34" name="Google Shape;34;p3"/>
          <p:cNvSpPr txBox="1"/>
          <p:nvPr/>
        </p:nvSpPr>
        <p:spPr>
          <a:xfrm>
            <a:off x="585216" y="2231136"/>
            <a:ext cx="1737360" cy="228600"/>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00F604"/>
              </a:buClr>
              <a:buSzPts val="1100"/>
              <a:buFont typeface="Avenir"/>
              <a:buNone/>
            </a:pPr>
            <a:r>
              <a:rPr b="1" i="0" lang="en-US" sz="1100" u="none" cap="none" strike="noStrike">
                <a:solidFill>
                  <a:srgbClr val="00F604"/>
                </a:solidFill>
                <a:latin typeface="Avenir"/>
                <a:ea typeface="Avenir"/>
                <a:cs typeface="Avenir"/>
                <a:sym typeface="Avenir"/>
              </a:rPr>
              <a:t>BACKEND</a:t>
            </a:r>
            <a:endParaRPr b="0" i="0" sz="1100" u="none" cap="none" strike="noStrike">
              <a:solidFill>
                <a:schemeClr val="dk1"/>
              </a:solidFill>
              <a:latin typeface="Avenir"/>
              <a:ea typeface="Avenir"/>
              <a:cs typeface="Avenir"/>
              <a:sym typeface="Avenir"/>
            </a:endParaRPr>
          </a:p>
        </p:txBody>
      </p:sp>
      <p:sp>
        <p:nvSpPr>
          <p:cNvPr id="35" name="Google Shape;35;p3"/>
          <p:cNvSpPr txBox="1"/>
          <p:nvPr/>
        </p:nvSpPr>
        <p:spPr>
          <a:xfrm>
            <a:off x="2468880" y="2176272"/>
            <a:ext cx="6089904" cy="329184"/>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F5F5F5"/>
              </a:buClr>
              <a:buSzPts val="2000"/>
              <a:buFont typeface="Avenir"/>
              <a:buNone/>
            </a:pPr>
            <a:r>
              <a:rPr b="1" i="0" lang="en-US" sz="2000" u="none" cap="none" strike="noStrike">
                <a:solidFill>
                  <a:srgbClr val="F5F5F5"/>
                </a:solidFill>
                <a:latin typeface="Avenir"/>
                <a:ea typeface="Avenir"/>
                <a:cs typeface="Avenir"/>
                <a:sym typeface="Avenir"/>
              </a:rPr>
              <a:t>C# 14 on .NET 10</a:t>
            </a:r>
            <a:endParaRPr b="0" i="0" sz="2000" u="none" cap="none" strike="noStrike">
              <a:solidFill>
                <a:schemeClr val="dk1"/>
              </a:solidFill>
              <a:latin typeface="Avenir"/>
              <a:ea typeface="Avenir"/>
              <a:cs typeface="Avenir"/>
              <a:sym typeface="Avenir"/>
            </a:endParaRPr>
          </a:p>
        </p:txBody>
      </p:sp>
      <p:sp>
        <p:nvSpPr>
          <p:cNvPr id="36" name="Google Shape;36;p3"/>
          <p:cNvSpPr txBox="1"/>
          <p:nvPr/>
        </p:nvSpPr>
        <p:spPr>
          <a:xfrm>
            <a:off x="2468880" y="2523744"/>
            <a:ext cx="6089904" cy="219456"/>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A9ADB3"/>
              </a:buClr>
              <a:buSzPts val="1250"/>
              <a:buFont typeface="Avenir"/>
              <a:buNone/>
            </a:pPr>
            <a:r>
              <a:rPr b="0" i="0" lang="en-US" sz="1250" u="none" cap="none" strike="noStrike">
                <a:solidFill>
                  <a:srgbClr val="A9ADB3"/>
                </a:solidFill>
                <a:latin typeface="Avenir"/>
                <a:ea typeface="Avenir"/>
                <a:cs typeface="Avenir"/>
                <a:sym typeface="Avenir"/>
              </a:rPr>
              <a:t>ASP.NET Core</a:t>
            </a:r>
            <a:endParaRPr b="0" i="0" sz="1250" u="none" cap="none" strike="noStrike">
              <a:solidFill>
                <a:schemeClr val="dk1"/>
              </a:solidFill>
              <a:latin typeface="Avenir"/>
              <a:ea typeface="Avenir"/>
              <a:cs typeface="Avenir"/>
              <a:sym typeface="Avenir"/>
            </a:endParaRPr>
          </a:p>
        </p:txBody>
      </p:sp>
      <p:cxnSp>
        <p:nvCxnSpPr>
          <p:cNvPr id="37" name="Google Shape;37;p3"/>
          <p:cNvCxnSpPr/>
          <p:nvPr/>
        </p:nvCxnSpPr>
        <p:spPr>
          <a:xfrm>
            <a:off x="585216" y="2907792"/>
            <a:ext cx="7973568" cy="0"/>
          </a:xfrm>
          <a:prstGeom prst="straightConnector1">
            <a:avLst/>
          </a:prstGeom>
          <a:noFill/>
          <a:ln cap="flat" cmpd="sng" w="9525">
            <a:solidFill>
              <a:srgbClr val="333333"/>
            </a:solidFill>
            <a:prstDash val="solid"/>
            <a:round/>
            <a:headEnd len="sm" w="sm" type="none"/>
            <a:tailEnd len="sm" w="sm" type="none"/>
          </a:ln>
        </p:spPr>
      </p:cxnSp>
      <p:sp>
        <p:nvSpPr>
          <p:cNvPr id="38" name="Google Shape;38;p3"/>
          <p:cNvSpPr txBox="1"/>
          <p:nvPr/>
        </p:nvSpPr>
        <p:spPr>
          <a:xfrm>
            <a:off x="585216" y="3145536"/>
            <a:ext cx="1737360" cy="228600"/>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00F604"/>
              </a:buClr>
              <a:buSzPts val="1100"/>
              <a:buFont typeface="Avenir"/>
              <a:buNone/>
            </a:pPr>
            <a:r>
              <a:rPr b="1" i="0" lang="en-US" sz="1100" u="none" cap="none" strike="noStrike">
                <a:solidFill>
                  <a:srgbClr val="00F604"/>
                </a:solidFill>
                <a:latin typeface="Avenir"/>
                <a:ea typeface="Avenir"/>
                <a:cs typeface="Avenir"/>
                <a:sym typeface="Avenir"/>
              </a:rPr>
              <a:t>DATABASE</a:t>
            </a:r>
            <a:endParaRPr b="0" i="0" sz="1100" u="none" cap="none" strike="noStrike">
              <a:solidFill>
                <a:schemeClr val="dk1"/>
              </a:solidFill>
              <a:latin typeface="Avenir"/>
              <a:ea typeface="Avenir"/>
              <a:cs typeface="Avenir"/>
              <a:sym typeface="Avenir"/>
            </a:endParaRPr>
          </a:p>
        </p:txBody>
      </p:sp>
      <p:sp>
        <p:nvSpPr>
          <p:cNvPr id="39" name="Google Shape;39;p3"/>
          <p:cNvSpPr txBox="1"/>
          <p:nvPr/>
        </p:nvSpPr>
        <p:spPr>
          <a:xfrm>
            <a:off x="2468880" y="3090672"/>
            <a:ext cx="6089904" cy="329184"/>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F5F5F5"/>
              </a:buClr>
              <a:buSzPts val="2000"/>
              <a:buFont typeface="Avenir"/>
              <a:buNone/>
            </a:pPr>
            <a:r>
              <a:rPr b="1" i="0" lang="en-US" sz="2000" u="none" cap="none" strike="noStrike">
                <a:solidFill>
                  <a:srgbClr val="F5F5F5"/>
                </a:solidFill>
                <a:latin typeface="Avenir"/>
                <a:ea typeface="Avenir"/>
                <a:cs typeface="Avenir"/>
                <a:sym typeface="Avenir"/>
              </a:rPr>
              <a:t>SQLite via EF Core 10</a:t>
            </a:r>
            <a:endParaRPr b="0" i="0" sz="2000" u="none" cap="none" strike="noStrike">
              <a:solidFill>
                <a:schemeClr val="dk1"/>
              </a:solidFill>
              <a:latin typeface="Avenir"/>
              <a:ea typeface="Avenir"/>
              <a:cs typeface="Avenir"/>
              <a:sym typeface="Avenir"/>
            </a:endParaRPr>
          </a:p>
        </p:txBody>
      </p:sp>
      <p:sp>
        <p:nvSpPr>
          <p:cNvPr id="40" name="Google Shape;40;p3"/>
          <p:cNvSpPr txBox="1"/>
          <p:nvPr/>
        </p:nvSpPr>
        <p:spPr>
          <a:xfrm>
            <a:off x="2468880" y="3438144"/>
            <a:ext cx="6089904" cy="219456"/>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A9ADB3"/>
              </a:buClr>
              <a:buSzPts val="1250"/>
              <a:buFont typeface="Avenir"/>
              <a:buNone/>
            </a:pPr>
            <a:r>
              <a:rPr b="0" i="0" lang="en-US" sz="1250" u="none" cap="none" strike="noStrike">
                <a:solidFill>
                  <a:srgbClr val="A9ADB3"/>
                </a:solidFill>
                <a:latin typeface="Avenir"/>
                <a:ea typeface="Avenir"/>
                <a:cs typeface="Avenir"/>
                <a:sym typeface="Avenir"/>
              </a:rPr>
              <a:t>Code-first migrations</a:t>
            </a:r>
            <a:endParaRPr b="0" i="0" sz="1250" u="none" cap="none" strike="noStrike">
              <a:solidFill>
                <a:schemeClr val="dk1"/>
              </a:solidFill>
              <a:latin typeface="Avenir"/>
              <a:ea typeface="Avenir"/>
              <a:cs typeface="Avenir"/>
              <a:sym typeface="Avenir"/>
            </a:endParaRPr>
          </a:p>
        </p:txBody>
      </p:sp>
      <p:cxnSp>
        <p:nvCxnSpPr>
          <p:cNvPr id="41" name="Google Shape;41;p3"/>
          <p:cNvCxnSpPr/>
          <p:nvPr/>
        </p:nvCxnSpPr>
        <p:spPr>
          <a:xfrm>
            <a:off x="585216" y="3822192"/>
            <a:ext cx="7973568" cy="0"/>
          </a:xfrm>
          <a:prstGeom prst="straightConnector1">
            <a:avLst/>
          </a:prstGeom>
          <a:noFill/>
          <a:ln cap="flat" cmpd="sng" w="9525">
            <a:solidFill>
              <a:srgbClr val="333333"/>
            </a:solidFill>
            <a:prstDash val="solid"/>
            <a:round/>
            <a:headEnd len="sm" w="sm" type="none"/>
            <a:tailEnd len="sm" w="sm" type="none"/>
          </a:ln>
        </p:spPr>
      </p:cxnSp>
      <p:sp>
        <p:nvSpPr>
          <p:cNvPr id="42" name="Google Shape;42;p3"/>
          <p:cNvSpPr txBox="1"/>
          <p:nvPr/>
        </p:nvSpPr>
        <p:spPr>
          <a:xfrm>
            <a:off x="585216" y="4059936"/>
            <a:ext cx="1737360" cy="228600"/>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00F604"/>
              </a:buClr>
              <a:buSzPts val="1100"/>
              <a:buFont typeface="Avenir"/>
              <a:buNone/>
            </a:pPr>
            <a:r>
              <a:rPr b="1" i="0" lang="en-US" sz="1100" u="none" cap="none" strike="noStrike">
                <a:solidFill>
                  <a:srgbClr val="00F604"/>
                </a:solidFill>
                <a:latin typeface="Avenir"/>
                <a:ea typeface="Avenir"/>
                <a:cs typeface="Avenir"/>
                <a:sym typeface="Avenir"/>
              </a:rPr>
              <a:t>TESTING</a:t>
            </a:r>
            <a:endParaRPr b="0" i="0" sz="1100" u="none" cap="none" strike="noStrike">
              <a:solidFill>
                <a:schemeClr val="dk1"/>
              </a:solidFill>
              <a:latin typeface="Avenir"/>
              <a:ea typeface="Avenir"/>
              <a:cs typeface="Avenir"/>
              <a:sym typeface="Avenir"/>
            </a:endParaRPr>
          </a:p>
        </p:txBody>
      </p:sp>
      <p:sp>
        <p:nvSpPr>
          <p:cNvPr id="43" name="Google Shape;43;p3"/>
          <p:cNvSpPr txBox="1"/>
          <p:nvPr/>
        </p:nvSpPr>
        <p:spPr>
          <a:xfrm>
            <a:off x="2468880" y="4005072"/>
            <a:ext cx="6089904" cy="329184"/>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F5F5F5"/>
              </a:buClr>
              <a:buSzPts val="2000"/>
              <a:buFont typeface="Avenir"/>
              <a:buNone/>
            </a:pPr>
            <a:r>
              <a:rPr b="1" i="0" lang="en-US" sz="2000" u="none" cap="none" strike="noStrike">
                <a:solidFill>
                  <a:srgbClr val="F5F5F5"/>
                </a:solidFill>
                <a:latin typeface="Avenir"/>
                <a:ea typeface="Avenir"/>
                <a:cs typeface="Avenir"/>
                <a:sym typeface="Avenir"/>
              </a:rPr>
              <a:t>xUnit, WebApplicationFactory, coverlet</a:t>
            </a:r>
            <a:endParaRPr b="0" i="0" sz="2000" u="none" cap="none" strike="noStrike">
              <a:solidFill>
                <a:schemeClr val="dk1"/>
              </a:solidFill>
              <a:latin typeface="Avenir"/>
              <a:ea typeface="Avenir"/>
              <a:cs typeface="Avenir"/>
              <a:sym typeface="Aveni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212"/>
        </a:solidFill>
      </p:bgPr>
    </p:bg>
    <p:spTree>
      <p:nvGrpSpPr>
        <p:cNvPr id="48" name="Shape 48"/>
        <p:cNvGrpSpPr/>
        <p:nvPr/>
      </p:nvGrpSpPr>
      <p:grpSpPr>
        <a:xfrm>
          <a:off x="0" y="0"/>
          <a:ext cx="0" cy="0"/>
          <a:chOff x="0" y="0"/>
          <a:chExt cx="0" cy="0"/>
        </a:xfrm>
      </p:grpSpPr>
      <p:sp>
        <p:nvSpPr>
          <p:cNvPr id="49" name="Google Shape;49;p4"/>
          <p:cNvSpPr/>
          <p:nvPr/>
        </p:nvSpPr>
        <p:spPr>
          <a:xfrm>
            <a:off x="585216" y="356616"/>
            <a:ext cx="91440" cy="438912"/>
          </a:xfrm>
          <a:prstGeom prst="rect">
            <a:avLst/>
          </a:prstGeom>
          <a:solidFill>
            <a:srgbClr val="00F604"/>
          </a:solidFill>
          <a:ln cap="flat" cmpd="sng" w="12700">
            <a:solidFill>
              <a:srgbClr val="00F604">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4"/>
          <p:cNvSpPr txBox="1"/>
          <p:nvPr/>
        </p:nvSpPr>
        <p:spPr>
          <a:xfrm>
            <a:off x="832104" y="356616"/>
            <a:ext cx="7726680" cy="512064"/>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F5F5F5"/>
              </a:buClr>
              <a:buSzPts val="3200"/>
              <a:buFont typeface="Avenir"/>
              <a:buNone/>
            </a:pPr>
            <a:r>
              <a:rPr b="1" i="0" lang="en-US" sz="3200" u="none" cap="none" strike="noStrike">
                <a:solidFill>
                  <a:srgbClr val="F5F5F5"/>
                </a:solidFill>
                <a:latin typeface="Avenir"/>
                <a:ea typeface="Avenir"/>
                <a:cs typeface="Avenir"/>
                <a:sym typeface="Avenir"/>
              </a:rPr>
              <a:t>Decisions and costs</a:t>
            </a:r>
            <a:endParaRPr b="0" i="0" sz="3200" u="none" cap="none" strike="noStrike">
              <a:solidFill>
                <a:schemeClr val="dk1"/>
              </a:solidFill>
              <a:latin typeface="Avenir"/>
              <a:ea typeface="Avenir"/>
              <a:cs typeface="Avenir"/>
              <a:sym typeface="Avenir"/>
            </a:endParaRPr>
          </a:p>
        </p:txBody>
      </p:sp>
      <p:graphicFrame>
        <p:nvGraphicFramePr>
          <p:cNvPr id="51" name="Google Shape;51;p4"/>
          <p:cNvGraphicFramePr/>
          <p:nvPr/>
        </p:nvGraphicFramePr>
        <p:xfrm>
          <a:off x="585216" y="1161288"/>
          <a:ext cx="3000000" cy="3000000"/>
        </p:xfrm>
        <a:graphic>
          <a:graphicData uri="http://schemas.openxmlformats.org/drawingml/2006/table">
            <a:tbl>
              <a:tblPr>
                <a:noFill/>
                <a:tableStyleId>{0B7318C8-4767-44D0-9B3B-6969AC79C222}</a:tableStyleId>
              </a:tblPr>
              <a:tblGrid>
                <a:gridCol w="3977650"/>
                <a:gridCol w="3995925"/>
              </a:tblGrid>
              <a:tr h="384050">
                <a:tc>
                  <a:txBody>
                    <a:bodyPr/>
                    <a:lstStyle/>
                    <a:p>
                      <a:pPr indent="0" lvl="0" marL="0" marR="0" rtl="0" algn="l">
                        <a:spcBef>
                          <a:spcPts val="0"/>
                        </a:spcBef>
                        <a:spcAft>
                          <a:spcPts val="0"/>
                        </a:spcAft>
                        <a:buClr>
                          <a:srgbClr val="00F604"/>
                        </a:buClr>
                        <a:buSzPts val="1250"/>
                        <a:buFont typeface="Avenir"/>
                        <a:buNone/>
                      </a:pPr>
                      <a:r>
                        <a:rPr b="1" lang="en-US" sz="1250" u="none" cap="none" strike="noStrike">
                          <a:solidFill>
                            <a:srgbClr val="00F604"/>
                          </a:solidFill>
                          <a:latin typeface="Avenir"/>
                          <a:ea typeface="Avenir"/>
                          <a:cs typeface="Avenir"/>
                          <a:sym typeface="Avenir"/>
                        </a:rPr>
                        <a:t>DECISION</a:t>
                      </a:r>
                      <a:endParaRPr sz="1250" u="none" cap="none" strike="noStrike">
                        <a:latin typeface="Avenir"/>
                        <a:ea typeface="Avenir"/>
                        <a:cs typeface="Avenir"/>
                        <a:sym typeface="Avenir"/>
                      </a:endParaRPr>
                    </a:p>
                  </a:txBody>
                  <a:tcPr marT="91450" marB="91450" marR="91450" marL="91450">
                    <a:lnL cap="flat" cmpd="sng" w="9525">
                      <a:solidFill>
                        <a:srgbClr val="333333"/>
                      </a:solidFill>
                      <a:prstDash val="solid"/>
                      <a:round/>
                      <a:headEnd len="sm" w="sm" type="none"/>
                      <a:tailEnd len="sm" w="sm" type="none"/>
                    </a:lnL>
                    <a:lnR cap="flat" cmpd="sng" w="9525">
                      <a:solidFill>
                        <a:srgbClr val="333333"/>
                      </a:solidFill>
                      <a:prstDash val="solid"/>
                      <a:round/>
                      <a:headEnd len="sm" w="sm" type="none"/>
                      <a:tailEnd len="sm" w="sm" type="none"/>
                    </a:lnR>
                    <a:lnT cap="flat" cmpd="sng" w="9525">
                      <a:solidFill>
                        <a:srgbClr val="333333"/>
                      </a:solidFill>
                      <a:prstDash val="solid"/>
                      <a:round/>
                      <a:headEnd len="sm" w="sm" type="none"/>
                      <a:tailEnd len="sm" w="sm" type="none"/>
                    </a:lnT>
                    <a:lnB cap="flat" cmpd="sng" w="9525">
                      <a:solidFill>
                        <a:srgbClr val="333333"/>
                      </a:solidFill>
                      <a:prstDash val="solid"/>
                      <a:round/>
                      <a:headEnd len="sm" w="sm" type="none"/>
                      <a:tailEnd len="sm" w="sm" type="none"/>
                    </a:lnB>
                    <a:solidFill>
                      <a:srgbClr val="121212"/>
                    </a:solidFill>
                  </a:tcPr>
                </a:tc>
                <a:tc>
                  <a:txBody>
                    <a:bodyPr/>
                    <a:lstStyle/>
                    <a:p>
                      <a:pPr indent="0" lvl="0" marL="0" marR="0" rtl="0" algn="l">
                        <a:spcBef>
                          <a:spcPts val="0"/>
                        </a:spcBef>
                        <a:spcAft>
                          <a:spcPts val="0"/>
                        </a:spcAft>
                        <a:buClr>
                          <a:srgbClr val="F67F00"/>
                        </a:buClr>
                        <a:buSzPts val="1250"/>
                        <a:buFont typeface="Avenir"/>
                        <a:buNone/>
                      </a:pPr>
                      <a:r>
                        <a:rPr b="1" lang="en-US" sz="1250" u="none" cap="none" strike="noStrike">
                          <a:solidFill>
                            <a:srgbClr val="F67F00"/>
                          </a:solidFill>
                          <a:latin typeface="Avenir"/>
                          <a:ea typeface="Avenir"/>
                          <a:cs typeface="Avenir"/>
                          <a:sym typeface="Avenir"/>
                        </a:rPr>
                        <a:t>COST</a:t>
                      </a:r>
                      <a:endParaRPr sz="1250" u="none" cap="none" strike="noStrike">
                        <a:latin typeface="Avenir"/>
                        <a:ea typeface="Avenir"/>
                        <a:cs typeface="Avenir"/>
                        <a:sym typeface="Avenir"/>
                      </a:endParaRPr>
                    </a:p>
                  </a:txBody>
                  <a:tcPr marT="91450" marB="91450" marR="91450" marL="91450">
                    <a:lnL cap="flat" cmpd="sng" w="9525">
                      <a:solidFill>
                        <a:srgbClr val="333333"/>
                      </a:solidFill>
                      <a:prstDash val="solid"/>
                      <a:round/>
                      <a:headEnd len="sm" w="sm" type="none"/>
                      <a:tailEnd len="sm" w="sm" type="none"/>
                    </a:lnL>
                    <a:lnR cap="flat" cmpd="sng" w="9525">
                      <a:solidFill>
                        <a:srgbClr val="333333"/>
                      </a:solidFill>
                      <a:prstDash val="solid"/>
                      <a:round/>
                      <a:headEnd len="sm" w="sm" type="none"/>
                      <a:tailEnd len="sm" w="sm" type="none"/>
                    </a:lnR>
                    <a:lnT cap="flat" cmpd="sng" w="9525">
                      <a:solidFill>
                        <a:srgbClr val="333333"/>
                      </a:solidFill>
                      <a:prstDash val="solid"/>
                      <a:round/>
                      <a:headEnd len="sm" w="sm" type="none"/>
                      <a:tailEnd len="sm" w="sm" type="none"/>
                    </a:lnT>
                    <a:lnB cap="flat" cmpd="sng" w="9525">
                      <a:solidFill>
                        <a:srgbClr val="333333"/>
                      </a:solidFill>
                      <a:prstDash val="solid"/>
                      <a:round/>
                      <a:headEnd len="sm" w="sm" type="none"/>
                      <a:tailEnd len="sm" w="sm" type="none"/>
                    </a:lnB>
                    <a:solidFill>
                      <a:srgbClr val="121212"/>
                    </a:solidFill>
                  </a:tcPr>
                </a:tc>
              </a:tr>
              <a:tr h="740675">
                <a:tc>
                  <a:txBody>
                    <a:bodyPr/>
                    <a:lstStyle/>
                    <a:p>
                      <a:pPr indent="0" lvl="0" marL="0" marR="0" rtl="0" algn="l">
                        <a:spcBef>
                          <a:spcPts val="0"/>
                        </a:spcBef>
                        <a:spcAft>
                          <a:spcPts val="0"/>
                        </a:spcAft>
                        <a:buClr>
                          <a:srgbClr val="F5F5F5"/>
                        </a:buClr>
                        <a:buSzPts val="1700"/>
                        <a:buFont typeface="Avenir"/>
                        <a:buNone/>
                      </a:pPr>
                      <a:r>
                        <a:rPr b="1" lang="en-US" sz="1700" u="none" cap="none" strike="noStrike">
                          <a:solidFill>
                            <a:srgbClr val="F5F5F5"/>
                          </a:solidFill>
                          <a:latin typeface="Avenir"/>
                          <a:ea typeface="Avenir"/>
                          <a:cs typeface="Avenir"/>
                          <a:sym typeface="Avenir"/>
                        </a:rPr>
                        <a:t>Razor Pages</a:t>
                      </a:r>
                      <a:endParaRPr sz="1700" u="none" cap="none" strike="noStrike">
                        <a:latin typeface="Avenir"/>
                        <a:ea typeface="Avenir"/>
                        <a:cs typeface="Avenir"/>
                        <a:sym typeface="Avenir"/>
                      </a:endParaRPr>
                    </a:p>
                  </a:txBody>
                  <a:tcPr marT="91450" marB="91450" marR="91450" marL="91450" anchor="ctr">
                    <a:lnL cap="flat" cmpd="sng" w="9525">
                      <a:solidFill>
                        <a:srgbClr val="333333"/>
                      </a:solidFill>
                      <a:prstDash val="solid"/>
                      <a:round/>
                      <a:headEnd len="sm" w="sm" type="none"/>
                      <a:tailEnd len="sm" w="sm" type="none"/>
                    </a:lnL>
                    <a:lnR cap="flat" cmpd="sng" w="9525">
                      <a:solidFill>
                        <a:srgbClr val="333333"/>
                      </a:solidFill>
                      <a:prstDash val="solid"/>
                      <a:round/>
                      <a:headEnd len="sm" w="sm" type="none"/>
                      <a:tailEnd len="sm" w="sm" type="none"/>
                    </a:lnR>
                    <a:lnT cap="flat" cmpd="sng" w="9525">
                      <a:solidFill>
                        <a:srgbClr val="333333"/>
                      </a:solidFill>
                      <a:prstDash val="solid"/>
                      <a:round/>
                      <a:headEnd len="sm" w="sm" type="none"/>
                      <a:tailEnd len="sm" w="sm" type="none"/>
                    </a:lnT>
                    <a:lnB cap="flat" cmpd="sng" w="9525">
                      <a:solidFill>
                        <a:srgbClr val="333333"/>
                      </a:solidFill>
                      <a:prstDash val="solid"/>
                      <a:round/>
                      <a:headEnd len="sm" w="sm" type="none"/>
                      <a:tailEnd len="sm" w="sm" type="none"/>
                    </a:lnB>
                    <a:solidFill>
                      <a:srgbClr val="121212"/>
                    </a:solidFill>
                  </a:tcPr>
                </a:tc>
                <a:tc>
                  <a:txBody>
                    <a:bodyPr/>
                    <a:lstStyle/>
                    <a:p>
                      <a:pPr indent="0" lvl="0" marL="0" marR="0" rtl="0" algn="l">
                        <a:spcBef>
                          <a:spcPts val="0"/>
                        </a:spcBef>
                        <a:spcAft>
                          <a:spcPts val="0"/>
                        </a:spcAft>
                        <a:buClr>
                          <a:srgbClr val="A9ADB3"/>
                        </a:buClr>
                        <a:buSzPts val="1700"/>
                        <a:buFont typeface="Avenir"/>
                        <a:buNone/>
                      </a:pPr>
                      <a:r>
                        <a:rPr lang="en-US" sz="1700" u="none" cap="none" strike="noStrike">
                          <a:solidFill>
                            <a:srgbClr val="A9ADB3"/>
                          </a:solidFill>
                          <a:latin typeface="Avenir"/>
                          <a:ea typeface="Avenir"/>
                          <a:cs typeface="Avenir"/>
                          <a:sym typeface="Avenir"/>
                        </a:rPr>
                        <a:t>Full page reload per action</a:t>
                      </a:r>
                      <a:endParaRPr sz="1700" u="none" cap="none" strike="noStrike">
                        <a:latin typeface="Avenir"/>
                        <a:ea typeface="Avenir"/>
                        <a:cs typeface="Avenir"/>
                        <a:sym typeface="Avenir"/>
                      </a:endParaRPr>
                    </a:p>
                  </a:txBody>
                  <a:tcPr marT="91450" marB="91450" marR="91450" marL="91450" anchor="ctr">
                    <a:lnL cap="flat" cmpd="sng" w="9525">
                      <a:solidFill>
                        <a:srgbClr val="333333"/>
                      </a:solidFill>
                      <a:prstDash val="solid"/>
                      <a:round/>
                      <a:headEnd len="sm" w="sm" type="none"/>
                      <a:tailEnd len="sm" w="sm" type="none"/>
                    </a:lnL>
                    <a:lnR cap="flat" cmpd="sng" w="9525">
                      <a:solidFill>
                        <a:srgbClr val="333333"/>
                      </a:solidFill>
                      <a:prstDash val="solid"/>
                      <a:round/>
                      <a:headEnd len="sm" w="sm" type="none"/>
                      <a:tailEnd len="sm" w="sm" type="none"/>
                    </a:lnR>
                    <a:lnT cap="flat" cmpd="sng" w="9525">
                      <a:solidFill>
                        <a:srgbClr val="333333"/>
                      </a:solidFill>
                      <a:prstDash val="solid"/>
                      <a:round/>
                      <a:headEnd len="sm" w="sm" type="none"/>
                      <a:tailEnd len="sm" w="sm" type="none"/>
                    </a:lnT>
                    <a:lnB cap="flat" cmpd="sng" w="9525">
                      <a:solidFill>
                        <a:srgbClr val="333333"/>
                      </a:solidFill>
                      <a:prstDash val="solid"/>
                      <a:round/>
                      <a:headEnd len="sm" w="sm" type="none"/>
                      <a:tailEnd len="sm" w="sm" type="none"/>
                    </a:lnB>
                    <a:solidFill>
                      <a:srgbClr val="121212"/>
                    </a:solidFill>
                  </a:tcPr>
                </a:tc>
              </a:tr>
              <a:tr h="740675">
                <a:tc>
                  <a:txBody>
                    <a:bodyPr/>
                    <a:lstStyle/>
                    <a:p>
                      <a:pPr indent="0" lvl="0" marL="0" marR="0" rtl="0" algn="l">
                        <a:spcBef>
                          <a:spcPts val="0"/>
                        </a:spcBef>
                        <a:spcAft>
                          <a:spcPts val="0"/>
                        </a:spcAft>
                        <a:buClr>
                          <a:srgbClr val="F5F5F5"/>
                        </a:buClr>
                        <a:buSzPts val="1700"/>
                        <a:buFont typeface="Avenir"/>
                        <a:buNone/>
                      </a:pPr>
                      <a:r>
                        <a:rPr b="1" lang="en-US" sz="1700" u="none" cap="none" strike="noStrike">
                          <a:solidFill>
                            <a:srgbClr val="F5F5F5"/>
                          </a:solidFill>
                          <a:latin typeface="Avenir"/>
                          <a:ea typeface="Avenir"/>
                          <a:cs typeface="Avenir"/>
                          <a:sym typeface="Avenir"/>
                        </a:rPr>
                        <a:t>Modular monolith</a:t>
                      </a:r>
                      <a:endParaRPr sz="1700" u="none" cap="none" strike="noStrike">
                        <a:latin typeface="Avenir"/>
                        <a:ea typeface="Avenir"/>
                        <a:cs typeface="Avenir"/>
                        <a:sym typeface="Avenir"/>
                      </a:endParaRPr>
                    </a:p>
                  </a:txBody>
                  <a:tcPr marT="91450" marB="91450" marR="91450" marL="91450" anchor="ctr">
                    <a:lnL cap="flat" cmpd="sng" w="9525">
                      <a:solidFill>
                        <a:srgbClr val="333333"/>
                      </a:solidFill>
                      <a:prstDash val="solid"/>
                      <a:round/>
                      <a:headEnd len="sm" w="sm" type="none"/>
                      <a:tailEnd len="sm" w="sm" type="none"/>
                    </a:lnL>
                    <a:lnR cap="flat" cmpd="sng" w="9525">
                      <a:solidFill>
                        <a:srgbClr val="333333"/>
                      </a:solidFill>
                      <a:prstDash val="solid"/>
                      <a:round/>
                      <a:headEnd len="sm" w="sm" type="none"/>
                      <a:tailEnd len="sm" w="sm" type="none"/>
                    </a:lnR>
                    <a:lnT cap="flat" cmpd="sng" w="9525">
                      <a:solidFill>
                        <a:srgbClr val="333333"/>
                      </a:solidFill>
                      <a:prstDash val="solid"/>
                      <a:round/>
                      <a:headEnd len="sm" w="sm" type="none"/>
                      <a:tailEnd len="sm" w="sm" type="none"/>
                    </a:lnT>
                    <a:lnB cap="flat" cmpd="sng" w="9525">
                      <a:solidFill>
                        <a:srgbClr val="333333"/>
                      </a:solidFill>
                      <a:prstDash val="solid"/>
                      <a:round/>
                      <a:headEnd len="sm" w="sm" type="none"/>
                      <a:tailEnd len="sm" w="sm" type="none"/>
                    </a:lnB>
                    <a:solidFill>
                      <a:srgbClr val="121212"/>
                    </a:solidFill>
                  </a:tcPr>
                </a:tc>
                <a:tc>
                  <a:txBody>
                    <a:bodyPr/>
                    <a:lstStyle/>
                    <a:p>
                      <a:pPr indent="0" lvl="0" marL="0" marR="0" rtl="0" algn="l">
                        <a:spcBef>
                          <a:spcPts val="0"/>
                        </a:spcBef>
                        <a:spcAft>
                          <a:spcPts val="0"/>
                        </a:spcAft>
                        <a:buClr>
                          <a:srgbClr val="A9ADB3"/>
                        </a:buClr>
                        <a:buSzPts val="1700"/>
                        <a:buFont typeface="Avenir"/>
                        <a:buNone/>
                      </a:pPr>
                      <a:r>
                        <a:rPr lang="en-US" sz="1700" u="none" cap="none" strike="noStrike">
                          <a:solidFill>
                            <a:srgbClr val="A9ADB3"/>
                          </a:solidFill>
                          <a:latin typeface="Avenir"/>
                          <a:ea typeface="Avenir"/>
                          <a:cs typeface="Avenir"/>
                          <a:sym typeface="Avenir"/>
                        </a:rPr>
                        <a:t>One feature spans four projects</a:t>
                      </a:r>
                      <a:endParaRPr sz="1700" u="none" cap="none" strike="noStrike">
                        <a:latin typeface="Avenir"/>
                        <a:ea typeface="Avenir"/>
                        <a:cs typeface="Avenir"/>
                        <a:sym typeface="Avenir"/>
                      </a:endParaRPr>
                    </a:p>
                  </a:txBody>
                  <a:tcPr marT="91450" marB="91450" marR="91450" marL="91450" anchor="ctr">
                    <a:lnL cap="flat" cmpd="sng" w="9525">
                      <a:solidFill>
                        <a:srgbClr val="333333"/>
                      </a:solidFill>
                      <a:prstDash val="solid"/>
                      <a:round/>
                      <a:headEnd len="sm" w="sm" type="none"/>
                      <a:tailEnd len="sm" w="sm" type="none"/>
                    </a:lnL>
                    <a:lnR cap="flat" cmpd="sng" w="9525">
                      <a:solidFill>
                        <a:srgbClr val="333333"/>
                      </a:solidFill>
                      <a:prstDash val="solid"/>
                      <a:round/>
                      <a:headEnd len="sm" w="sm" type="none"/>
                      <a:tailEnd len="sm" w="sm" type="none"/>
                    </a:lnR>
                    <a:lnT cap="flat" cmpd="sng" w="9525">
                      <a:solidFill>
                        <a:srgbClr val="333333"/>
                      </a:solidFill>
                      <a:prstDash val="solid"/>
                      <a:round/>
                      <a:headEnd len="sm" w="sm" type="none"/>
                      <a:tailEnd len="sm" w="sm" type="none"/>
                    </a:lnT>
                    <a:lnB cap="flat" cmpd="sng" w="9525">
                      <a:solidFill>
                        <a:srgbClr val="333333"/>
                      </a:solidFill>
                      <a:prstDash val="solid"/>
                      <a:round/>
                      <a:headEnd len="sm" w="sm" type="none"/>
                      <a:tailEnd len="sm" w="sm" type="none"/>
                    </a:lnB>
                    <a:solidFill>
                      <a:srgbClr val="121212"/>
                    </a:solidFill>
                  </a:tcPr>
                </a:tc>
              </a:tr>
              <a:tr h="740675">
                <a:tc>
                  <a:txBody>
                    <a:bodyPr/>
                    <a:lstStyle/>
                    <a:p>
                      <a:pPr indent="0" lvl="0" marL="0" marR="0" rtl="0" algn="l">
                        <a:spcBef>
                          <a:spcPts val="0"/>
                        </a:spcBef>
                        <a:spcAft>
                          <a:spcPts val="0"/>
                        </a:spcAft>
                        <a:buClr>
                          <a:srgbClr val="F5F5F5"/>
                        </a:buClr>
                        <a:buSzPts val="1700"/>
                        <a:buFont typeface="Avenir"/>
                        <a:buNone/>
                      </a:pPr>
                      <a:r>
                        <a:rPr b="1" lang="en-US" sz="1700" u="none" cap="none" strike="noStrike">
                          <a:solidFill>
                            <a:srgbClr val="F5F5F5"/>
                          </a:solidFill>
                          <a:latin typeface="Avenir"/>
                          <a:ea typeface="Avenir"/>
                          <a:cs typeface="Avenir"/>
                          <a:sym typeface="Avenir"/>
                        </a:rPr>
                        <a:t>SQLite + EF Core</a:t>
                      </a:r>
                      <a:endParaRPr sz="1700" u="none" cap="none" strike="noStrike">
                        <a:latin typeface="Avenir"/>
                        <a:ea typeface="Avenir"/>
                        <a:cs typeface="Avenir"/>
                        <a:sym typeface="Avenir"/>
                      </a:endParaRPr>
                    </a:p>
                  </a:txBody>
                  <a:tcPr marT="91450" marB="91450" marR="91450" marL="91450" anchor="ctr">
                    <a:lnL cap="flat" cmpd="sng" w="9525">
                      <a:solidFill>
                        <a:srgbClr val="333333"/>
                      </a:solidFill>
                      <a:prstDash val="solid"/>
                      <a:round/>
                      <a:headEnd len="sm" w="sm" type="none"/>
                      <a:tailEnd len="sm" w="sm" type="none"/>
                    </a:lnL>
                    <a:lnR cap="flat" cmpd="sng" w="9525">
                      <a:solidFill>
                        <a:srgbClr val="333333"/>
                      </a:solidFill>
                      <a:prstDash val="solid"/>
                      <a:round/>
                      <a:headEnd len="sm" w="sm" type="none"/>
                      <a:tailEnd len="sm" w="sm" type="none"/>
                    </a:lnR>
                    <a:lnT cap="flat" cmpd="sng" w="9525">
                      <a:solidFill>
                        <a:srgbClr val="333333"/>
                      </a:solidFill>
                      <a:prstDash val="solid"/>
                      <a:round/>
                      <a:headEnd len="sm" w="sm" type="none"/>
                      <a:tailEnd len="sm" w="sm" type="none"/>
                    </a:lnT>
                    <a:lnB cap="flat" cmpd="sng" w="9525">
                      <a:solidFill>
                        <a:srgbClr val="333333"/>
                      </a:solidFill>
                      <a:prstDash val="solid"/>
                      <a:round/>
                      <a:headEnd len="sm" w="sm" type="none"/>
                      <a:tailEnd len="sm" w="sm" type="none"/>
                    </a:lnB>
                    <a:solidFill>
                      <a:srgbClr val="121212"/>
                    </a:solidFill>
                  </a:tcPr>
                </a:tc>
                <a:tc>
                  <a:txBody>
                    <a:bodyPr/>
                    <a:lstStyle/>
                    <a:p>
                      <a:pPr indent="0" lvl="0" marL="0" marR="0" rtl="0" algn="l">
                        <a:spcBef>
                          <a:spcPts val="0"/>
                        </a:spcBef>
                        <a:spcAft>
                          <a:spcPts val="0"/>
                        </a:spcAft>
                        <a:buClr>
                          <a:srgbClr val="A9ADB3"/>
                        </a:buClr>
                        <a:buSzPts val="1700"/>
                        <a:buFont typeface="Avenir"/>
                        <a:buNone/>
                      </a:pPr>
                      <a:r>
                        <a:rPr lang="en-US" sz="1700" u="none" cap="none" strike="noStrike">
                          <a:solidFill>
                            <a:srgbClr val="A9ADB3"/>
                          </a:solidFill>
                          <a:latin typeface="Avenir"/>
                          <a:ea typeface="Avenir"/>
                          <a:cs typeface="Avenir"/>
                          <a:sym typeface="Avenir"/>
                        </a:rPr>
                        <a:t>Single-writer ceiling</a:t>
                      </a:r>
                      <a:endParaRPr sz="1700" u="none" cap="none" strike="noStrike">
                        <a:latin typeface="Avenir"/>
                        <a:ea typeface="Avenir"/>
                        <a:cs typeface="Avenir"/>
                        <a:sym typeface="Avenir"/>
                      </a:endParaRPr>
                    </a:p>
                  </a:txBody>
                  <a:tcPr marT="91450" marB="91450" marR="91450" marL="91450" anchor="ctr">
                    <a:lnL cap="flat" cmpd="sng" w="9525">
                      <a:solidFill>
                        <a:srgbClr val="333333"/>
                      </a:solidFill>
                      <a:prstDash val="solid"/>
                      <a:round/>
                      <a:headEnd len="sm" w="sm" type="none"/>
                      <a:tailEnd len="sm" w="sm" type="none"/>
                    </a:lnL>
                    <a:lnR cap="flat" cmpd="sng" w="9525">
                      <a:solidFill>
                        <a:srgbClr val="333333"/>
                      </a:solidFill>
                      <a:prstDash val="solid"/>
                      <a:round/>
                      <a:headEnd len="sm" w="sm" type="none"/>
                      <a:tailEnd len="sm" w="sm" type="none"/>
                    </a:lnR>
                    <a:lnT cap="flat" cmpd="sng" w="9525">
                      <a:solidFill>
                        <a:srgbClr val="333333"/>
                      </a:solidFill>
                      <a:prstDash val="solid"/>
                      <a:round/>
                      <a:headEnd len="sm" w="sm" type="none"/>
                      <a:tailEnd len="sm" w="sm" type="none"/>
                    </a:lnT>
                    <a:lnB cap="flat" cmpd="sng" w="9525">
                      <a:solidFill>
                        <a:srgbClr val="333333"/>
                      </a:solidFill>
                      <a:prstDash val="solid"/>
                      <a:round/>
                      <a:headEnd len="sm" w="sm" type="none"/>
                      <a:tailEnd len="sm" w="sm" type="none"/>
                    </a:lnB>
                    <a:solidFill>
                      <a:srgbClr val="121212"/>
                    </a:solidFill>
                  </a:tcPr>
                </a:tc>
              </a:tr>
              <a:tr h="740675">
                <a:tc>
                  <a:txBody>
                    <a:bodyPr/>
                    <a:lstStyle/>
                    <a:p>
                      <a:pPr indent="0" lvl="0" marL="0" marR="0" rtl="0" algn="l">
                        <a:spcBef>
                          <a:spcPts val="0"/>
                        </a:spcBef>
                        <a:spcAft>
                          <a:spcPts val="0"/>
                        </a:spcAft>
                        <a:buClr>
                          <a:srgbClr val="F5F5F5"/>
                        </a:buClr>
                        <a:buSzPts val="1700"/>
                        <a:buFont typeface="Avenir"/>
                        <a:buNone/>
                      </a:pPr>
                      <a:r>
                        <a:rPr b="1" lang="en-US" sz="1700" u="none" cap="none" strike="noStrike">
                          <a:solidFill>
                            <a:srgbClr val="F5F5F5"/>
                          </a:solidFill>
                          <a:latin typeface="Avenir"/>
                          <a:ea typeface="Avenir"/>
                          <a:cs typeface="Avenir"/>
                          <a:sym typeface="Avenir"/>
                        </a:rPr>
                        <a:t>2-decimal USD</a:t>
                      </a:r>
                      <a:endParaRPr sz="1700" u="none" cap="none" strike="noStrike">
                        <a:latin typeface="Avenir"/>
                        <a:ea typeface="Avenir"/>
                        <a:cs typeface="Avenir"/>
                        <a:sym typeface="Avenir"/>
                      </a:endParaRPr>
                    </a:p>
                  </a:txBody>
                  <a:tcPr marT="91450" marB="91450" marR="91450" marL="91450" anchor="ctr">
                    <a:lnL cap="flat" cmpd="sng" w="9525">
                      <a:solidFill>
                        <a:srgbClr val="333333"/>
                      </a:solidFill>
                      <a:prstDash val="solid"/>
                      <a:round/>
                      <a:headEnd len="sm" w="sm" type="none"/>
                      <a:tailEnd len="sm" w="sm" type="none"/>
                    </a:lnL>
                    <a:lnR cap="flat" cmpd="sng" w="9525">
                      <a:solidFill>
                        <a:srgbClr val="333333"/>
                      </a:solidFill>
                      <a:prstDash val="solid"/>
                      <a:round/>
                      <a:headEnd len="sm" w="sm" type="none"/>
                      <a:tailEnd len="sm" w="sm" type="none"/>
                    </a:lnR>
                    <a:lnT cap="flat" cmpd="sng" w="9525">
                      <a:solidFill>
                        <a:srgbClr val="333333"/>
                      </a:solidFill>
                      <a:prstDash val="solid"/>
                      <a:round/>
                      <a:headEnd len="sm" w="sm" type="none"/>
                      <a:tailEnd len="sm" w="sm" type="none"/>
                    </a:lnT>
                    <a:lnB cap="flat" cmpd="sng" w="9525">
                      <a:solidFill>
                        <a:srgbClr val="333333"/>
                      </a:solidFill>
                      <a:prstDash val="solid"/>
                      <a:round/>
                      <a:headEnd len="sm" w="sm" type="none"/>
                      <a:tailEnd len="sm" w="sm" type="none"/>
                    </a:lnB>
                    <a:solidFill>
                      <a:srgbClr val="121212"/>
                    </a:solidFill>
                  </a:tcPr>
                </a:tc>
                <a:tc>
                  <a:txBody>
                    <a:bodyPr/>
                    <a:lstStyle/>
                    <a:p>
                      <a:pPr indent="0" lvl="0" marL="0" marR="0" rtl="0" algn="l">
                        <a:spcBef>
                          <a:spcPts val="0"/>
                        </a:spcBef>
                        <a:spcAft>
                          <a:spcPts val="0"/>
                        </a:spcAft>
                        <a:buClr>
                          <a:srgbClr val="A9ADB3"/>
                        </a:buClr>
                        <a:buSzPts val="1700"/>
                        <a:buFont typeface="Avenir"/>
                        <a:buNone/>
                      </a:pPr>
                      <a:r>
                        <a:rPr lang="en-US" sz="1700" u="none" cap="none" strike="noStrike">
                          <a:solidFill>
                            <a:srgbClr val="A9ADB3"/>
                          </a:solidFill>
                          <a:latin typeface="Avenir"/>
                          <a:ea typeface="Avenir"/>
                          <a:cs typeface="Avenir"/>
                          <a:sym typeface="Avenir"/>
                        </a:rPr>
                        <a:t>Single-currency support</a:t>
                      </a:r>
                      <a:endParaRPr sz="1700" u="none" cap="none" strike="noStrike">
                        <a:latin typeface="Avenir"/>
                        <a:ea typeface="Avenir"/>
                        <a:cs typeface="Avenir"/>
                        <a:sym typeface="Avenir"/>
                      </a:endParaRPr>
                    </a:p>
                  </a:txBody>
                  <a:tcPr marT="91450" marB="91450" marR="91450" marL="91450" anchor="ctr">
                    <a:lnL cap="flat" cmpd="sng" w="9525">
                      <a:solidFill>
                        <a:srgbClr val="333333"/>
                      </a:solidFill>
                      <a:prstDash val="solid"/>
                      <a:round/>
                      <a:headEnd len="sm" w="sm" type="none"/>
                      <a:tailEnd len="sm" w="sm" type="none"/>
                    </a:lnL>
                    <a:lnR cap="flat" cmpd="sng" w="9525">
                      <a:solidFill>
                        <a:srgbClr val="333333"/>
                      </a:solidFill>
                      <a:prstDash val="solid"/>
                      <a:round/>
                      <a:headEnd len="sm" w="sm" type="none"/>
                      <a:tailEnd len="sm" w="sm" type="none"/>
                    </a:lnR>
                    <a:lnT cap="flat" cmpd="sng" w="9525">
                      <a:solidFill>
                        <a:srgbClr val="333333"/>
                      </a:solidFill>
                      <a:prstDash val="solid"/>
                      <a:round/>
                      <a:headEnd len="sm" w="sm" type="none"/>
                      <a:tailEnd len="sm" w="sm" type="none"/>
                    </a:lnT>
                    <a:lnB cap="flat" cmpd="sng" w="9525">
                      <a:solidFill>
                        <a:srgbClr val="333333"/>
                      </a:solidFill>
                      <a:prstDash val="solid"/>
                      <a:round/>
                      <a:headEnd len="sm" w="sm" type="none"/>
                      <a:tailEnd len="sm" w="sm" type="none"/>
                    </a:lnB>
                    <a:solidFill>
                      <a:srgbClr val="121212"/>
                    </a:solidFill>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212"/>
        </a:solidFill>
      </p:bgPr>
    </p:bg>
    <p:spTree>
      <p:nvGrpSpPr>
        <p:cNvPr id="56" name="Shape 56"/>
        <p:cNvGrpSpPr/>
        <p:nvPr/>
      </p:nvGrpSpPr>
      <p:grpSpPr>
        <a:xfrm>
          <a:off x="0" y="0"/>
          <a:ext cx="0" cy="0"/>
          <a:chOff x="0" y="0"/>
          <a:chExt cx="0" cy="0"/>
        </a:xfrm>
      </p:grpSpPr>
      <p:sp>
        <p:nvSpPr>
          <p:cNvPr id="57" name="Google Shape;57;p5"/>
          <p:cNvSpPr/>
          <p:nvPr/>
        </p:nvSpPr>
        <p:spPr>
          <a:xfrm>
            <a:off x="585216" y="356616"/>
            <a:ext cx="91440" cy="438912"/>
          </a:xfrm>
          <a:prstGeom prst="rect">
            <a:avLst/>
          </a:prstGeom>
          <a:solidFill>
            <a:srgbClr val="00F604"/>
          </a:solidFill>
          <a:ln cap="flat" cmpd="sng" w="12700">
            <a:solidFill>
              <a:srgbClr val="00F604">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5"/>
          <p:cNvSpPr txBox="1"/>
          <p:nvPr/>
        </p:nvSpPr>
        <p:spPr>
          <a:xfrm>
            <a:off x="832104" y="356616"/>
            <a:ext cx="7726680" cy="512064"/>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F5F5F5"/>
              </a:buClr>
              <a:buSzPts val="3200"/>
              <a:buFont typeface="Avenir"/>
              <a:buNone/>
            </a:pPr>
            <a:r>
              <a:rPr b="1" i="0" lang="en-US" sz="3200" u="none" cap="none" strike="noStrike">
                <a:solidFill>
                  <a:srgbClr val="F5F5F5"/>
                </a:solidFill>
                <a:latin typeface="Avenir"/>
                <a:ea typeface="Avenir"/>
                <a:cs typeface="Avenir"/>
                <a:sym typeface="Avenir"/>
              </a:rPr>
              <a:t>Datastore choice</a:t>
            </a:r>
            <a:endParaRPr b="0" i="0" sz="3200" u="none" cap="none" strike="noStrike">
              <a:solidFill>
                <a:schemeClr val="dk1"/>
              </a:solidFill>
              <a:latin typeface="Avenir"/>
              <a:ea typeface="Avenir"/>
              <a:cs typeface="Avenir"/>
              <a:sym typeface="Avenir"/>
            </a:endParaRPr>
          </a:p>
        </p:txBody>
      </p:sp>
      <p:sp>
        <p:nvSpPr>
          <p:cNvPr id="59" name="Google Shape;59;p5"/>
          <p:cNvSpPr txBox="1"/>
          <p:nvPr/>
        </p:nvSpPr>
        <p:spPr>
          <a:xfrm>
            <a:off x="832104" y="896112"/>
            <a:ext cx="7726680" cy="23774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A9ADB3"/>
              </a:buClr>
              <a:buSzPts val="1300"/>
              <a:buFont typeface="Avenir"/>
              <a:buNone/>
            </a:pPr>
            <a:r>
              <a:rPr b="0" i="0" lang="en-US" sz="1300" u="none" cap="none" strike="noStrike">
                <a:solidFill>
                  <a:srgbClr val="A9ADB3"/>
                </a:solidFill>
                <a:latin typeface="Avenir"/>
                <a:ea typeface="Avenir"/>
                <a:cs typeface="Avenir"/>
                <a:sym typeface="Avenir"/>
              </a:rPr>
              <a:t>In-memory would suffice.</a:t>
            </a:r>
            <a:endParaRPr b="0" i="0" sz="1300" u="none" cap="none" strike="noStrike">
              <a:solidFill>
                <a:schemeClr val="dk1"/>
              </a:solidFill>
              <a:latin typeface="Avenir"/>
              <a:ea typeface="Avenir"/>
              <a:cs typeface="Avenir"/>
              <a:sym typeface="Avenir"/>
            </a:endParaRPr>
          </a:p>
        </p:txBody>
      </p:sp>
      <p:sp>
        <p:nvSpPr>
          <p:cNvPr id="60" name="Google Shape;60;p5"/>
          <p:cNvSpPr txBox="1"/>
          <p:nvPr/>
        </p:nvSpPr>
        <p:spPr>
          <a:xfrm>
            <a:off x="585216" y="1536192"/>
            <a:ext cx="1737360" cy="228600"/>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00F604"/>
              </a:buClr>
              <a:buSzPts val="1100"/>
              <a:buFont typeface="Avenir"/>
              <a:buNone/>
            </a:pPr>
            <a:r>
              <a:rPr b="1" i="0" lang="en-US" sz="1100" u="none" cap="none" strike="noStrike">
                <a:solidFill>
                  <a:srgbClr val="00F604"/>
                </a:solidFill>
                <a:latin typeface="Avenir"/>
                <a:ea typeface="Avenir"/>
                <a:cs typeface="Avenir"/>
                <a:sym typeface="Avenir"/>
              </a:rPr>
              <a:t>CHOSEN</a:t>
            </a:r>
            <a:endParaRPr b="0" i="0" sz="1100" u="none" cap="none" strike="noStrike">
              <a:solidFill>
                <a:schemeClr val="dk1"/>
              </a:solidFill>
              <a:latin typeface="Avenir"/>
              <a:ea typeface="Avenir"/>
              <a:cs typeface="Avenir"/>
              <a:sym typeface="Avenir"/>
            </a:endParaRPr>
          </a:p>
        </p:txBody>
      </p:sp>
      <p:sp>
        <p:nvSpPr>
          <p:cNvPr id="61" name="Google Shape;61;p5"/>
          <p:cNvSpPr txBox="1"/>
          <p:nvPr/>
        </p:nvSpPr>
        <p:spPr>
          <a:xfrm>
            <a:off x="2468880" y="1481328"/>
            <a:ext cx="3017520" cy="329184"/>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F5F5F5"/>
              </a:buClr>
              <a:buSzPts val="1900"/>
              <a:buFont typeface="Avenir"/>
              <a:buNone/>
            </a:pPr>
            <a:r>
              <a:rPr b="1" i="0" lang="en-US" sz="1900" u="none" cap="none" strike="noStrike">
                <a:solidFill>
                  <a:srgbClr val="F5F5F5"/>
                </a:solidFill>
                <a:latin typeface="Avenir"/>
                <a:ea typeface="Avenir"/>
                <a:cs typeface="Avenir"/>
                <a:sym typeface="Avenir"/>
              </a:rPr>
              <a:t>SQLite file</a:t>
            </a:r>
            <a:endParaRPr b="0" i="0" sz="1900" u="none" cap="none" strike="noStrike">
              <a:solidFill>
                <a:schemeClr val="dk1"/>
              </a:solidFill>
              <a:latin typeface="Avenir"/>
              <a:ea typeface="Avenir"/>
              <a:cs typeface="Avenir"/>
              <a:sym typeface="Avenir"/>
            </a:endParaRPr>
          </a:p>
        </p:txBody>
      </p:sp>
      <p:sp>
        <p:nvSpPr>
          <p:cNvPr id="62" name="Google Shape;62;p5"/>
          <p:cNvSpPr txBox="1"/>
          <p:nvPr/>
        </p:nvSpPr>
        <p:spPr>
          <a:xfrm>
            <a:off x="5577840" y="1517904"/>
            <a:ext cx="2980944" cy="292608"/>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F5F5F5"/>
              </a:buClr>
              <a:buSzPts val="1500"/>
              <a:buFont typeface="Avenir"/>
              <a:buNone/>
            </a:pPr>
            <a:r>
              <a:rPr b="0" i="0" lang="en-US" sz="1500" u="none" cap="none" strike="noStrike">
                <a:solidFill>
                  <a:srgbClr val="F5F5F5"/>
                </a:solidFill>
                <a:latin typeface="Avenir"/>
                <a:ea typeface="Avenir"/>
                <a:cs typeface="Avenir"/>
                <a:sym typeface="Avenir"/>
              </a:rPr>
              <a:t>Survives restarts</a:t>
            </a:r>
            <a:endParaRPr b="0" i="0" sz="1500" u="none" cap="none" strike="noStrike">
              <a:solidFill>
                <a:schemeClr val="dk1"/>
              </a:solidFill>
              <a:latin typeface="Avenir"/>
              <a:ea typeface="Avenir"/>
              <a:cs typeface="Avenir"/>
              <a:sym typeface="Avenir"/>
            </a:endParaRPr>
          </a:p>
        </p:txBody>
      </p:sp>
      <p:cxnSp>
        <p:nvCxnSpPr>
          <p:cNvPr id="63" name="Google Shape;63;p5"/>
          <p:cNvCxnSpPr/>
          <p:nvPr/>
        </p:nvCxnSpPr>
        <p:spPr>
          <a:xfrm>
            <a:off x="585216" y="1965960"/>
            <a:ext cx="7973568" cy="0"/>
          </a:xfrm>
          <a:prstGeom prst="straightConnector1">
            <a:avLst/>
          </a:prstGeom>
          <a:noFill/>
          <a:ln cap="flat" cmpd="sng" w="9525">
            <a:solidFill>
              <a:srgbClr val="333333"/>
            </a:solidFill>
            <a:prstDash val="solid"/>
            <a:round/>
            <a:headEnd len="sm" w="sm" type="none"/>
            <a:tailEnd len="sm" w="sm" type="none"/>
          </a:ln>
        </p:spPr>
      </p:cxnSp>
      <p:sp>
        <p:nvSpPr>
          <p:cNvPr id="64" name="Google Shape;64;p5"/>
          <p:cNvSpPr txBox="1"/>
          <p:nvPr/>
        </p:nvSpPr>
        <p:spPr>
          <a:xfrm>
            <a:off x="585216" y="2176272"/>
            <a:ext cx="1737360" cy="228600"/>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F67F00"/>
              </a:buClr>
              <a:buSzPts val="1100"/>
              <a:buFont typeface="Avenir"/>
              <a:buNone/>
            </a:pPr>
            <a:r>
              <a:rPr b="1" i="0" lang="en-US" sz="1100" u="none" cap="none" strike="noStrike">
                <a:solidFill>
                  <a:srgbClr val="F67F00"/>
                </a:solidFill>
                <a:latin typeface="Avenir"/>
                <a:ea typeface="Avenir"/>
                <a:cs typeface="Avenir"/>
                <a:sym typeface="Avenir"/>
              </a:rPr>
              <a:t>CONSIDERED</a:t>
            </a:r>
            <a:endParaRPr b="0" i="0" sz="1100" u="none" cap="none" strike="noStrike">
              <a:solidFill>
                <a:schemeClr val="dk1"/>
              </a:solidFill>
              <a:latin typeface="Avenir"/>
              <a:ea typeface="Avenir"/>
              <a:cs typeface="Avenir"/>
              <a:sym typeface="Avenir"/>
            </a:endParaRPr>
          </a:p>
        </p:txBody>
      </p:sp>
      <p:sp>
        <p:nvSpPr>
          <p:cNvPr id="65" name="Google Shape;65;p5"/>
          <p:cNvSpPr txBox="1"/>
          <p:nvPr/>
        </p:nvSpPr>
        <p:spPr>
          <a:xfrm>
            <a:off x="2468880" y="2121408"/>
            <a:ext cx="3017520" cy="329184"/>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F5F5F5"/>
              </a:buClr>
              <a:buSzPts val="1900"/>
              <a:buFont typeface="Avenir"/>
              <a:buNone/>
            </a:pPr>
            <a:r>
              <a:rPr b="1" i="0" lang="en-US" sz="1900" u="none" cap="none" strike="noStrike">
                <a:solidFill>
                  <a:srgbClr val="F5F5F5"/>
                </a:solidFill>
                <a:latin typeface="Avenir"/>
                <a:ea typeface="Avenir"/>
                <a:cs typeface="Avenir"/>
                <a:sym typeface="Avenir"/>
              </a:rPr>
              <a:t>SQLite in-memory</a:t>
            </a:r>
            <a:endParaRPr b="0" i="0" sz="1900" u="none" cap="none" strike="noStrike">
              <a:solidFill>
                <a:schemeClr val="dk1"/>
              </a:solidFill>
              <a:latin typeface="Avenir"/>
              <a:ea typeface="Avenir"/>
              <a:cs typeface="Avenir"/>
              <a:sym typeface="Avenir"/>
            </a:endParaRPr>
          </a:p>
        </p:txBody>
      </p:sp>
      <p:sp>
        <p:nvSpPr>
          <p:cNvPr id="66" name="Google Shape;66;p5"/>
          <p:cNvSpPr txBox="1"/>
          <p:nvPr/>
        </p:nvSpPr>
        <p:spPr>
          <a:xfrm>
            <a:off x="5577840" y="2157984"/>
            <a:ext cx="2980944" cy="292608"/>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A9ADB3"/>
              </a:buClr>
              <a:buSzPts val="1500"/>
              <a:buFont typeface="Avenir"/>
              <a:buNone/>
            </a:pPr>
            <a:r>
              <a:rPr b="0" i="0" lang="en-US" sz="1500" u="none" cap="none" strike="noStrike">
                <a:solidFill>
                  <a:srgbClr val="A9ADB3"/>
                </a:solidFill>
                <a:latin typeface="Avenir"/>
                <a:ea typeface="Avenir"/>
                <a:cs typeface="Avenir"/>
                <a:sym typeface="Avenir"/>
              </a:rPr>
              <a:t>Lost on restart</a:t>
            </a:r>
            <a:endParaRPr b="0" i="0" sz="1500" u="none" cap="none" strike="noStrike">
              <a:solidFill>
                <a:schemeClr val="dk1"/>
              </a:solidFill>
              <a:latin typeface="Avenir"/>
              <a:ea typeface="Avenir"/>
              <a:cs typeface="Avenir"/>
              <a:sym typeface="Avenir"/>
            </a:endParaRPr>
          </a:p>
        </p:txBody>
      </p:sp>
      <p:cxnSp>
        <p:nvCxnSpPr>
          <p:cNvPr id="67" name="Google Shape;67;p5"/>
          <p:cNvCxnSpPr/>
          <p:nvPr/>
        </p:nvCxnSpPr>
        <p:spPr>
          <a:xfrm>
            <a:off x="585216" y="2606040"/>
            <a:ext cx="7973568" cy="0"/>
          </a:xfrm>
          <a:prstGeom prst="straightConnector1">
            <a:avLst/>
          </a:prstGeom>
          <a:noFill/>
          <a:ln cap="flat" cmpd="sng" w="9525">
            <a:solidFill>
              <a:srgbClr val="333333"/>
            </a:solidFill>
            <a:prstDash val="solid"/>
            <a:round/>
            <a:headEnd len="sm" w="sm" type="none"/>
            <a:tailEnd len="sm" w="sm" type="none"/>
          </a:ln>
        </p:spPr>
      </p:cxnSp>
      <p:sp>
        <p:nvSpPr>
          <p:cNvPr id="68" name="Google Shape;68;p5"/>
          <p:cNvSpPr txBox="1"/>
          <p:nvPr/>
        </p:nvSpPr>
        <p:spPr>
          <a:xfrm>
            <a:off x="2468880" y="2761488"/>
            <a:ext cx="3017520" cy="329184"/>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F5F5F5"/>
              </a:buClr>
              <a:buSzPts val="1900"/>
              <a:buFont typeface="Avenir"/>
              <a:buNone/>
            </a:pPr>
            <a:r>
              <a:rPr b="1" i="0" lang="en-US" sz="1900" u="none" cap="none" strike="noStrike">
                <a:solidFill>
                  <a:srgbClr val="F5F5F5"/>
                </a:solidFill>
                <a:latin typeface="Avenir"/>
                <a:ea typeface="Avenir"/>
                <a:cs typeface="Avenir"/>
                <a:sym typeface="Avenir"/>
              </a:rPr>
              <a:t>Hand-written store</a:t>
            </a:r>
            <a:endParaRPr b="0" i="0" sz="1900" u="none" cap="none" strike="noStrike">
              <a:solidFill>
                <a:schemeClr val="dk1"/>
              </a:solidFill>
              <a:latin typeface="Avenir"/>
              <a:ea typeface="Avenir"/>
              <a:cs typeface="Avenir"/>
              <a:sym typeface="Avenir"/>
            </a:endParaRPr>
          </a:p>
        </p:txBody>
      </p:sp>
      <p:sp>
        <p:nvSpPr>
          <p:cNvPr id="69" name="Google Shape;69;p5"/>
          <p:cNvSpPr txBox="1"/>
          <p:nvPr/>
        </p:nvSpPr>
        <p:spPr>
          <a:xfrm>
            <a:off x="5577840" y="2798064"/>
            <a:ext cx="2980944" cy="292608"/>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A9ADB3"/>
              </a:buClr>
              <a:buSzPts val="1500"/>
              <a:buFont typeface="Avenir"/>
              <a:buNone/>
            </a:pPr>
            <a:r>
              <a:rPr b="0" i="0" lang="en-US" sz="1500" u="none" cap="none" strike="noStrike">
                <a:solidFill>
                  <a:srgbClr val="A9ADB3"/>
                </a:solidFill>
                <a:latin typeface="Avenir"/>
                <a:ea typeface="Avenir"/>
                <a:cs typeface="Avenir"/>
                <a:sym typeface="Avenir"/>
              </a:rPr>
              <a:t>Owns atomicity</a:t>
            </a:r>
            <a:endParaRPr b="0" i="0" sz="1500" u="none" cap="none" strike="noStrike">
              <a:solidFill>
                <a:schemeClr val="dk1"/>
              </a:solidFill>
              <a:latin typeface="Avenir"/>
              <a:ea typeface="Avenir"/>
              <a:cs typeface="Avenir"/>
              <a:sym typeface="Avenir"/>
            </a:endParaRPr>
          </a:p>
        </p:txBody>
      </p:sp>
      <p:cxnSp>
        <p:nvCxnSpPr>
          <p:cNvPr id="70" name="Google Shape;70;p5"/>
          <p:cNvCxnSpPr/>
          <p:nvPr/>
        </p:nvCxnSpPr>
        <p:spPr>
          <a:xfrm>
            <a:off x="585216" y="3246120"/>
            <a:ext cx="7973568" cy="0"/>
          </a:xfrm>
          <a:prstGeom prst="straightConnector1">
            <a:avLst/>
          </a:prstGeom>
          <a:noFill/>
          <a:ln cap="flat" cmpd="sng" w="9525">
            <a:solidFill>
              <a:srgbClr val="333333"/>
            </a:solidFill>
            <a:prstDash val="solid"/>
            <a:round/>
            <a:headEnd len="sm" w="sm" type="none"/>
            <a:tailEnd len="sm" w="sm" type="none"/>
          </a:ln>
        </p:spPr>
      </p:cxnSp>
      <p:sp>
        <p:nvSpPr>
          <p:cNvPr id="71" name="Google Shape;71;p5"/>
          <p:cNvSpPr txBox="1"/>
          <p:nvPr/>
        </p:nvSpPr>
        <p:spPr>
          <a:xfrm>
            <a:off x="2468880" y="3401568"/>
            <a:ext cx="3017520" cy="329184"/>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F5F5F5"/>
              </a:buClr>
              <a:buSzPts val="1900"/>
              <a:buFont typeface="Avenir"/>
              <a:buNone/>
            </a:pPr>
            <a:r>
              <a:rPr b="1" i="0" lang="en-US" sz="1900" u="none" cap="none" strike="noStrike">
                <a:solidFill>
                  <a:srgbClr val="F5F5F5"/>
                </a:solidFill>
                <a:latin typeface="Avenir"/>
                <a:ea typeface="Avenir"/>
                <a:cs typeface="Avenir"/>
                <a:sym typeface="Avenir"/>
              </a:rPr>
              <a:t>EF Core InMemory</a:t>
            </a:r>
            <a:endParaRPr b="0" i="0" sz="1900" u="none" cap="none" strike="noStrike">
              <a:solidFill>
                <a:schemeClr val="dk1"/>
              </a:solidFill>
              <a:latin typeface="Avenir"/>
              <a:ea typeface="Avenir"/>
              <a:cs typeface="Avenir"/>
              <a:sym typeface="Avenir"/>
            </a:endParaRPr>
          </a:p>
        </p:txBody>
      </p:sp>
      <p:sp>
        <p:nvSpPr>
          <p:cNvPr id="72" name="Google Shape;72;p5"/>
          <p:cNvSpPr txBox="1"/>
          <p:nvPr/>
        </p:nvSpPr>
        <p:spPr>
          <a:xfrm>
            <a:off x="5577840" y="3438144"/>
            <a:ext cx="2980944" cy="292608"/>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A9ADB3"/>
              </a:buClr>
              <a:buSzPts val="1500"/>
              <a:buFont typeface="Avenir"/>
              <a:buNone/>
            </a:pPr>
            <a:r>
              <a:rPr b="0" i="0" lang="en-US" sz="1500" u="none" cap="none" strike="noStrike">
                <a:solidFill>
                  <a:srgbClr val="A9ADB3"/>
                </a:solidFill>
                <a:latin typeface="Avenir"/>
                <a:ea typeface="Avenir"/>
                <a:cs typeface="Avenir"/>
                <a:sym typeface="Avenir"/>
              </a:rPr>
              <a:t>No transactions</a:t>
            </a:r>
            <a:endParaRPr b="0" i="0" sz="1500" u="none" cap="none" strike="noStrike">
              <a:solidFill>
                <a:schemeClr val="dk1"/>
              </a:solidFill>
              <a:latin typeface="Avenir"/>
              <a:ea typeface="Avenir"/>
              <a:cs typeface="Avenir"/>
              <a:sym typeface="Avenir"/>
            </a:endParaRPr>
          </a:p>
        </p:txBody>
      </p:sp>
      <p:cxnSp>
        <p:nvCxnSpPr>
          <p:cNvPr id="73" name="Google Shape;73;p5"/>
          <p:cNvCxnSpPr/>
          <p:nvPr/>
        </p:nvCxnSpPr>
        <p:spPr>
          <a:xfrm>
            <a:off x="585216" y="3886200"/>
            <a:ext cx="7973568" cy="0"/>
          </a:xfrm>
          <a:prstGeom prst="straightConnector1">
            <a:avLst/>
          </a:prstGeom>
          <a:noFill/>
          <a:ln cap="flat" cmpd="sng" w="9525">
            <a:solidFill>
              <a:srgbClr val="333333"/>
            </a:solidFill>
            <a:prstDash val="solid"/>
            <a:round/>
            <a:headEnd len="sm" w="sm" type="none"/>
            <a:tailEnd len="sm" w="sm" type="none"/>
          </a:ln>
        </p:spPr>
      </p:cxnSp>
      <p:sp>
        <p:nvSpPr>
          <p:cNvPr id="74" name="Google Shape;74;p5"/>
          <p:cNvSpPr txBox="1"/>
          <p:nvPr/>
        </p:nvSpPr>
        <p:spPr>
          <a:xfrm>
            <a:off x="2468880" y="4041648"/>
            <a:ext cx="3017520" cy="329184"/>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F5F5F5"/>
              </a:buClr>
              <a:buSzPts val="1900"/>
              <a:buFont typeface="Avenir"/>
              <a:buNone/>
            </a:pPr>
            <a:r>
              <a:rPr b="1" i="0" lang="en-US" sz="1900" u="none" cap="none" strike="noStrike">
                <a:solidFill>
                  <a:srgbClr val="F5F5F5"/>
                </a:solidFill>
                <a:latin typeface="Avenir"/>
                <a:ea typeface="Avenir"/>
                <a:cs typeface="Avenir"/>
                <a:sym typeface="Avenir"/>
              </a:rPr>
              <a:t>Redis</a:t>
            </a:r>
            <a:endParaRPr b="0" i="0" sz="1900" u="none" cap="none" strike="noStrike">
              <a:solidFill>
                <a:schemeClr val="dk1"/>
              </a:solidFill>
              <a:latin typeface="Avenir"/>
              <a:ea typeface="Avenir"/>
              <a:cs typeface="Avenir"/>
              <a:sym typeface="Avenir"/>
            </a:endParaRPr>
          </a:p>
        </p:txBody>
      </p:sp>
      <p:sp>
        <p:nvSpPr>
          <p:cNvPr id="75" name="Google Shape;75;p5"/>
          <p:cNvSpPr txBox="1"/>
          <p:nvPr/>
        </p:nvSpPr>
        <p:spPr>
          <a:xfrm>
            <a:off x="5577840" y="4078224"/>
            <a:ext cx="2980944" cy="292608"/>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A9ADB3"/>
              </a:buClr>
              <a:buSzPts val="1500"/>
              <a:buFont typeface="Avenir"/>
              <a:buNone/>
            </a:pPr>
            <a:r>
              <a:rPr b="0" i="0" lang="en-US" sz="1500" u="none" cap="none" strike="noStrike">
                <a:solidFill>
                  <a:srgbClr val="A9ADB3"/>
                </a:solidFill>
                <a:latin typeface="Avenir"/>
                <a:ea typeface="Avenir"/>
                <a:cs typeface="Avenir"/>
                <a:sym typeface="Avenir"/>
              </a:rPr>
              <a:t>Extra process</a:t>
            </a:r>
            <a:endParaRPr b="0" i="0" sz="1500" u="none" cap="none" strike="noStrike">
              <a:solidFill>
                <a:schemeClr val="dk1"/>
              </a:solidFill>
              <a:latin typeface="Avenir"/>
              <a:ea typeface="Avenir"/>
              <a:cs typeface="Avenir"/>
              <a:sym typeface="Aveni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212"/>
        </a:solidFill>
      </p:bgPr>
    </p:bg>
    <p:spTree>
      <p:nvGrpSpPr>
        <p:cNvPr id="80" name="Shape 80"/>
        <p:cNvGrpSpPr/>
        <p:nvPr/>
      </p:nvGrpSpPr>
      <p:grpSpPr>
        <a:xfrm>
          <a:off x="0" y="0"/>
          <a:ext cx="0" cy="0"/>
          <a:chOff x="0" y="0"/>
          <a:chExt cx="0" cy="0"/>
        </a:xfrm>
      </p:grpSpPr>
      <p:sp>
        <p:nvSpPr>
          <p:cNvPr id="81" name="Google Shape;81;p2"/>
          <p:cNvSpPr/>
          <p:nvPr/>
        </p:nvSpPr>
        <p:spPr>
          <a:xfrm>
            <a:off x="585216" y="356616"/>
            <a:ext cx="91440" cy="438912"/>
          </a:xfrm>
          <a:prstGeom prst="rect">
            <a:avLst/>
          </a:prstGeom>
          <a:solidFill>
            <a:srgbClr val="00F604"/>
          </a:solidFill>
          <a:ln cap="flat" cmpd="sng" w="12700">
            <a:solidFill>
              <a:srgbClr val="00F604">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2"/>
          <p:cNvSpPr txBox="1"/>
          <p:nvPr/>
        </p:nvSpPr>
        <p:spPr>
          <a:xfrm>
            <a:off x="832104" y="356616"/>
            <a:ext cx="7726680" cy="512064"/>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F5F5F5"/>
              </a:buClr>
              <a:buSzPts val="3200"/>
              <a:buFont typeface="Avenir"/>
              <a:buNone/>
            </a:pPr>
            <a:r>
              <a:rPr b="1" i="0" lang="en-US" sz="3200" u="none" cap="none" strike="noStrike">
                <a:solidFill>
                  <a:srgbClr val="F5F5F5"/>
                </a:solidFill>
                <a:latin typeface="Avenir"/>
                <a:ea typeface="Avenir"/>
                <a:cs typeface="Avenir"/>
                <a:sym typeface="Avenir"/>
              </a:rPr>
              <a:t>How I AI'ed</a:t>
            </a:r>
            <a:endParaRPr b="0" i="0" sz="3200" u="none" cap="none" strike="noStrike">
              <a:solidFill>
                <a:schemeClr val="dk1"/>
              </a:solidFill>
              <a:latin typeface="Avenir"/>
              <a:ea typeface="Avenir"/>
              <a:cs typeface="Avenir"/>
              <a:sym typeface="Avenir"/>
            </a:endParaRPr>
          </a:p>
        </p:txBody>
      </p:sp>
      <p:sp>
        <p:nvSpPr>
          <p:cNvPr id="83" name="Google Shape;83;p2"/>
          <p:cNvSpPr txBox="1"/>
          <p:nvPr/>
        </p:nvSpPr>
        <p:spPr>
          <a:xfrm>
            <a:off x="585216" y="1316736"/>
            <a:ext cx="1737360" cy="228600"/>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00F604"/>
              </a:buClr>
              <a:buSzPts val="1100"/>
              <a:buFont typeface="Avenir"/>
              <a:buNone/>
            </a:pPr>
            <a:r>
              <a:rPr b="1" i="0" lang="en-US" sz="1100" u="none" cap="none" strike="noStrike">
                <a:solidFill>
                  <a:srgbClr val="00F604"/>
                </a:solidFill>
                <a:latin typeface="Avenir"/>
                <a:ea typeface="Avenir"/>
                <a:cs typeface="Avenir"/>
                <a:sym typeface="Avenir"/>
              </a:rPr>
              <a:t>FRAME</a:t>
            </a:r>
            <a:endParaRPr b="0" i="0" sz="1100" u="none" cap="none" strike="noStrike">
              <a:solidFill>
                <a:schemeClr val="dk1"/>
              </a:solidFill>
              <a:latin typeface="Avenir"/>
              <a:ea typeface="Avenir"/>
              <a:cs typeface="Avenir"/>
              <a:sym typeface="Avenir"/>
            </a:endParaRPr>
          </a:p>
        </p:txBody>
      </p:sp>
      <p:sp>
        <p:nvSpPr>
          <p:cNvPr id="84" name="Google Shape;84;p2"/>
          <p:cNvSpPr txBox="1"/>
          <p:nvPr/>
        </p:nvSpPr>
        <p:spPr>
          <a:xfrm>
            <a:off x="2468880" y="1261872"/>
            <a:ext cx="6089904" cy="329184"/>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00F604"/>
              </a:buClr>
              <a:buSzPts val="2000"/>
              <a:buFont typeface="Avenir"/>
              <a:buNone/>
            </a:pPr>
            <a:r>
              <a:rPr b="1" i="0" lang="en-US" sz="2000" u="none" cap="none" strike="noStrike">
                <a:solidFill>
                  <a:srgbClr val="F5F5F5"/>
                </a:solidFill>
                <a:latin typeface="Avenir"/>
                <a:ea typeface="Avenir"/>
                <a:cs typeface="Avenir"/>
                <a:sym typeface="Avenir"/>
              </a:rPr>
              <a:t>GPT-5.6 Sol</a:t>
            </a:r>
            <a:endParaRPr b="0" i="0" sz="2000" u="none" cap="none" strike="noStrike">
              <a:solidFill>
                <a:schemeClr val="dk1"/>
              </a:solidFill>
              <a:latin typeface="Avenir"/>
              <a:ea typeface="Avenir"/>
              <a:cs typeface="Avenir"/>
              <a:sym typeface="Avenir"/>
            </a:endParaRPr>
          </a:p>
        </p:txBody>
      </p:sp>
      <p:sp>
        <p:nvSpPr>
          <p:cNvPr id="85" name="Google Shape;85;p2"/>
          <p:cNvSpPr txBox="1"/>
          <p:nvPr/>
        </p:nvSpPr>
        <p:spPr>
          <a:xfrm>
            <a:off x="2468880" y="1609344"/>
            <a:ext cx="6089904" cy="219456"/>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A9ADB3"/>
              </a:buClr>
              <a:buSzPts val="1250"/>
              <a:buFont typeface="Avenir"/>
              <a:buNone/>
            </a:pPr>
            <a:r>
              <a:rPr b="0" i="0" lang="en-US" sz="1250" u="none" cap="none" strike="noStrike">
                <a:solidFill>
                  <a:srgbClr val="A9ADB3"/>
                </a:solidFill>
                <a:latin typeface="Avenir"/>
                <a:ea typeface="Avenir"/>
                <a:cs typeface="Avenir"/>
                <a:sym typeface="Avenir"/>
              </a:rPr>
              <a:t>I approved spec, plan, ADRs</a:t>
            </a:r>
            <a:endParaRPr b="0" i="0" sz="1250" u="none" cap="none" strike="noStrike">
              <a:solidFill>
                <a:schemeClr val="dk1"/>
              </a:solidFill>
              <a:latin typeface="Avenir"/>
              <a:ea typeface="Avenir"/>
              <a:cs typeface="Avenir"/>
              <a:sym typeface="Avenir"/>
            </a:endParaRPr>
          </a:p>
        </p:txBody>
      </p:sp>
      <p:cxnSp>
        <p:nvCxnSpPr>
          <p:cNvPr id="86" name="Google Shape;86;p2"/>
          <p:cNvCxnSpPr/>
          <p:nvPr/>
        </p:nvCxnSpPr>
        <p:spPr>
          <a:xfrm>
            <a:off x="585216" y="2066544"/>
            <a:ext cx="7973568" cy="0"/>
          </a:xfrm>
          <a:prstGeom prst="straightConnector1">
            <a:avLst/>
          </a:prstGeom>
          <a:noFill/>
          <a:ln cap="flat" cmpd="sng" w="9525">
            <a:solidFill>
              <a:srgbClr val="333333"/>
            </a:solidFill>
            <a:prstDash val="solid"/>
            <a:round/>
            <a:headEnd len="sm" w="sm" type="none"/>
            <a:tailEnd len="sm" w="sm" type="none"/>
          </a:ln>
        </p:spPr>
      </p:cxnSp>
      <p:sp>
        <p:nvSpPr>
          <p:cNvPr id="87" name="Google Shape;87;p2"/>
          <p:cNvSpPr txBox="1"/>
          <p:nvPr/>
        </p:nvSpPr>
        <p:spPr>
          <a:xfrm>
            <a:off x="585216" y="2322576"/>
            <a:ext cx="1737360" cy="228600"/>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00F604"/>
              </a:buClr>
              <a:buSzPts val="1100"/>
              <a:buFont typeface="Avenir"/>
              <a:buNone/>
            </a:pPr>
            <a:r>
              <a:rPr b="1" i="0" lang="en-US" sz="1100" u="none" cap="none" strike="noStrike">
                <a:solidFill>
                  <a:srgbClr val="00F604"/>
                </a:solidFill>
                <a:latin typeface="Avenir"/>
                <a:ea typeface="Avenir"/>
                <a:cs typeface="Avenir"/>
                <a:sym typeface="Avenir"/>
              </a:rPr>
              <a:t>BUILD</a:t>
            </a:r>
            <a:endParaRPr b="0" i="0" sz="1100" u="none" cap="none" strike="noStrike">
              <a:solidFill>
                <a:schemeClr val="dk1"/>
              </a:solidFill>
              <a:latin typeface="Avenir"/>
              <a:ea typeface="Avenir"/>
              <a:cs typeface="Avenir"/>
              <a:sym typeface="Avenir"/>
            </a:endParaRPr>
          </a:p>
        </p:txBody>
      </p:sp>
      <p:sp>
        <p:nvSpPr>
          <p:cNvPr id="88" name="Google Shape;88;p2"/>
          <p:cNvSpPr txBox="1"/>
          <p:nvPr/>
        </p:nvSpPr>
        <p:spPr>
          <a:xfrm>
            <a:off x="2468880" y="2267712"/>
            <a:ext cx="6089904" cy="329184"/>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F5F5F5"/>
              </a:buClr>
              <a:buSzPts val="2000"/>
              <a:buFont typeface="Avenir"/>
              <a:buNone/>
            </a:pPr>
            <a:r>
              <a:rPr b="1" i="0" lang="en-US" sz="2000" u="none" cap="none" strike="noStrike">
                <a:solidFill>
                  <a:srgbClr val="F5F5F5"/>
                </a:solidFill>
                <a:latin typeface="Avenir"/>
                <a:ea typeface="Avenir"/>
                <a:cs typeface="Avenir"/>
                <a:sym typeface="Avenir"/>
              </a:rPr>
              <a:t>Fable 5.1</a:t>
            </a:r>
            <a:endParaRPr b="0" i="0" sz="2000" u="none" cap="none" strike="noStrike">
              <a:solidFill>
                <a:schemeClr val="dk1"/>
              </a:solidFill>
              <a:latin typeface="Avenir"/>
              <a:ea typeface="Avenir"/>
              <a:cs typeface="Avenir"/>
              <a:sym typeface="Avenir"/>
            </a:endParaRPr>
          </a:p>
        </p:txBody>
      </p:sp>
      <p:sp>
        <p:nvSpPr>
          <p:cNvPr id="89" name="Google Shape;89;p2"/>
          <p:cNvSpPr txBox="1"/>
          <p:nvPr/>
        </p:nvSpPr>
        <p:spPr>
          <a:xfrm>
            <a:off x="2468880" y="2615184"/>
            <a:ext cx="6089904" cy="219456"/>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A9ADB3"/>
              </a:buClr>
              <a:buSzPts val="1250"/>
              <a:buFont typeface="Avenir"/>
              <a:buNone/>
            </a:pPr>
            <a:r>
              <a:rPr b="0" i="0" lang="en-US" sz="1250" u="none" cap="none" strike="noStrike">
                <a:solidFill>
                  <a:srgbClr val="A9ADB3"/>
                </a:solidFill>
                <a:latin typeface="Avenir"/>
                <a:ea typeface="Avenir"/>
                <a:cs typeface="Avenir"/>
                <a:sym typeface="Avenir"/>
              </a:rPr>
              <a:t>Six phases, tests green per commit</a:t>
            </a:r>
            <a:endParaRPr b="0" i="0" sz="1250" u="none" cap="none" strike="noStrike">
              <a:solidFill>
                <a:schemeClr val="dk1"/>
              </a:solidFill>
              <a:latin typeface="Avenir"/>
              <a:ea typeface="Avenir"/>
              <a:cs typeface="Avenir"/>
              <a:sym typeface="Avenir"/>
            </a:endParaRPr>
          </a:p>
        </p:txBody>
      </p:sp>
      <p:sp>
        <p:nvSpPr>
          <p:cNvPr id="90" name="Google Shape;90;p2"/>
          <p:cNvSpPr txBox="1"/>
          <p:nvPr/>
        </p:nvSpPr>
        <p:spPr>
          <a:xfrm>
            <a:off x="2468880" y="2889504"/>
            <a:ext cx="6089904" cy="219456"/>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F67F00"/>
              </a:buClr>
              <a:buSzPts val="1250"/>
              <a:buFont typeface="Avenir"/>
              <a:buNone/>
            </a:pPr>
            <a:r>
              <a:rPr b="1" i="0" lang="en-US" sz="1250" u="none" cap="none" strike="noStrike">
                <a:solidFill>
                  <a:srgbClr val="F67F00"/>
                </a:solidFill>
                <a:latin typeface="Avenir"/>
                <a:ea typeface="Avenir"/>
                <a:cs typeface="Avenir"/>
                <a:sym typeface="Avenir"/>
              </a:rPr>
              <a:t>Chose to minimize rework over tokens</a:t>
            </a:r>
            <a:endParaRPr b="0" i="0" sz="1250" u="none" cap="none" strike="noStrike">
              <a:solidFill>
                <a:schemeClr val="dk1"/>
              </a:solidFill>
              <a:latin typeface="Avenir"/>
              <a:ea typeface="Avenir"/>
              <a:cs typeface="Avenir"/>
              <a:sym typeface="Avenir"/>
            </a:endParaRPr>
          </a:p>
        </p:txBody>
      </p:sp>
      <p:cxnSp>
        <p:nvCxnSpPr>
          <p:cNvPr id="91" name="Google Shape;91;p2"/>
          <p:cNvCxnSpPr/>
          <p:nvPr/>
        </p:nvCxnSpPr>
        <p:spPr>
          <a:xfrm>
            <a:off x="585216" y="3255264"/>
            <a:ext cx="7973568" cy="0"/>
          </a:xfrm>
          <a:prstGeom prst="straightConnector1">
            <a:avLst/>
          </a:prstGeom>
          <a:noFill/>
          <a:ln cap="flat" cmpd="sng" w="9525">
            <a:solidFill>
              <a:srgbClr val="333333"/>
            </a:solidFill>
            <a:prstDash val="solid"/>
            <a:round/>
            <a:headEnd len="sm" w="sm" type="none"/>
            <a:tailEnd len="sm" w="sm" type="none"/>
          </a:ln>
        </p:spPr>
      </p:cxnSp>
      <p:sp>
        <p:nvSpPr>
          <p:cNvPr id="92" name="Google Shape;92;p2"/>
          <p:cNvSpPr txBox="1"/>
          <p:nvPr/>
        </p:nvSpPr>
        <p:spPr>
          <a:xfrm>
            <a:off x="585216" y="3511296"/>
            <a:ext cx="1737360" cy="228600"/>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00F604"/>
              </a:buClr>
              <a:buSzPts val="1100"/>
              <a:buFont typeface="Avenir"/>
              <a:buNone/>
            </a:pPr>
            <a:r>
              <a:rPr b="1" i="0" lang="en-US" sz="1100" u="none" cap="none" strike="noStrike">
                <a:solidFill>
                  <a:srgbClr val="00F604"/>
                </a:solidFill>
                <a:latin typeface="Avenir"/>
                <a:ea typeface="Avenir"/>
                <a:cs typeface="Avenir"/>
                <a:sym typeface="Avenir"/>
              </a:rPr>
              <a:t>REFINE</a:t>
            </a:r>
            <a:endParaRPr b="0" i="0" sz="1100" u="none" cap="none" strike="noStrike">
              <a:solidFill>
                <a:schemeClr val="dk1"/>
              </a:solidFill>
              <a:latin typeface="Avenir"/>
              <a:ea typeface="Avenir"/>
              <a:cs typeface="Avenir"/>
              <a:sym typeface="Avenir"/>
            </a:endParaRPr>
          </a:p>
        </p:txBody>
      </p:sp>
      <p:sp>
        <p:nvSpPr>
          <p:cNvPr id="93" name="Google Shape;93;p2"/>
          <p:cNvSpPr txBox="1"/>
          <p:nvPr/>
        </p:nvSpPr>
        <p:spPr>
          <a:xfrm>
            <a:off x="2468880" y="3456432"/>
            <a:ext cx="6089904" cy="329184"/>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F5F5F5"/>
              </a:buClr>
              <a:buSzPts val="2000"/>
              <a:buFont typeface="Avenir"/>
              <a:buNone/>
            </a:pPr>
            <a:r>
              <a:rPr b="1" i="0" lang="en-US" sz="2000" u="none" cap="none" strike="noStrike">
                <a:solidFill>
                  <a:srgbClr val="F5F5F5"/>
                </a:solidFill>
                <a:latin typeface="Avenir"/>
                <a:ea typeface="Avenir"/>
                <a:cs typeface="Avenir"/>
                <a:sym typeface="Avenir"/>
              </a:rPr>
              <a:t>Opus 5.5, GPT-6 Sol</a:t>
            </a:r>
            <a:endParaRPr b="0" i="0" sz="2000" u="none" cap="none" strike="noStrike">
              <a:solidFill>
                <a:schemeClr val="dk1"/>
              </a:solidFill>
              <a:latin typeface="Avenir"/>
              <a:ea typeface="Avenir"/>
              <a:cs typeface="Avenir"/>
              <a:sym typeface="Avenir"/>
            </a:endParaRPr>
          </a:p>
        </p:txBody>
      </p:sp>
      <p:sp>
        <p:nvSpPr>
          <p:cNvPr id="94" name="Google Shape;94;p2"/>
          <p:cNvSpPr txBox="1"/>
          <p:nvPr/>
        </p:nvSpPr>
        <p:spPr>
          <a:xfrm>
            <a:off x="2468880" y="3803904"/>
            <a:ext cx="6089904" cy="219456"/>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A9ADB3"/>
              </a:buClr>
              <a:buSzPts val="1250"/>
              <a:buFont typeface="Avenir"/>
              <a:buNone/>
            </a:pPr>
            <a:r>
              <a:rPr b="0" i="0" lang="en-US" sz="1250" u="none" cap="none" strike="noStrike">
                <a:solidFill>
                  <a:srgbClr val="A9ADB3"/>
                </a:solidFill>
                <a:latin typeface="Avenir"/>
                <a:ea typeface="Avenir"/>
                <a:cs typeface="Avenir"/>
                <a:sym typeface="Avenir"/>
              </a:rPr>
              <a:t>Docs, deck, fixes</a:t>
            </a:r>
            <a:endParaRPr b="0" i="0" sz="1250" u="none" cap="none" strike="noStrike">
              <a:solidFill>
                <a:schemeClr val="dk1"/>
              </a:solidFill>
              <a:latin typeface="Avenir"/>
              <a:ea typeface="Avenir"/>
              <a:cs typeface="Avenir"/>
              <a:sym typeface="Aveni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212"/>
        </a:solidFill>
      </p:bgPr>
    </p:bg>
    <p:spTree>
      <p:nvGrpSpPr>
        <p:cNvPr id="99" name="Shape 99"/>
        <p:cNvGrpSpPr/>
        <p:nvPr/>
      </p:nvGrpSpPr>
      <p:grpSpPr>
        <a:xfrm>
          <a:off x="0" y="0"/>
          <a:ext cx="0" cy="0"/>
          <a:chOff x="0" y="0"/>
          <a:chExt cx="0" cy="0"/>
        </a:xfrm>
      </p:grpSpPr>
      <p:sp>
        <p:nvSpPr>
          <p:cNvPr id="100" name="Google Shape;100;p6"/>
          <p:cNvSpPr/>
          <p:nvPr/>
        </p:nvSpPr>
        <p:spPr>
          <a:xfrm>
            <a:off x="585216" y="356616"/>
            <a:ext cx="91440" cy="438912"/>
          </a:xfrm>
          <a:prstGeom prst="rect">
            <a:avLst/>
          </a:prstGeom>
          <a:solidFill>
            <a:srgbClr val="00F604"/>
          </a:solidFill>
          <a:ln cap="flat" cmpd="sng" w="12700">
            <a:solidFill>
              <a:srgbClr val="00F604">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6"/>
          <p:cNvSpPr txBox="1"/>
          <p:nvPr/>
        </p:nvSpPr>
        <p:spPr>
          <a:xfrm>
            <a:off x="832104" y="356616"/>
            <a:ext cx="7726680" cy="512064"/>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F5F5F5"/>
              </a:buClr>
              <a:buSzPts val="3200"/>
              <a:buFont typeface="Avenir"/>
              <a:buNone/>
            </a:pPr>
            <a:r>
              <a:rPr b="1" i="0" lang="en-US" sz="3200" u="none" cap="none" strike="noStrike">
                <a:solidFill>
                  <a:srgbClr val="F5F5F5"/>
                </a:solidFill>
                <a:latin typeface="Avenir"/>
                <a:ea typeface="Avenir"/>
                <a:cs typeface="Avenir"/>
                <a:sym typeface="Avenir"/>
              </a:rPr>
              <a:t>Failure leaves no partial state</a:t>
            </a:r>
            <a:endParaRPr b="0" i="0" sz="3200" u="none" cap="none" strike="noStrike">
              <a:solidFill>
                <a:schemeClr val="dk1"/>
              </a:solidFill>
              <a:latin typeface="Avenir"/>
              <a:ea typeface="Avenir"/>
              <a:cs typeface="Avenir"/>
              <a:sym typeface="Avenir"/>
            </a:endParaRPr>
          </a:p>
        </p:txBody>
      </p:sp>
      <p:sp>
        <p:nvSpPr>
          <p:cNvPr id="102" name="Google Shape;102;p6"/>
          <p:cNvSpPr txBox="1"/>
          <p:nvPr/>
        </p:nvSpPr>
        <p:spPr>
          <a:xfrm>
            <a:off x="585216" y="1307592"/>
            <a:ext cx="41148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F604"/>
              </a:buClr>
              <a:buSzPts val="1300"/>
              <a:buFont typeface="Avenir"/>
              <a:buNone/>
            </a:pPr>
            <a:r>
              <a:rPr b="1" i="0" lang="en-US" sz="1300" u="none" cap="none" strike="noStrike">
                <a:solidFill>
                  <a:srgbClr val="00F604"/>
                </a:solidFill>
                <a:latin typeface="Avenir"/>
                <a:ea typeface="Avenir"/>
                <a:cs typeface="Avenir"/>
                <a:sym typeface="Avenir"/>
              </a:rPr>
              <a:t>01</a:t>
            </a:r>
            <a:endParaRPr b="0" i="0" sz="1300" u="none" cap="none" strike="noStrike">
              <a:solidFill>
                <a:schemeClr val="dk1"/>
              </a:solidFill>
              <a:latin typeface="Avenir"/>
              <a:ea typeface="Avenir"/>
              <a:cs typeface="Avenir"/>
              <a:sym typeface="Avenir"/>
            </a:endParaRPr>
          </a:p>
        </p:txBody>
      </p:sp>
      <p:sp>
        <p:nvSpPr>
          <p:cNvPr id="103" name="Google Shape;103;p6"/>
          <p:cNvSpPr txBox="1"/>
          <p:nvPr/>
        </p:nvSpPr>
        <p:spPr>
          <a:xfrm>
            <a:off x="1115568" y="1261872"/>
            <a:ext cx="2743200" cy="512064"/>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F5F5F5"/>
              </a:buClr>
              <a:buSzPts val="2000"/>
              <a:buFont typeface="Avenir"/>
              <a:buNone/>
            </a:pPr>
            <a:r>
              <a:rPr b="1" i="0" lang="en-US" sz="2000" u="none" cap="none" strike="noStrike">
                <a:solidFill>
                  <a:srgbClr val="F5F5F5"/>
                </a:solidFill>
                <a:latin typeface="Avenir"/>
                <a:ea typeface="Avenir"/>
                <a:cs typeface="Avenir"/>
                <a:sym typeface="Avenir"/>
              </a:rPr>
              <a:t>Validate before mutation</a:t>
            </a:r>
            <a:endParaRPr b="0" i="0" sz="2000" u="none" cap="none" strike="noStrike">
              <a:solidFill>
                <a:schemeClr val="dk1"/>
              </a:solidFill>
              <a:latin typeface="Avenir"/>
              <a:ea typeface="Avenir"/>
              <a:cs typeface="Avenir"/>
              <a:sym typeface="Avenir"/>
            </a:endParaRPr>
          </a:p>
        </p:txBody>
      </p:sp>
      <p:sp>
        <p:nvSpPr>
          <p:cNvPr id="104" name="Google Shape;104;p6"/>
          <p:cNvSpPr txBox="1"/>
          <p:nvPr/>
        </p:nvSpPr>
        <p:spPr>
          <a:xfrm>
            <a:off x="585216" y="2313432"/>
            <a:ext cx="41148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F604"/>
              </a:buClr>
              <a:buSzPts val="1300"/>
              <a:buFont typeface="Avenir"/>
              <a:buNone/>
            </a:pPr>
            <a:r>
              <a:rPr b="1" i="0" lang="en-US" sz="1300" u="none" cap="none" strike="noStrike">
                <a:solidFill>
                  <a:srgbClr val="00F604"/>
                </a:solidFill>
                <a:latin typeface="Avenir"/>
                <a:ea typeface="Avenir"/>
                <a:cs typeface="Avenir"/>
                <a:sym typeface="Avenir"/>
              </a:rPr>
              <a:t>02</a:t>
            </a:r>
            <a:endParaRPr b="0" i="0" sz="1300" u="none" cap="none" strike="noStrike">
              <a:solidFill>
                <a:schemeClr val="dk1"/>
              </a:solidFill>
              <a:latin typeface="Avenir"/>
              <a:ea typeface="Avenir"/>
              <a:cs typeface="Avenir"/>
              <a:sym typeface="Avenir"/>
            </a:endParaRPr>
          </a:p>
        </p:txBody>
      </p:sp>
      <p:sp>
        <p:nvSpPr>
          <p:cNvPr id="105" name="Google Shape;105;p6"/>
          <p:cNvSpPr txBox="1"/>
          <p:nvPr/>
        </p:nvSpPr>
        <p:spPr>
          <a:xfrm>
            <a:off x="1115568" y="2267712"/>
            <a:ext cx="2743200" cy="512064"/>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F5F5F5"/>
              </a:buClr>
              <a:buSzPts val="2000"/>
              <a:buFont typeface="Avenir"/>
              <a:buNone/>
            </a:pPr>
            <a:r>
              <a:rPr b="1" i="0" lang="en-US" sz="2000" u="none" cap="none" strike="noStrike">
                <a:solidFill>
                  <a:srgbClr val="F5F5F5"/>
                </a:solidFill>
                <a:latin typeface="Avenir"/>
                <a:ea typeface="Avenir"/>
                <a:cs typeface="Avenir"/>
                <a:sym typeface="Avenir"/>
              </a:rPr>
              <a:t>Commit balance and history together</a:t>
            </a:r>
            <a:endParaRPr b="0" i="0" sz="2000" u="none" cap="none" strike="noStrike">
              <a:solidFill>
                <a:schemeClr val="dk1"/>
              </a:solidFill>
              <a:latin typeface="Avenir"/>
              <a:ea typeface="Avenir"/>
              <a:cs typeface="Avenir"/>
              <a:sym typeface="Avenir"/>
            </a:endParaRPr>
          </a:p>
        </p:txBody>
      </p:sp>
      <p:sp>
        <p:nvSpPr>
          <p:cNvPr id="106" name="Google Shape;106;p6"/>
          <p:cNvSpPr txBox="1"/>
          <p:nvPr/>
        </p:nvSpPr>
        <p:spPr>
          <a:xfrm>
            <a:off x="585216" y="3319272"/>
            <a:ext cx="41148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F604"/>
              </a:buClr>
              <a:buSzPts val="1300"/>
              <a:buFont typeface="Avenir"/>
              <a:buNone/>
            </a:pPr>
            <a:r>
              <a:rPr b="1" i="0" lang="en-US" sz="1300" u="none" cap="none" strike="noStrike">
                <a:solidFill>
                  <a:srgbClr val="00F604"/>
                </a:solidFill>
                <a:latin typeface="Avenir"/>
                <a:ea typeface="Avenir"/>
                <a:cs typeface="Avenir"/>
                <a:sym typeface="Avenir"/>
              </a:rPr>
              <a:t>03</a:t>
            </a:r>
            <a:endParaRPr b="0" i="0" sz="1300" u="none" cap="none" strike="noStrike">
              <a:solidFill>
                <a:schemeClr val="dk1"/>
              </a:solidFill>
              <a:latin typeface="Avenir"/>
              <a:ea typeface="Avenir"/>
              <a:cs typeface="Avenir"/>
              <a:sym typeface="Avenir"/>
            </a:endParaRPr>
          </a:p>
        </p:txBody>
      </p:sp>
      <p:sp>
        <p:nvSpPr>
          <p:cNvPr id="107" name="Google Shape;107;p6"/>
          <p:cNvSpPr txBox="1"/>
          <p:nvPr/>
        </p:nvSpPr>
        <p:spPr>
          <a:xfrm>
            <a:off x="1115568" y="3273552"/>
            <a:ext cx="2743200" cy="512064"/>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F5F5F5"/>
              </a:buClr>
              <a:buSzPts val="2000"/>
              <a:buFont typeface="Avenir"/>
              <a:buNone/>
            </a:pPr>
            <a:r>
              <a:rPr b="1" i="0" lang="en-US" sz="2000" u="none" cap="none" strike="noStrike">
                <a:solidFill>
                  <a:srgbClr val="F5F5F5"/>
                </a:solidFill>
                <a:latin typeface="Avenir"/>
                <a:ea typeface="Avenir"/>
                <a:cs typeface="Avenir"/>
                <a:sym typeface="Avenir"/>
              </a:rPr>
              <a:t>Reject stale writes</a:t>
            </a:r>
            <a:endParaRPr b="0" i="0" sz="2000" u="none" cap="none" strike="noStrike">
              <a:solidFill>
                <a:schemeClr val="dk1"/>
              </a:solidFill>
              <a:latin typeface="Avenir"/>
              <a:ea typeface="Avenir"/>
              <a:cs typeface="Avenir"/>
              <a:sym typeface="Avenir"/>
            </a:endParaRPr>
          </a:p>
        </p:txBody>
      </p:sp>
      <p:sp>
        <p:nvSpPr>
          <p:cNvPr id="108" name="Google Shape;108;p6"/>
          <p:cNvSpPr/>
          <p:nvPr/>
        </p:nvSpPr>
        <p:spPr>
          <a:xfrm>
            <a:off x="4233672" y="1133856"/>
            <a:ext cx="4325112" cy="3282696"/>
          </a:xfrm>
          <a:prstGeom prst="rect">
            <a:avLst/>
          </a:prstGeom>
          <a:solidFill>
            <a:srgbClr val="1B1B1B"/>
          </a:solidFill>
          <a:ln cap="flat" cmpd="sng" w="10150">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Users/john/theborg/repos/atm/design/screenshots/overdraft.png" id="109" name="Google Shape;109;p6"/>
          <p:cNvPicPr preferRelativeResize="0"/>
          <p:nvPr/>
        </p:nvPicPr>
        <p:blipFill rotWithShape="1">
          <a:blip r:embed="rId3">
            <a:alphaModFix/>
          </a:blip>
          <a:srcRect b="0" l="0" r="0" t="0"/>
          <a:stretch/>
        </p:blipFill>
        <p:spPr>
          <a:xfrm>
            <a:off x="4270248" y="1170432"/>
            <a:ext cx="4251960" cy="3209544"/>
          </a:xfrm>
          <a:prstGeom prst="rect">
            <a:avLst/>
          </a:prstGeom>
          <a:noFill/>
          <a:ln>
            <a:noFill/>
          </a:ln>
        </p:spPr>
      </p:pic>
      <p:sp>
        <p:nvSpPr>
          <p:cNvPr id="110" name="Google Shape;110;p6"/>
          <p:cNvSpPr txBox="1"/>
          <p:nvPr/>
        </p:nvSpPr>
        <p:spPr>
          <a:xfrm>
            <a:off x="4233672" y="4489704"/>
            <a:ext cx="4325112" cy="201168"/>
          </a:xfrm>
          <a:prstGeom prst="rect">
            <a:avLst/>
          </a:prstGeom>
          <a:noFill/>
          <a:ln>
            <a:noFill/>
          </a:ln>
        </p:spPr>
        <p:txBody>
          <a:bodyPr anchorCtr="0" anchor="t" bIns="0" lIns="0" spcFirstLastPara="1" rIns="0" wrap="square" tIns="0">
            <a:normAutofit/>
          </a:bodyPr>
          <a:lstStyle/>
          <a:p>
            <a:pPr indent="0" lvl="0" marL="0" marR="0" rtl="0" algn="r">
              <a:spcBef>
                <a:spcPts val="0"/>
              </a:spcBef>
              <a:spcAft>
                <a:spcPts val="0"/>
              </a:spcAft>
              <a:buClr>
                <a:srgbClr val="00F604"/>
              </a:buClr>
              <a:buSzPts val="1150"/>
              <a:buFont typeface="Avenir"/>
              <a:buNone/>
            </a:pPr>
            <a:r>
              <a:rPr b="1" i="0" lang="en-US" sz="1150" u="none" cap="none" strike="noStrike">
                <a:solidFill>
                  <a:srgbClr val="00F604"/>
                </a:solidFill>
                <a:latin typeface="Avenir"/>
                <a:ea typeface="Avenir"/>
                <a:cs typeface="Avenir"/>
                <a:sym typeface="Avenir"/>
              </a:rPr>
              <a:t>Rejected overdraft. Persisted state stays unchanged.</a:t>
            </a:r>
            <a:endParaRPr b="0" i="0" sz="1150" u="none" cap="none" strike="noStrike">
              <a:solidFill>
                <a:schemeClr val="dk1"/>
              </a:solidFill>
              <a:latin typeface="Avenir"/>
              <a:ea typeface="Avenir"/>
              <a:cs typeface="Avenir"/>
              <a:sym typeface="Aveni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212"/>
        </a:solidFill>
      </p:bgPr>
    </p:bg>
    <p:spTree>
      <p:nvGrpSpPr>
        <p:cNvPr id="115" name="Shape 115"/>
        <p:cNvGrpSpPr/>
        <p:nvPr/>
      </p:nvGrpSpPr>
      <p:grpSpPr>
        <a:xfrm>
          <a:off x="0" y="0"/>
          <a:ext cx="0" cy="0"/>
          <a:chOff x="0" y="0"/>
          <a:chExt cx="0" cy="0"/>
        </a:xfrm>
      </p:grpSpPr>
      <p:sp>
        <p:nvSpPr>
          <p:cNvPr id="116" name="Google Shape;116;p7"/>
          <p:cNvSpPr/>
          <p:nvPr/>
        </p:nvSpPr>
        <p:spPr>
          <a:xfrm>
            <a:off x="585216" y="356616"/>
            <a:ext cx="91440" cy="438912"/>
          </a:xfrm>
          <a:prstGeom prst="rect">
            <a:avLst/>
          </a:prstGeom>
          <a:solidFill>
            <a:srgbClr val="00F604"/>
          </a:solidFill>
          <a:ln cap="flat" cmpd="sng" w="12700">
            <a:solidFill>
              <a:srgbClr val="00F604">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7"/>
          <p:cNvSpPr txBox="1"/>
          <p:nvPr/>
        </p:nvSpPr>
        <p:spPr>
          <a:xfrm>
            <a:off x="832104" y="356616"/>
            <a:ext cx="7726680" cy="512064"/>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F5F5F5"/>
              </a:buClr>
              <a:buSzPts val="3200"/>
              <a:buFont typeface="Avenir"/>
              <a:buNone/>
            </a:pPr>
            <a:r>
              <a:rPr b="1" i="0" lang="en-US" sz="3200" u="none" cap="none" strike="noStrike">
                <a:solidFill>
                  <a:srgbClr val="F5F5F5"/>
                </a:solidFill>
                <a:latin typeface="Avenir"/>
                <a:ea typeface="Avenir"/>
                <a:cs typeface="Avenir"/>
                <a:sym typeface="Avenir"/>
              </a:rPr>
              <a:t>143 tests by layer</a:t>
            </a:r>
            <a:endParaRPr b="0" i="0" sz="3200" u="none" cap="none" strike="noStrike">
              <a:solidFill>
                <a:schemeClr val="dk1"/>
              </a:solidFill>
              <a:latin typeface="Avenir"/>
              <a:ea typeface="Avenir"/>
              <a:cs typeface="Avenir"/>
              <a:sym typeface="Avenir"/>
            </a:endParaRPr>
          </a:p>
        </p:txBody>
      </p:sp>
      <p:sp>
        <p:nvSpPr>
          <p:cNvPr id="118" name="Google Shape;118;p7"/>
          <p:cNvSpPr txBox="1"/>
          <p:nvPr/>
        </p:nvSpPr>
        <p:spPr>
          <a:xfrm>
            <a:off x="585216" y="1225296"/>
            <a:ext cx="841248" cy="47548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F604"/>
              </a:buClr>
              <a:buSzPts val="3400"/>
              <a:buFont typeface="Avenir"/>
              <a:buNone/>
            </a:pPr>
            <a:r>
              <a:rPr b="1" i="0" lang="en-US" sz="3400" u="none" cap="none" strike="noStrike">
                <a:solidFill>
                  <a:srgbClr val="00F604"/>
                </a:solidFill>
                <a:latin typeface="Avenir"/>
                <a:ea typeface="Avenir"/>
                <a:cs typeface="Avenir"/>
                <a:sym typeface="Avenir"/>
              </a:rPr>
              <a:t>75</a:t>
            </a:r>
            <a:endParaRPr b="0" i="0" sz="3400" u="none" cap="none" strike="noStrike">
              <a:solidFill>
                <a:schemeClr val="dk1"/>
              </a:solidFill>
              <a:latin typeface="Avenir"/>
              <a:ea typeface="Avenir"/>
              <a:cs typeface="Avenir"/>
              <a:sym typeface="Avenir"/>
            </a:endParaRPr>
          </a:p>
        </p:txBody>
      </p:sp>
      <p:sp>
        <p:nvSpPr>
          <p:cNvPr id="119" name="Google Shape;119;p7"/>
          <p:cNvSpPr txBox="1"/>
          <p:nvPr/>
        </p:nvSpPr>
        <p:spPr>
          <a:xfrm>
            <a:off x="1508760" y="1243584"/>
            <a:ext cx="2075688" cy="256032"/>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F5F5F5"/>
              </a:buClr>
              <a:buSzPts val="1600"/>
              <a:buFont typeface="Avenir"/>
              <a:buNone/>
            </a:pPr>
            <a:r>
              <a:rPr b="1" i="0" lang="en-US" sz="1600" u="none" cap="none" strike="noStrike">
                <a:solidFill>
                  <a:srgbClr val="F5F5F5"/>
                </a:solidFill>
                <a:latin typeface="Avenir"/>
                <a:ea typeface="Avenir"/>
                <a:cs typeface="Avenir"/>
                <a:sym typeface="Avenir"/>
              </a:rPr>
              <a:t>Domain</a:t>
            </a:r>
            <a:endParaRPr b="0" i="0" sz="1600" u="none" cap="none" strike="noStrike">
              <a:solidFill>
                <a:schemeClr val="dk1"/>
              </a:solidFill>
              <a:latin typeface="Avenir"/>
              <a:ea typeface="Avenir"/>
              <a:cs typeface="Avenir"/>
              <a:sym typeface="Avenir"/>
            </a:endParaRPr>
          </a:p>
        </p:txBody>
      </p:sp>
      <p:sp>
        <p:nvSpPr>
          <p:cNvPr id="120" name="Google Shape;120;p7"/>
          <p:cNvSpPr txBox="1"/>
          <p:nvPr/>
        </p:nvSpPr>
        <p:spPr>
          <a:xfrm>
            <a:off x="1508760" y="1572768"/>
            <a:ext cx="2075688" cy="219456"/>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A9ADB3"/>
              </a:buClr>
              <a:buSzPts val="1200"/>
              <a:buFont typeface="Avenir"/>
              <a:buNone/>
            </a:pPr>
            <a:r>
              <a:rPr b="0" i="0" lang="en-US" sz="1200" u="none" cap="none" strike="noStrike">
                <a:solidFill>
                  <a:srgbClr val="A9ADB3"/>
                </a:solidFill>
                <a:latin typeface="Avenir"/>
                <a:ea typeface="Avenir"/>
                <a:cs typeface="Avenir"/>
                <a:sym typeface="Avenir"/>
              </a:rPr>
              <a:t>Invariants</a:t>
            </a:r>
            <a:endParaRPr b="0" i="0" sz="1200" u="none" cap="none" strike="noStrike">
              <a:solidFill>
                <a:schemeClr val="dk1"/>
              </a:solidFill>
              <a:latin typeface="Avenir"/>
              <a:ea typeface="Avenir"/>
              <a:cs typeface="Avenir"/>
              <a:sym typeface="Avenir"/>
            </a:endParaRPr>
          </a:p>
        </p:txBody>
      </p:sp>
      <p:sp>
        <p:nvSpPr>
          <p:cNvPr id="121" name="Google Shape;121;p7"/>
          <p:cNvSpPr txBox="1"/>
          <p:nvPr/>
        </p:nvSpPr>
        <p:spPr>
          <a:xfrm>
            <a:off x="585216" y="2203704"/>
            <a:ext cx="841248" cy="47548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F604"/>
              </a:buClr>
              <a:buSzPts val="3400"/>
              <a:buFont typeface="Avenir"/>
              <a:buNone/>
            </a:pPr>
            <a:r>
              <a:rPr b="1" i="0" lang="en-US" sz="3400" u="none" cap="none" strike="noStrike">
                <a:solidFill>
                  <a:srgbClr val="00F604"/>
                </a:solidFill>
                <a:latin typeface="Avenir"/>
                <a:ea typeface="Avenir"/>
                <a:cs typeface="Avenir"/>
                <a:sym typeface="Avenir"/>
              </a:rPr>
              <a:t>33</a:t>
            </a:r>
            <a:endParaRPr b="0" i="0" sz="3400" u="none" cap="none" strike="noStrike">
              <a:solidFill>
                <a:schemeClr val="dk1"/>
              </a:solidFill>
              <a:latin typeface="Avenir"/>
              <a:ea typeface="Avenir"/>
              <a:cs typeface="Avenir"/>
              <a:sym typeface="Avenir"/>
            </a:endParaRPr>
          </a:p>
        </p:txBody>
      </p:sp>
      <p:sp>
        <p:nvSpPr>
          <p:cNvPr id="122" name="Google Shape;122;p7"/>
          <p:cNvSpPr txBox="1"/>
          <p:nvPr/>
        </p:nvSpPr>
        <p:spPr>
          <a:xfrm>
            <a:off x="1508760" y="2221992"/>
            <a:ext cx="2075688" cy="256032"/>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F5F5F5"/>
              </a:buClr>
              <a:buSzPts val="1600"/>
              <a:buFont typeface="Avenir"/>
              <a:buNone/>
            </a:pPr>
            <a:r>
              <a:rPr b="1" i="0" lang="en-US" sz="1600" u="none" cap="none" strike="noStrike">
                <a:solidFill>
                  <a:srgbClr val="F5F5F5"/>
                </a:solidFill>
                <a:latin typeface="Avenir"/>
                <a:ea typeface="Avenir"/>
                <a:cs typeface="Avenir"/>
                <a:sym typeface="Avenir"/>
              </a:rPr>
              <a:t>Application</a:t>
            </a:r>
            <a:endParaRPr b="0" i="0" sz="1600" u="none" cap="none" strike="noStrike">
              <a:solidFill>
                <a:schemeClr val="dk1"/>
              </a:solidFill>
              <a:latin typeface="Avenir"/>
              <a:ea typeface="Avenir"/>
              <a:cs typeface="Avenir"/>
              <a:sym typeface="Avenir"/>
            </a:endParaRPr>
          </a:p>
        </p:txBody>
      </p:sp>
      <p:sp>
        <p:nvSpPr>
          <p:cNvPr id="123" name="Google Shape;123;p7"/>
          <p:cNvSpPr txBox="1"/>
          <p:nvPr/>
        </p:nvSpPr>
        <p:spPr>
          <a:xfrm>
            <a:off x="1508760" y="2551176"/>
            <a:ext cx="2075688" cy="219456"/>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A9ADB3"/>
              </a:buClr>
              <a:buSzPts val="1200"/>
              <a:buFont typeface="Avenir"/>
              <a:buNone/>
            </a:pPr>
            <a:r>
              <a:rPr b="0" i="0" lang="en-US" sz="1200" u="none" cap="none" strike="noStrike">
                <a:solidFill>
                  <a:srgbClr val="A9ADB3"/>
                </a:solidFill>
                <a:latin typeface="Avenir"/>
                <a:ea typeface="Avenir"/>
                <a:cs typeface="Avenir"/>
                <a:sym typeface="Avenir"/>
              </a:rPr>
              <a:t>Orchestration</a:t>
            </a:r>
            <a:endParaRPr b="0" i="0" sz="1200" u="none" cap="none" strike="noStrike">
              <a:solidFill>
                <a:schemeClr val="dk1"/>
              </a:solidFill>
              <a:latin typeface="Avenir"/>
              <a:ea typeface="Avenir"/>
              <a:cs typeface="Avenir"/>
              <a:sym typeface="Avenir"/>
            </a:endParaRPr>
          </a:p>
        </p:txBody>
      </p:sp>
      <p:sp>
        <p:nvSpPr>
          <p:cNvPr id="124" name="Google Shape;124;p7"/>
          <p:cNvSpPr txBox="1"/>
          <p:nvPr/>
        </p:nvSpPr>
        <p:spPr>
          <a:xfrm>
            <a:off x="585216" y="3182112"/>
            <a:ext cx="841248" cy="47548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F604"/>
              </a:buClr>
              <a:buSzPts val="3400"/>
              <a:buFont typeface="Avenir"/>
              <a:buNone/>
            </a:pPr>
            <a:r>
              <a:rPr b="1" i="0" lang="en-US" sz="3400" u="none" cap="none" strike="noStrike">
                <a:solidFill>
                  <a:srgbClr val="00F604"/>
                </a:solidFill>
                <a:latin typeface="Avenir"/>
                <a:ea typeface="Avenir"/>
                <a:cs typeface="Avenir"/>
                <a:sym typeface="Avenir"/>
              </a:rPr>
              <a:t>35</a:t>
            </a:r>
            <a:endParaRPr b="0" i="0" sz="3400" u="none" cap="none" strike="noStrike">
              <a:solidFill>
                <a:schemeClr val="dk1"/>
              </a:solidFill>
              <a:latin typeface="Avenir"/>
              <a:ea typeface="Avenir"/>
              <a:cs typeface="Avenir"/>
              <a:sym typeface="Avenir"/>
            </a:endParaRPr>
          </a:p>
        </p:txBody>
      </p:sp>
      <p:sp>
        <p:nvSpPr>
          <p:cNvPr id="125" name="Google Shape;125;p7"/>
          <p:cNvSpPr txBox="1"/>
          <p:nvPr/>
        </p:nvSpPr>
        <p:spPr>
          <a:xfrm>
            <a:off x="1508760" y="3200400"/>
            <a:ext cx="2075688" cy="256032"/>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F5F5F5"/>
              </a:buClr>
              <a:buSzPts val="1600"/>
              <a:buFont typeface="Avenir"/>
              <a:buNone/>
            </a:pPr>
            <a:r>
              <a:rPr b="1" i="0" lang="en-US" sz="1600" u="none" cap="none" strike="noStrike">
                <a:solidFill>
                  <a:srgbClr val="F5F5F5"/>
                </a:solidFill>
                <a:latin typeface="Avenir"/>
                <a:ea typeface="Avenir"/>
                <a:cs typeface="Avenir"/>
                <a:sym typeface="Avenir"/>
              </a:rPr>
              <a:t>Integration + HTTP</a:t>
            </a:r>
            <a:endParaRPr b="0" i="0" sz="1600" u="none" cap="none" strike="noStrike">
              <a:solidFill>
                <a:schemeClr val="dk1"/>
              </a:solidFill>
              <a:latin typeface="Avenir"/>
              <a:ea typeface="Avenir"/>
              <a:cs typeface="Avenir"/>
              <a:sym typeface="Avenir"/>
            </a:endParaRPr>
          </a:p>
        </p:txBody>
      </p:sp>
      <p:sp>
        <p:nvSpPr>
          <p:cNvPr id="126" name="Google Shape;126;p7"/>
          <p:cNvSpPr txBox="1"/>
          <p:nvPr/>
        </p:nvSpPr>
        <p:spPr>
          <a:xfrm>
            <a:off x="1508760" y="3529584"/>
            <a:ext cx="2075688" cy="219456"/>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A9ADB3"/>
              </a:buClr>
              <a:buSzPts val="1200"/>
              <a:buFont typeface="Avenir"/>
              <a:buNone/>
            </a:pPr>
            <a:r>
              <a:rPr b="0" i="0" lang="en-US" sz="1200" u="none" cap="none" strike="noStrike">
                <a:solidFill>
                  <a:srgbClr val="A9ADB3"/>
                </a:solidFill>
                <a:latin typeface="Avenir"/>
                <a:ea typeface="Avenir"/>
                <a:cs typeface="Avenir"/>
                <a:sym typeface="Avenir"/>
              </a:rPr>
              <a:t>Persistence and HTTP</a:t>
            </a:r>
            <a:endParaRPr b="0" i="0" sz="1200" u="none" cap="none" strike="noStrike">
              <a:solidFill>
                <a:schemeClr val="dk1"/>
              </a:solidFill>
              <a:latin typeface="Avenir"/>
              <a:ea typeface="Avenir"/>
              <a:cs typeface="Avenir"/>
              <a:sym typeface="Avenir"/>
            </a:endParaRPr>
          </a:p>
        </p:txBody>
      </p:sp>
      <p:sp>
        <p:nvSpPr>
          <p:cNvPr id="127" name="Google Shape;127;p7"/>
          <p:cNvSpPr/>
          <p:nvPr/>
        </p:nvSpPr>
        <p:spPr>
          <a:xfrm>
            <a:off x="4800600" y="1115568"/>
            <a:ext cx="3758184" cy="2926080"/>
          </a:xfrm>
          <a:prstGeom prst="rect">
            <a:avLst/>
          </a:prstGeom>
          <a:solidFill>
            <a:srgbClr val="1B1B1B"/>
          </a:solidFill>
          <a:ln cap="flat" cmpd="sng" w="10150">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Users/john/theborg/repos/atm/design/screenshots/receipt.png" id="128" name="Google Shape;128;p7"/>
          <p:cNvPicPr preferRelativeResize="0"/>
          <p:nvPr/>
        </p:nvPicPr>
        <p:blipFill rotWithShape="1">
          <a:blip r:embed="rId3">
            <a:alphaModFix/>
          </a:blip>
          <a:srcRect b="0" l="0" r="0" t="0"/>
          <a:stretch/>
        </p:blipFill>
        <p:spPr>
          <a:xfrm>
            <a:off x="4837176" y="1152144"/>
            <a:ext cx="3685032" cy="2852928"/>
          </a:xfrm>
          <a:prstGeom prst="rect">
            <a:avLst/>
          </a:prstGeom>
          <a:noFill/>
          <a:ln>
            <a:noFill/>
          </a:ln>
        </p:spPr>
      </p:pic>
      <p:sp>
        <p:nvSpPr>
          <p:cNvPr id="129" name="Google Shape;129;p7"/>
          <p:cNvSpPr txBox="1"/>
          <p:nvPr/>
        </p:nvSpPr>
        <p:spPr>
          <a:xfrm>
            <a:off x="4800600" y="4187952"/>
            <a:ext cx="3758184" cy="219456"/>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00F604"/>
              </a:buClr>
              <a:buSzPts val="1200"/>
              <a:buFont typeface="Avenir"/>
              <a:buNone/>
            </a:pPr>
            <a:r>
              <a:rPr b="0" i="0" lang="en-US" sz="1200" u="none" cap="none" strike="noStrike">
                <a:solidFill>
                  <a:srgbClr val="00F604"/>
                </a:solidFill>
                <a:latin typeface="Avenir"/>
                <a:ea typeface="Avenir"/>
                <a:cs typeface="Avenir"/>
                <a:sym typeface="Avenir"/>
              </a:rPr>
              <a:t>Success receipt after Post/Redirect/Get.</a:t>
            </a:r>
            <a:endParaRPr b="0" i="0" sz="1200" u="none" cap="none" strike="noStrike">
              <a:solidFill>
                <a:schemeClr val="dk1"/>
              </a:solidFill>
              <a:latin typeface="Avenir"/>
              <a:ea typeface="Avenir"/>
              <a:cs typeface="Avenir"/>
              <a:sym typeface="Aveni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212"/>
        </a:solidFill>
      </p:bgPr>
    </p:bg>
    <p:spTree>
      <p:nvGrpSpPr>
        <p:cNvPr id="134" name="Shape 134"/>
        <p:cNvGrpSpPr/>
        <p:nvPr/>
      </p:nvGrpSpPr>
      <p:grpSpPr>
        <a:xfrm>
          <a:off x="0" y="0"/>
          <a:ext cx="0" cy="0"/>
          <a:chOff x="0" y="0"/>
          <a:chExt cx="0" cy="0"/>
        </a:xfrm>
      </p:grpSpPr>
      <p:sp>
        <p:nvSpPr>
          <p:cNvPr id="135" name="Google Shape;135;p8"/>
          <p:cNvSpPr/>
          <p:nvPr/>
        </p:nvSpPr>
        <p:spPr>
          <a:xfrm>
            <a:off x="585216" y="356616"/>
            <a:ext cx="91440" cy="438912"/>
          </a:xfrm>
          <a:prstGeom prst="rect">
            <a:avLst/>
          </a:prstGeom>
          <a:solidFill>
            <a:srgbClr val="00F604"/>
          </a:solidFill>
          <a:ln cap="flat" cmpd="sng" w="12700">
            <a:solidFill>
              <a:srgbClr val="00F604">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8"/>
          <p:cNvSpPr txBox="1"/>
          <p:nvPr/>
        </p:nvSpPr>
        <p:spPr>
          <a:xfrm>
            <a:off x="832104" y="356616"/>
            <a:ext cx="7726680" cy="512064"/>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F5F5F5"/>
              </a:buClr>
              <a:buSzPts val="3200"/>
              <a:buFont typeface="Avenir"/>
              <a:buNone/>
            </a:pPr>
            <a:r>
              <a:rPr b="1" i="0" lang="en-US" sz="3200" u="none" cap="none" strike="noStrike">
                <a:solidFill>
                  <a:srgbClr val="F5F5F5"/>
                </a:solidFill>
                <a:latin typeface="Avenir"/>
                <a:ea typeface="Avenir"/>
                <a:cs typeface="Avenir"/>
                <a:sym typeface="Avenir"/>
              </a:rPr>
              <a:t>Tradeoffs and roadmap</a:t>
            </a:r>
            <a:endParaRPr b="0" i="0" sz="3200" u="none" cap="none" strike="noStrike">
              <a:solidFill>
                <a:schemeClr val="dk1"/>
              </a:solidFill>
              <a:latin typeface="Avenir"/>
              <a:ea typeface="Avenir"/>
              <a:cs typeface="Avenir"/>
              <a:sym typeface="Avenir"/>
            </a:endParaRPr>
          </a:p>
        </p:txBody>
      </p:sp>
      <p:sp>
        <p:nvSpPr>
          <p:cNvPr id="137" name="Google Shape;137;p8"/>
          <p:cNvSpPr txBox="1"/>
          <p:nvPr/>
        </p:nvSpPr>
        <p:spPr>
          <a:xfrm>
            <a:off x="585216" y="1188720"/>
            <a:ext cx="2240280" cy="228600"/>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F67F00"/>
              </a:buClr>
              <a:buSzPts val="1100"/>
              <a:buFont typeface="Avenir"/>
              <a:buNone/>
            </a:pPr>
            <a:r>
              <a:rPr b="1" i="0" lang="en-US" sz="1100" u="none" cap="none" strike="noStrike">
                <a:solidFill>
                  <a:srgbClr val="F67F00"/>
                </a:solidFill>
                <a:latin typeface="Avenir"/>
                <a:ea typeface="Avenir"/>
                <a:cs typeface="Avenir"/>
                <a:sym typeface="Avenir"/>
              </a:rPr>
              <a:t>OMITTED</a:t>
            </a:r>
            <a:endParaRPr b="0" i="0" sz="1100" u="none" cap="none" strike="noStrike">
              <a:solidFill>
                <a:schemeClr val="dk1"/>
              </a:solidFill>
              <a:latin typeface="Avenir"/>
              <a:ea typeface="Avenir"/>
              <a:cs typeface="Avenir"/>
              <a:sym typeface="Avenir"/>
            </a:endParaRPr>
          </a:p>
        </p:txBody>
      </p:sp>
      <p:sp>
        <p:nvSpPr>
          <p:cNvPr id="138" name="Google Shape;138;p8"/>
          <p:cNvSpPr txBox="1"/>
          <p:nvPr/>
        </p:nvSpPr>
        <p:spPr>
          <a:xfrm>
            <a:off x="585216" y="1627632"/>
            <a:ext cx="2240280" cy="320040"/>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F5F5F5"/>
              </a:buClr>
              <a:buSzPts val="1900"/>
              <a:buFont typeface="Avenir"/>
              <a:buNone/>
            </a:pPr>
            <a:r>
              <a:rPr b="1" i="0" lang="en-US" sz="1900" u="none" cap="none" strike="noStrike">
                <a:solidFill>
                  <a:srgbClr val="F5F5F5"/>
                </a:solidFill>
                <a:latin typeface="Avenir"/>
                <a:ea typeface="Avenir"/>
                <a:cs typeface="Avenir"/>
                <a:sym typeface="Avenir"/>
              </a:rPr>
              <a:t>Identity</a:t>
            </a:r>
            <a:endParaRPr b="0" i="0" sz="1900" u="none" cap="none" strike="noStrike">
              <a:solidFill>
                <a:schemeClr val="dk1"/>
              </a:solidFill>
              <a:latin typeface="Avenir"/>
              <a:ea typeface="Avenir"/>
              <a:cs typeface="Avenir"/>
              <a:sym typeface="Avenir"/>
            </a:endParaRPr>
          </a:p>
        </p:txBody>
      </p:sp>
      <p:sp>
        <p:nvSpPr>
          <p:cNvPr id="139" name="Google Shape;139;p8"/>
          <p:cNvSpPr txBox="1"/>
          <p:nvPr/>
        </p:nvSpPr>
        <p:spPr>
          <a:xfrm>
            <a:off x="585216" y="2286000"/>
            <a:ext cx="2240280" cy="320040"/>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F5F5F5"/>
              </a:buClr>
              <a:buSzPts val="1900"/>
              <a:buFont typeface="Avenir"/>
              <a:buNone/>
            </a:pPr>
            <a:r>
              <a:rPr b="1" i="0" lang="en-US" sz="1900" u="none" cap="none" strike="noStrike">
                <a:solidFill>
                  <a:srgbClr val="F5F5F5"/>
                </a:solidFill>
                <a:latin typeface="Avenir"/>
                <a:ea typeface="Avenir"/>
                <a:cs typeface="Avenir"/>
                <a:sym typeface="Avenir"/>
              </a:rPr>
              <a:t>Banking breadth</a:t>
            </a:r>
            <a:endParaRPr b="0" i="0" sz="1900" u="none" cap="none" strike="noStrike">
              <a:solidFill>
                <a:schemeClr val="dk1"/>
              </a:solidFill>
              <a:latin typeface="Avenir"/>
              <a:ea typeface="Avenir"/>
              <a:cs typeface="Avenir"/>
              <a:sym typeface="Avenir"/>
            </a:endParaRPr>
          </a:p>
        </p:txBody>
      </p:sp>
      <p:sp>
        <p:nvSpPr>
          <p:cNvPr id="140" name="Google Shape;140;p8"/>
          <p:cNvSpPr txBox="1"/>
          <p:nvPr/>
        </p:nvSpPr>
        <p:spPr>
          <a:xfrm>
            <a:off x="585216" y="2944368"/>
            <a:ext cx="2240280" cy="320040"/>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F5F5F5"/>
              </a:buClr>
              <a:buSzPts val="1900"/>
              <a:buFont typeface="Avenir"/>
              <a:buNone/>
            </a:pPr>
            <a:r>
              <a:rPr b="1" i="0" lang="en-US" sz="1900" u="none" cap="none" strike="noStrike">
                <a:solidFill>
                  <a:srgbClr val="F5F5F5"/>
                </a:solidFill>
                <a:latin typeface="Avenir"/>
                <a:ea typeface="Avenir"/>
                <a:cs typeface="Avenir"/>
                <a:sym typeface="Avenir"/>
              </a:rPr>
              <a:t>Distributed operations</a:t>
            </a:r>
            <a:endParaRPr b="0" i="0" sz="1900" u="none" cap="none" strike="noStrike">
              <a:solidFill>
                <a:schemeClr val="dk1"/>
              </a:solidFill>
              <a:latin typeface="Avenir"/>
              <a:ea typeface="Avenir"/>
              <a:cs typeface="Avenir"/>
              <a:sym typeface="Avenir"/>
            </a:endParaRPr>
          </a:p>
        </p:txBody>
      </p:sp>
      <p:cxnSp>
        <p:nvCxnSpPr>
          <p:cNvPr id="141" name="Google Shape;141;p8"/>
          <p:cNvCxnSpPr/>
          <p:nvPr/>
        </p:nvCxnSpPr>
        <p:spPr>
          <a:xfrm>
            <a:off x="3054096" y="1179576"/>
            <a:ext cx="0" cy="3054096"/>
          </a:xfrm>
          <a:prstGeom prst="straightConnector1">
            <a:avLst/>
          </a:prstGeom>
          <a:noFill/>
          <a:ln cap="flat" cmpd="sng" w="12700">
            <a:solidFill>
              <a:srgbClr val="333333"/>
            </a:solidFill>
            <a:prstDash val="solid"/>
            <a:round/>
            <a:headEnd len="sm" w="sm" type="none"/>
            <a:tailEnd len="sm" w="sm" type="none"/>
          </a:ln>
        </p:spPr>
      </p:cxnSp>
      <p:sp>
        <p:nvSpPr>
          <p:cNvPr id="142" name="Google Shape;142;p8"/>
          <p:cNvSpPr txBox="1"/>
          <p:nvPr/>
        </p:nvSpPr>
        <p:spPr>
          <a:xfrm>
            <a:off x="3383280" y="1188720"/>
            <a:ext cx="731520" cy="228600"/>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00F604"/>
              </a:buClr>
              <a:buSzPts val="1100"/>
              <a:buFont typeface="Avenir"/>
              <a:buNone/>
            </a:pPr>
            <a:r>
              <a:rPr b="1" i="0" lang="en-US" sz="1100" u="none" cap="none" strike="noStrike">
                <a:solidFill>
                  <a:srgbClr val="00F604"/>
                </a:solidFill>
                <a:latin typeface="Avenir"/>
                <a:ea typeface="Avenir"/>
                <a:cs typeface="Avenir"/>
                <a:sym typeface="Avenir"/>
              </a:rPr>
              <a:t>NEXT</a:t>
            </a:r>
            <a:endParaRPr b="0" i="0" sz="1100" u="none" cap="none" strike="noStrike">
              <a:solidFill>
                <a:schemeClr val="dk1"/>
              </a:solidFill>
              <a:latin typeface="Avenir"/>
              <a:ea typeface="Avenir"/>
              <a:cs typeface="Avenir"/>
              <a:sym typeface="Avenir"/>
            </a:endParaRPr>
          </a:p>
        </p:txBody>
      </p:sp>
      <p:sp>
        <p:nvSpPr>
          <p:cNvPr id="143" name="Google Shape;143;p8"/>
          <p:cNvSpPr txBox="1"/>
          <p:nvPr/>
        </p:nvSpPr>
        <p:spPr>
          <a:xfrm>
            <a:off x="3383280" y="1536192"/>
            <a:ext cx="2743200" cy="475488"/>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F5F5F5"/>
              </a:buClr>
              <a:buSzPts val="1600"/>
              <a:buFont typeface="Avenir"/>
              <a:buNone/>
            </a:pPr>
            <a:r>
              <a:rPr b="1" i="0" lang="en-US" sz="1600" u="none" cap="none" strike="noStrike">
                <a:solidFill>
                  <a:srgbClr val="F5F5F5"/>
                </a:solidFill>
                <a:latin typeface="Avenir"/>
                <a:ea typeface="Avenir"/>
                <a:cs typeface="Avenir"/>
                <a:sym typeface="Avenir"/>
              </a:rPr>
              <a:t>Double-submit protection, auditing, authentication</a:t>
            </a:r>
            <a:endParaRPr b="0" i="0" sz="1600" u="none" cap="none" strike="noStrike">
              <a:solidFill>
                <a:schemeClr val="dk1"/>
              </a:solidFill>
              <a:latin typeface="Avenir"/>
              <a:ea typeface="Avenir"/>
              <a:cs typeface="Avenir"/>
              <a:sym typeface="Avenir"/>
            </a:endParaRPr>
          </a:p>
        </p:txBody>
      </p:sp>
      <p:sp>
        <p:nvSpPr>
          <p:cNvPr id="144" name="Google Shape;144;p8"/>
          <p:cNvSpPr txBox="1"/>
          <p:nvPr/>
        </p:nvSpPr>
        <p:spPr>
          <a:xfrm>
            <a:off x="3383280" y="2167128"/>
            <a:ext cx="731520" cy="228600"/>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00F604"/>
              </a:buClr>
              <a:buSzPts val="1100"/>
              <a:buFont typeface="Avenir"/>
              <a:buNone/>
            </a:pPr>
            <a:r>
              <a:rPr b="1" i="0" lang="en-US" sz="1100" u="none" cap="none" strike="noStrike">
                <a:solidFill>
                  <a:srgbClr val="00F604"/>
                </a:solidFill>
                <a:latin typeface="Avenir"/>
                <a:ea typeface="Avenir"/>
                <a:cs typeface="Avenir"/>
                <a:sym typeface="Avenir"/>
              </a:rPr>
              <a:t>THEN</a:t>
            </a:r>
            <a:endParaRPr b="0" i="0" sz="1100" u="none" cap="none" strike="noStrike">
              <a:solidFill>
                <a:schemeClr val="dk1"/>
              </a:solidFill>
              <a:latin typeface="Avenir"/>
              <a:ea typeface="Avenir"/>
              <a:cs typeface="Avenir"/>
              <a:sym typeface="Avenir"/>
            </a:endParaRPr>
          </a:p>
        </p:txBody>
      </p:sp>
      <p:sp>
        <p:nvSpPr>
          <p:cNvPr id="145" name="Google Shape;145;p8"/>
          <p:cNvSpPr txBox="1"/>
          <p:nvPr/>
        </p:nvSpPr>
        <p:spPr>
          <a:xfrm>
            <a:off x="3383280" y="2514600"/>
            <a:ext cx="2743200" cy="475488"/>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F5F5F5"/>
              </a:buClr>
              <a:buSzPts val="1600"/>
              <a:buFont typeface="Avenir"/>
              <a:buNone/>
            </a:pPr>
            <a:r>
              <a:rPr b="1" i="0" lang="en-US" sz="1600" u="none" cap="none" strike="noStrike">
                <a:solidFill>
                  <a:srgbClr val="F5F5F5"/>
                </a:solidFill>
                <a:latin typeface="Avenir"/>
                <a:ea typeface="Avenir"/>
                <a:cs typeface="Avenir"/>
                <a:sym typeface="Avenir"/>
              </a:rPr>
              <a:t>Accessibility, observability, load tests</a:t>
            </a:r>
            <a:endParaRPr b="0" i="0" sz="1600" u="none" cap="none" strike="noStrike">
              <a:solidFill>
                <a:schemeClr val="dk1"/>
              </a:solidFill>
              <a:latin typeface="Avenir"/>
              <a:ea typeface="Avenir"/>
              <a:cs typeface="Avenir"/>
              <a:sym typeface="Avenir"/>
            </a:endParaRPr>
          </a:p>
        </p:txBody>
      </p:sp>
      <p:sp>
        <p:nvSpPr>
          <p:cNvPr id="146" name="Google Shape;146;p8"/>
          <p:cNvSpPr txBox="1"/>
          <p:nvPr/>
        </p:nvSpPr>
        <p:spPr>
          <a:xfrm>
            <a:off x="3383280" y="3145536"/>
            <a:ext cx="731520" cy="228600"/>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00F604"/>
              </a:buClr>
              <a:buSzPts val="1100"/>
              <a:buFont typeface="Avenir"/>
              <a:buNone/>
            </a:pPr>
            <a:r>
              <a:rPr b="1" i="0" lang="en-US" sz="1100" u="none" cap="none" strike="noStrike">
                <a:solidFill>
                  <a:srgbClr val="00F604"/>
                </a:solidFill>
                <a:latin typeface="Avenir"/>
                <a:ea typeface="Avenir"/>
                <a:cs typeface="Avenir"/>
                <a:sym typeface="Avenir"/>
              </a:rPr>
              <a:t>LATER</a:t>
            </a:r>
            <a:endParaRPr b="0" i="0" sz="1100" u="none" cap="none" strike="noStrike">
              <a:solidFill>
                <a:schemeClr val="dk1"/>
              </a:solidFill>
              <a:latin typeface="Avenir"/>
              <a:ea typeface="Avenir"/>
              <a:cs typeface="Avenir"/>
              <a:sym typeface="Avenir"/>
            </a:endParaRPr>
          </a:p>
        </p:txBody>
      </p:sp>
      <p:sp>
        <p:nvSpPr>
          <p:cNvPr id="147" name="Google Shape;147;p8"/>
          <p:cNvSpPr txBox="1"/>
          <p:nvPr/>
        </p:nvSpPr>
        <p:spPr>
          <a:xfrm>
            <a:off x="3383280" y="3493008"/>
            <a:ext cx="2743200" cy="475488"/>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F5F5F5"/>
              </a:buClr>
              <a:buSzPts val="1600"/>
              <a:buFont typeface="Avenir"/>
              <a:buNone/>
            </a:pPr>
            <a:r>
              <a:rPr b="1" i="0" lang="en-US" sz="1600" u="none" cap="none" strike="noStrike">
                <a:solidFill>
                  <a:srgbClr val="F5F5F5"/>
                </a:solidFill>
                <a:latin typeface="Avenir"/>
                <a:ea typeface="Avenir"/>
                <a:cs typeface="Avenir"/>
                <a:sym typeface="Avenir"/>
              </a:rPr>
              <a:t>Deployment, browser coverage</a:t>
            </a:r>
            <a:endParaRPr b="0" i="0" sz="1600" u="none" cap="none" strike="noStrike">
              <a:solidFill>
                <a:schemeClr val="dk1"/>
              </a:solidFill>
              <a:latin typeface="Avenir"/>
              <a:ea typeface="Avenir"/>
              <a:cs typeface="Avenir"/>
              <a:sym typeface="Avenir"/>
            </a:endParaRPr>
          </a:p>
        </p:txBody>
      </p:sp>
      <p:sp>
        <p:nvSpPr>
          <p:cNvPr id="148" name="Google Shape;148;p8"/>
          <p:cNvSpPr/>
          <p:nvPr/>
        </p:nvSpPr>
        <p:spPr>
          <a:xfrm>
            <a:off x="6986016" y="1078992"/>
            <a:ext cx="1005840" cy="3310128"/>
          </a:xfrm>
          <a:prstGeom prst="rect">
            <a:avLst/>
          </a:prstGeom>
          <a:solidFill>
            <a:srgbClr val="1B1B1B"/>
          </a:solidFill>
          <a:ln cap="flat" cmpd="sng" w="10150">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Users/john/theborg/repos/atm/design/screenshots/phone.png" id="149" name="Google Shape;149;p8"/>
          <p:cNvPicPr preferRelativeResize="0"/>
          <p:nvPr/>
        </p:nvPicPr>
        <p:blipFill rotWithShape="1">
          <a:blip r:embed="rId3">
            <a:alphaModFix/>
          </a:blip>
          <a:srcRect b="0" l="0" r="0" t="0"/>
          <a:stretch/>
        </p:blipFill>
        <p:spPr>
          <a:xfrm>
            <a:off x="7022592" y="1115568"/>
            <a:ext cx="932688" cy="3236976"/>
          </a:xfrm>
          <a:prstGeom prst="rect">
            <a:avLst/>
          </a:prstGeom>
          <a:noFill/>
          <a:ln>
            <a:noFill/>
          </a:ln>
        </p:spPr>
      </p:pic>
      <p:sp>
        <p:nvSpPr>
          <p:cNvPr id="150" name="Google Shape;150;p8"/>
          <p:cNvSpPr txBox="1"/>
          <p:nvPr/>
        </p:nvSpPr>
        <p:spPr>
          <a:xfrm>
            <a:off x="6309360" y="4489704"/>
            <a:ext cx="2359152" cy="164592"/>
          </a:xfrm>
          <a:prstGeom prst="rect">
            <a:avLst/>
          </a:prstGeom>
          <a:noFill/>
          <a:ln>
            <a:noFill/>
          </a:ln>
        </p:spPr>
        <p:txBody>
          <a:bodyPr anchorCtr="0" anchor="t" bIns="0" lIns="0" spcFirstLastPara="1" rIns="0" wrap="square" tIns="0">
            <a:normAutofit/>
          </a:bodyPr>
          <a:lstStyle/>
          <a:p>
            <a:pPr indent="0" lvl="0" marL="0" marR="0" rtl="0" algn="ctr">
              <a:spcBef>
                <a:spcPts val="0"/>
              </a:spcBef>
              <a:spcAft>
                <a:spcPts val="0"/>
              </a:spcAft>
              <a:buClr>
                <a:srgbClr val="00F604"/>
              </a:buClr>
              <a:buSzPts val="1050"/>
              <a:buFont typeface="Avenir"/>
              <a:buNone/>
            </a:pPr>
            <a:r>
              <a:rPr b="0" i="0" lang="en-US" sz="1050" u="none" cap="none" strike="noStrike">
                <a:solidFill>
                  <a:srgbClr val="00F604"/>
                </a:solidFill>
                <a:latin typeface="Avenir"/>
                <a:ea typeface="Avenir"/>
                <a:cs typeface="Avenir"/>
                <a:sym typeface="Avenir"/>
              </a:rPr>
              <a:t>Responsive at 380 px.</a:t>
            </a:r>
            <a:endParaRPr b="0" i="0" sz="1050" u="none" cap="none" strike="noStrike">
              <a:solidFill>
                <a:schemeClr val="dk1"/>
              </a:solidFill>
              <a:latin typeface="Avenir"/>
              <a:ea typeface="Avenir"/>
              <a:cs typeface="Avenir"/>
              <a:sym typeface="Aveni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2026-09-27T00:33:44Z</dcterms:created>
  <dc:creator>John DiFini</dc:creator>
</cp:coreProperties>
</file>