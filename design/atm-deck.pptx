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9144000" cy="5143500"/>
  <p:notesSz cx="7772400" cy="10058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457200" y="228600"/>
            <a:ext cx="34290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6200" y="228600"/>
            <a:ext cx="34290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457200" y="685800"/>
            <a:ext cx="6858000" cy="385762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457200" y="4800600"/>
            <a:ext cx="6858000" cy="448056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457200" y="9371013"/>
            <a:ext cx="34290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6200" y="9371013"/>
            <a:ext cx="34290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 Id="rId3" Type="http://schemas.openxmlformats.org/officeDocument/2006/relationships/hyperlink" Target="https://github.com/johndifini/atm/blob/main/docs/adr/0002-modular-monolith.md" TargetMode="External"/></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 Id="rId3" Type="http://schemas.openxmlformats.org/officeDocument/2006/relationships/hyperlink" Target="https://github.com/johndifini/atm/tree/main/docs/adr" TargetMode="External"/><Relationship Id="rId4" Type="http://schemas.openxmlformats.org/officeDocument/2006/relationships/hyperlink" Target="https://github.com/johndifini/atm/blob/main/docs/adr/0001-dotnet-razor-pages.md" TargetMode="External"/><Relationship Id="rId5" Type="http://schemas.openxmlformats.org/officeDocument/2006/relationships/hyperlink" Target="https://github.com/johndifini/atm/blob/main/docs/adr/0002-modular-monolith.md" TargetMode="External"/><Relationship Id="rId6" Type="http://schemas.openxmlformats.org/officeDocument/2006/relationships/hyperlink" Target="https://github.com/johndifini/atm/blob/main/docs/adr/0003-sqlite-ef-core.md" TargetMode="External"/><Relationship Id="rId7" Type="http://schemas.openxmlformats.org/officeDocument/2006/relationships/hyperlink" Target="https://github.com/johndifini/atm/blob/main/docs/adr/0005-money-transaction-semantics.md" TargetMode="External"/></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 Id="rId3" Type="http://schemas.openxmlformats.org/officeDocument/2006/relationships/hyperlink" Target="https://github.com/johndifini/atm/blob/main/docs/adr/0003-sqlite-ef-core.md" TargetMode="External"/></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finished product, running against a scratch SQLite database. The intentionally narrow scope keeps the review on correctness, architectural boundaries, and evidence. The hint points at an opt-in easter egg: the Konami code (up, up, down, down, left, right, left, right, B, A) toggles a Matrix theme; Esc, the blue pill, or the code again exits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client-side framework or npm packages ship with the app.</a:t>
            </a:r>
            <a:endParaRPr lang="en-US" dirty="0"/>
          </a:p>
          <a:p>
            <a:r>
              <a:rPr lang="en-US" dirty="0"/>
              <a:t>Pages are server-rendered Razor Pages with a small amount of vanilla JavaScript and one “hand-written” stylesheet.</a:t>
            </a:r>
            <a:endParaRPr lang="en-US" dirty="0"/>
          </a:p>
          <a:p>
            <a:endParaRPr lang="en-US" dirty="0"/>
          </a:p>
          <a:p>
            <a:r>
              <a:rPr lang="en-US" dirty="0"/>
              <a:t>The solution is a modular monolith of four projects (Domain, Application, Infrastructure, Web) with dependencies pointing inward, recorded in </a:t>
            </a:r>
            <a:r>
              <a:rPr lang="en-US" dirty="0">
                <a:hlinkClick r:id="rId3"/>
              </a:rPr>
              <a:t>ADR-0002</a:t>
            </a:r>
            <a:r>
              <a:rPr lang="en-US" dirty="0"/>
              <a:t>.</a:t>
            </a:r>
            <a:endParaRPr lang="en-US" dirty="0"/>
          </a:p>
          <a:p>
            <a:r>
              <a:rPr lang="en-US" dirty="0"/>
              <a:t>EF Core and SQLite live only in the Infrastructure project.</a:t>
            </a:r>
            <a:endParaRPr lang="en-US" dirty="0"/>
          </a:p>
          <a:p>
            <a:endParaRPr lang="en-US" dirty="0"/>
          </a:p>
          <a:p>
            <a:r>
              <a:rPr lang="en-US" dirty="0"/>
              <a:t>Tests use xUnit, WebApplicationFactory for in-process HTTP, and coverlet for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t>
            </a:r>
            <a:r>
              <a:rPr lang="en-US" dirty="0">
                <a:hlinkClick r:id="rId3"/>
              </a:rPr>
              <a:t>ADRs</a:t>
            </a:r>
            <a:r>
              <a:rPr lang="en-US" dirty="0"/>
              <a:t> explain why each choice fits the exercise.</a:t>
            </a:r>
            <a:endParaRPr lang="en-US" dirty="0"/>
          </a:p>
          <a:p>
            <a:endParaRPr lang="en-US" dirty="0"/>
          </a:p>
          <a:p>
            <a:r>
              <a:rPr lang="en-US" dirty="0"/>
              <a:t>Razor Pages (</a:t>
            </a:r>
            <a:r>
              <a:rPr lang="en-US" dirty="0">
                <a:hlinkClick r:id="rId4"/>
              </a:rPr>
              <a:t>ADR-0001</a:t>
            </a:r>
            <a:r>
              <a:rPr lang="en-US" dirty="0"/>
              <a:t>). Cost: a full page reload per action. The server renders HTML with minimal JavaScript, so the whole app is written in C# and ships as a single unit. A separate JavaScript front end (e.g., a React single-page app) would add its own npm build and a JSON API for the browser to call, because the browser would fetch data instead of receiving finished pages.</a:t>
            </a:r>
            <a:endParaRPr lang="en-US" dirty="0"/>
          </a:p>
          <a:p>
            <a:endParaRPr lang="en-US" dirty="0"/>
          </a:p>
          <a:p>
            <a:r>
              <a:rPr lang="en-US" dirty="0"/>
              <a:t>Modular monolith (</a:t>
            </a:r>
            <a:r>
              <a:rPr lang="en-US" dirty="0">
                <a:hlinkClick r:id="rId5"/>
              </a:rPr>
              <a:t>ADR-0002</a:t>
            </a:r>
            <a:r>
              <a:rPr lang="en-US" dirty="0"/>
              <a:t>). Cost: one feature spans four projects, so adding a transaction type touches Domain, Application, Infrastructure, and Web. The payoff is that business rules can be tested without the web host or the database. Microservices would add operational complexity with no payoff at this scope.</a:t>
            </a:r>
            <a:endParaRPr lang="en-US" dirty="0"/>
          </a:p>
          <a:p>
            <a:endParaRPr lang="en-US" dirty="0"/>
          </a:p>
          <a:p>
            <a:r>
              <a:rPr lang="en-US" dirty="0"/>
              <a:t>SQLite + EF Core (</a:t>
            </a:r>
            <a:r>
              <a:rPr lang="en-US" dirty="0">
                <a:hlinkClick r:id="rId6"/>
              </a:rPr>
              <a:t>ADR-0003</a:t>
            </a:r>
            <a:r>
              <a:rPr lang="en-US" dirty="0"/>
              <a:t>). Cost: single-writer ceiling. A server database is the upgrade path if concurrent load ever matters. The next slide covers the datastore choice.</a:t>
            </a:r>
            <a:endParaRPr lang="en-US" dirty="0"/>
          </a:p>
          <a:p>
            <a:endParaRPr lang="en-US" dirty="0"/>
          </a:p>
          <a:p>
            <a:r>
              <a:rPr lang="en-US" dirty="0"/>
              <a:t>2-decimal USD (</a:t>
            </a:r>
            <a:r>
              <a:rPr lang="en-US" dirty="0">
                <a:hlinkClick r:id="rId7"/>
              </a:rPr>
              <a:t>ADR-0005</a:t>
            </a:r>
            <a:r>
              <a:rPr lang="en-US" dirty="0"/>
              <a:t>). Cost: single-currency support. Amounts are decimal with at most two fractional digits, which rules out floating-point error. The two-digit rule fits USD only, and there is no currency field, so supporting another currency (e.g., JPY with 0 places or KWD with 3) would change the Money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in-memory store would have been enough. I chose a persistent one so balances and history survive restarts (</a:t>
            </a:r>
            <a:r>
              <a:rPr lang="en-US" dirty="0">
                <a:hlinkClick r:id="rId3"/>
              </a:rPr>
              <a:t>ADR-0003</a:t>
            </a:r>
            <a:r>
              <a:rPr lang="en-US" dirty="0"/>
              <a:t>).</a:t>
            </a:r>
            <a:endParaRPr lang="en-US" dirty="0"/>
          </a:p>
          <a:p>
            <a:r>
              <a:rPr lang="en-US" dirty="0"/>
              <a:t>• SQLite – single-file DB with near-zero setup.</a:t>
            </a:r>
            <a:endParaRPr lang="en-US" dirty="0"/>
          </a:p>
          <a:p>
            <a:r>
              <a:rPr lang="en-US" dirty="0"/>
              <a:t>• EF Core – the ORM (the .NET counterpart to Hibernate).</a:t>
            </a:r>
            <a:endParaRPr lang="en-US" dirty="0"/>
          </a:p>
          <a:p>
            <a:r>
              <a:rPr lang="en-US" dirty="0"/>
              <a:t>   – Transactions: saves a transfer's debit, credit, and history rows in a single DB transaction, so they either commit or roll back as a unit.</a:t>
            </a:r>
            <a:endParaRPr lang="en-US" dirty="0"/>
          </a:p>
          <a:p>
            <a:r>
              <a:rPr lang="en-US" dirty="0"/>
              <a:t>   – Optimistic concurrency: rejects a write based on an outdated balance, e.g., two tabs withdrawing against the same $1,000 and overdrawing it. Doesn't lock account rows; assumes conflicts are rare.</a:t>
            </a:r>
            <a:endParaRPr lang="en-US" dirty="0"/>
          </a:p>
          <a:p>
            <a:endParaRPr lang="en-US" dirty="0"/>
          </a:p>
          <a:p>
            <a:r>
              <a:rPr lang="en-US" dirty="0"/>
              <a:t>Every option sits behind the same Application ports, so switching is an Infrastructure-only change.</a:t>
            </a:r>
            <a:endParaRPr lang="en-US" dirty="0"/>
          </a:p>
          <a:p>
            <a:r>
              <a:rPr lang="en-US" dirty="0"/>
              <a:t>• SQLite in-memory – an in-memory connection string with one connection held open. Keeps EF Core, migrations, transactions, and constraints, but data is lost on restart. The best in-memory choice, e.g., for a demo mode.</a:t>
            </a:r>
            <a:endParaRPr lang="en-US" dirty="0"/>
          </a:p>
          <a:p>
            <a:r>
              <a:rPr lang="en-US" dirty="0"/>
              <a:t>• Hand-written store – dictionaries behind a single lock. No dependencies, but the code itself must commit balance and history together instead of relying on a database transaction.</a:t>
            </a:r>
            <a:endParaRPr lang="en-US" dirty="0"/>
          </a:p>
          <a:p>
            <a:r>
              <a:rPr lang="en-US" dirty="0"/>
              <a:t>• EF Core InMemory provider – discouraged by Microsoft. It isn't relational, ignores transactions, and enforces no constraints, so it can't prove the invariants.</a:t>
            </a:r>
            <a:endParaRPr lang="en-US" dirty="0"/>
          </a:p>
          <a:p>
            <a:r>
              <a:rPr lang="en-US" dirty="0"/>
              <a:t>• Redis – a separate server process to install and run, and atomic transfers need MULTI/EXEC or Lua scripts. More operational machinery than this exercise needs, and still volatile unless its persistence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screenshot is a real rejected overdraft. The typed value stays visible, the error names the available balance, and persisted state is unchanged. Account versions turn stale writes into a safe retry instead of lost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Domain tests are pure. Application tests use hand-written fakes. Integration and HTTP tests exercise the real host with an isolated SQLite file per test, including concurrency conflicts, atomic rollback, Post/Redirect/Get, security, and accessibility structure. Commands: dotnet restore Atm.sln; dotnet build Atm.sln --no-restore; dotnet test Atm.sln --no-build.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omissions are conscious. The roadmap begins with the correctness gap that Post/Redirect/Get does not solve: a retried network request. The phone capture proves the existing presentation adapter already reflows at 380 pixels.</a:t>
            </a:r>
            <a:endParaRPr lang="en-US" dirty="0"/>
          </a:p>
          <a:p>
            <a:endParaRPr lang="en-US" dirty="0"/>
          </a:p>
          <a:p>
            <a:r>
              <a:rPr lang="en-US" dirty="0"/>
              <a:t>In a real bank, the Domain and Application layers would become a backend service behind an API that every channel (ATM, mobile, web, branch) shares, so the rules live in one place. This ATM would be one thin client. Splitting that backend into microservices becomes worthwhile once separate teams own accounts, transfers, and fraud and need to deploy independently. The inward dependencies here are what make that extraction straightforward.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212"/>
        </a:solidFill>
      </p:bgPr>
    </p:bg>
    <p:spTree>
      <p:nvGrpSpPr>
        <p:cNvPr id="1" name=""/>
        <p:cNvGrpSpPr/>
        <p:nvPr/>
      </p:nvGrpSpPr>
      <p:grpSpPr>
        <a:xfrm>
          <a:off x="0" y="0"/>
          <a:ext cx="0" cy="0"/>
          <a:chOff x="0" y="0"/>
          <a:chExt cx="0" cy="0"/>
        </a:xfrm>
      </p:grpSpPr>
      <p:sp>
        <p:nvSpPr>
          <p:cNvPr id="2" name="Text 0"/>
          <p:cNvSpPr txBox="1"/>
          <p:nvPr/>
        </p:nvSpPr>
        <p:spPr>
          <a:xfrm>
            <a:off x="585216" y="457200"/>
            <a:ext cx="25603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CASE STUDY</a:t>
            </a:r>
            <a:endParaRPr lang="en-US" sz="1100" dirty="0"/>
          </a:p>
        </p:txBody>
      </p:sp>
      <p:sp>
        <p:nvSpPr>
          <p:cNvPr id="3" name="Text 1"/>
          <p:cNvSpPr txBox="1"/>
          <p:nvPr/>
        </p:nvSpPr>
        <p:spPr>
          <a:xfrm>
            <a:off x="585216" y="850392"/>
            <a:ext cx="2834640" cy="594360"/>
          </a:xfrm>
          <a:prstGeom prst="rect">
            <a:avLst/>
          </a:prstGeom>
          <a:noFill/>
          <a:ln/>
        </p:spPr>
        <p:txBody>
          <a:bodyPr wrap="square" lIns="0" tIns="0" rIns="0" bIns="0" rtlCol="0" anchor="t"/>
          <a:lstStyle/>
          <a:p>
            <a:pPr indent="0" marL="0">
              <a:buNone/>
            </a:pPr>
            <a:r>
              <a:rPr lang="en-US" sz="4700" b="1" dirty="0">
                <a:solidFill>
                  <a:srgbClr val="00F604"/>
                </a:solidFill>
                <a:latin typeface="Avenir Next" pitchFamily="34" charset="0"/>
                <a:ea typeface="Avenir Next" pitchFamily="34" charset="-122"/>
                <a:cs typeface="Avenir Next" pitchFamily="34" charset="-120"/>
              </a:rPr>
              <a:t>ATM</a:t>
            </a:r>
            <a:endParaRPr lang="en-US" sz="4700" dirty="0"/>
          </a:p>
        </p:txBody>
      </p:sp>
      <p:sp>
        <p:nvSpPr>
          <p:cNvPr id="4" name="Text 2"/>
          <p:cNvSpPr txBox="1"/>
          <p:nvPr/>
        </p:nvSpPr>
        <p:spPr>
          <a:xfrm>
            <a:off x="585216" y="1463040"/>
            <a:ext cx="3182112" cy="493776"/>
          </a:xfrm>
          <a:prstGeom prst="rect">
            <a:avLst/>
          </a:prstGeom>
          <a:noFill/>
          <a:ln/>
        </p:spPr>
        <p:txBody>
          <a:bodyPr wrap="square" lIns="0" tIns="0" rIns="0" bIns="0" rtlCol="0" anchor="t">
            <a:normAutofit/>
          </a:bodyPr>
          <a:lstStyle/>
          <a:p>
            <a:pPr indent="0" marL="0">
              <a:buNone/>
            </a:pPr>
            <a:r>
              <a:rPr lang="en-US" sz="2700" b="1" dirty="0">
                <a:solidFill>
                  <a:srgbClr val="F5F5F5"/>
                </a:solidFill>
                <a:latin typeface="Avenir Next" pitchFamily="34" charset="0"/>
                <a:ea typeface="Avenir Next" pitchFamily="34" charset="-122"/>
                <a:cs typeface="Avenir Next" pitchFamily="34" charset="-120"/>
              </a:rPr>
              <a:t>Coding Exercise</a:t>
            </a:r>
            <a:endParaRPr lang="en-US" sz="2700" dirty="0"/>
          </a:p>
        </p:txBody>
      </p:sp>
      <p:sp>
        <p:nvSpPr>
          <p:cNvPr id="5" name="Text 3"/>
          <p:cNvSpPr txBox="1"/>
          <p:nvPr/>
        </p:nvSpPr>
        <p:spPr>
          <a:xfrm>
            <a:off x="585216" y="2267712"/>
            <a:ext cx="2907792" cy="566928"/>
          </a:xfrm>
          <a:prstGeom prst="rect">
            <a:avLst/>
          </a:prstGeom>
          <a:noFill/>
          <a:ln/>
        </p:spPr>
        <p:txBody>
          <a:bodyPr wrap="square" lIns="0" tIns="0" rIns="0" bIns="0" rtlCol="0" anchor="t"/>
          <a:lstStyle/>
          <a:p>
            <a:pPr indent="0" marL="0">
              <a:buNone/>
            </a:pPr>
            <a:r>
              <a:rPr lang="en-US" sz="1500" dirty="0">
                <a:solidFill>
                  <a:srgbClr val="A9ADB3"/>
                </a:solidFill>
                <a:latin typeface="Avenir Next" pitchFamily="34" charset="0"/>
                <a:ea typeface="Avenir Next" pitchFamily="34" charset="-122"/>
                <a:cs typeface="Avenir Next" pitchFamily="34" charset="-120"/>
              </a:rPr>
              <a:t>Two accounts, persisted locally,</a:t>
            </a:r>
            <a:endParaRPr lang="en-US" sz="1500" dirty="0"/>
          </a:p>
          <a:p>
            <a:pPr indent="0" marL="0">
              <a:buNone/>
            </a:pPr>
            <a:r>
              <a:rPr lang="en-US" sz="1500" dirty="0">
                <a:solidFill>
                  <a:srgbClr val="A9ADB3"/>
                </a:solidFill>
                <a:latin typeface="Avenir Next" pitchFamily="34" charset="0"/>
                <a:ea typeface="Avenir Next" pitchFamily="34" charset="-122"/>
                <a:cs typeface="Avenir Next" pitchFamily="34" charset="-120"/>
              </a:rPr>
              <a:t>covered by 143 tests.</a:t>
            </a:r>
            <a:endParaRPr lang="en-US" sz="1500" dirty="0"/>
          </a:p>
        </p:txBody>
      </p:sp>
      <p:sp>
        <p:nvSpPr>
          <p:cNvPr id="6" name="Shape 4"/>
          <p:cNvSpPr/>
          <p:nvPr/>
        </p:nvSpPr>
        <p:spPr>
          <a:xfrm>
            <a:off x="3813048" y="457200"/>
            <a:ext cx="4745736" cy="3694176"/>
          </a:xfrm>
          <a:prstGeom prst="rect">
            <a:avLst/>
          </a:prstGeom>
          <a:solidFill>
            <a:srgbClr val="1B1B1B"/>
          </a:solidFill>
          <a:ln w="10160">
            <a:solidFill>
              <a:srgbClr val="333333"/>
            </a:solidFill>
            <a:prstDash val="solid"/>
          </a:ln>
        </p:spPr>
      </p:sp>
      <p:pic>
        <p:nvPicPr>
          <p:cNvPr id="7" name="Image 0" descr="/Users/john/theborg/repos/atm/design/screenshots/dashboard.png">    </p:cNvPr>
          <p:cNvPicPr>
            <a:picLocks noChangeAspect="1"/>
          </p:cNvPicPr>
          <p:nvPr/>
        </p:nvPicPr>
        <p:blipFill>
          <a:blip r:embed="rId1"/>
          <a:stretch>
            <a:fillRect/>
          </a:stretch>
        </p:blipFill>
        <p:spPr>
          <a:xfrm>
            <a:off x="3849624" y="493776"/>
            <a:ext cx="4672584" cy="3621024"/>
          </a:xfrm>
          <a:prstGeom prst="rect">
            <a:avLst/>
          </a:prstGeom>
        </p:spPr>
      </p:pic>
      <p:sp>
        <p:nvSpPr>
          <p:cNvPr id="8" name="Text 5"/>
          <p:cNvSpPr txBox="1"/>
          <p:nvPr/>
        </p:nvSpPr>
        <p:spPr>
          <a:xfrm>
            <a:off x="3813048" y="4279392"/>
            <a:ext cx="4745736" cy="210312"/>
          </a:xfrm>
          <a:prstGeom prst="rect">
            <a:avLst/>
          </a:prstGeom>
          <a:noFill/>
          <a:ln/>
        </p:spPr>
        <p:txBody>
          <a:bodyPr wrap="square" lIns="0" tIns="0" rIns="0" bIns="0" rtlCol="0" anchor="t"/>
          <a:lstStyle/>
          <a:p>
            <a:pPr indent="0" marL="0">
              <a:buNone/>
            </a:pPr>
            <a:r>
              <a:rPr lang="en-US" sz="1150" dirty="0">
                <a:solidFill>
                  <a:srgbClr val="00F604"/>
                </a:solidFill>
                <a:latin typeface="Avenir Next" pitchFamily="34" charset="0"/>
                <a:ea typeface="Avenir Next" pitchFamily="34" charset="-122"/>
                <a:cs typeface="Avenir Next" pitchFamily="34" charset="-120"/>
              </a:rPr>
              <a:t>Hint: try the Konami code.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Technology stack</a:t>
            </a:r>
            <a:endParaRPr lang="en-US" sz="3200" dirty="0"/>
          </a:p>
        </p:txBody>
      </p:sp>
      <p:sp>
        <p:nvSpPr>
          <p:cNvPr id="5" name="Text 2"/>
          <p:cNvSpPr txBox="1"/>
          <p:nvPr/>
        </p:nvSpPr>
        <p:spPr>
          <a:xfrm>
            <a:off x="585216" y="13167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FRONTEND</a:t>
            </a:r>
            <a:endParaRPr lang="en-US" sz="1100" dirty="0"/>
          </a:p>
        </p:txBody>
      </p:sp>
      <p:sp>
        <p:nvSpPr>
          <p:cNvPr id="6" name="Text 3"/>
          <p:cNvSpPr txBox="1"/>
          <p:nvPr/>
        </p:nvSpPr>
        <p:spPr>
          <a:xfrm>
            <a:off x="2468880" y="12618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Razor Pages, vanilla JavaScript, CSS</a:t>
            </a:r>
            <a:endParaRPr lang="en-US" sz="2000" dirty="0"/>
          </a:p>
        </p:txBody>
      </p:sp>
      <p:sp>
        <p:nvSpPr>
          <p:cNvPr id="7" name="Text 4"/>
          <p:cNvSpPr txBox="1"/>
          <p:nvPr/>
        </p:nvSpPr>
        <p:spPr>
          <a:xfrm>
            <a:off x="2468880" y="16093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No client framework or packages</a:t>
            </a:r>
            <a:endParaRPr lang="en-US" sz="1250" dirty="0"/>
          </a:p>
        </p:txBody>
      </p:sp>
      <p:sp>
        <p:nvSpPr>
          <p:cNvPr id="8" name="Shape 5"/>
          <p:cNvSpPr/>
          <p:nvPr/>
        </p:nvSpPr>
        <p:spPr>
          <a:xfrm>
            <a:off x="585216" y="1993392"/>
            <a:ext cx="7973568" cy="0"/>
          </a:xfrm>
          <a:prstGeom prst="line">
            <a:avLst/>
          </a:prstGeom>
          <a:noFill/>
          <a:ln w="9525">
            <a:solidFill>
              <a:srgbClr val="333333"/>
            </a:solidFill>
            <a:prstDash val="solid"/>
          </a:ln>
        </p:spPr>
      </p:sp>
      <p:sp>
        <p:nvSpPr>
          <p:cNvPr id="9" name="Text 6"/>
          <p:cNvSpPr txBox="1"/>
          <p:nvPr/>
        </p:nvSpPr>
        <p:spPr>
          <a:xfrm>
            <a:off x="585216" y="22311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BACKEND</a:t>
            </a:r>
            <a:endParaRPr lang="en-US" sz="1100" dirty="0"/>
          </a:p>
        </p:txBody>
      </p:sp>
      <p:sp>
        <p:nvSpPr>
          <p:cNvPr id="10" name="Text 7"/>
          <p:cNvSpPr txBox="1"/>
          <p:nvPr/>
        </p:nvSpPr>
        <p:spPr>
          <a:xfrm>
            <a:off x="2468880" y="21762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 14 on .NET 10</a:t>
            </a:r>
            <a:endParaRPr lang="en-US" sz="2000" dirty="0"/>
          </a:p>
        </p:txBody>
      </p:sp>
      <p:sp>
        <p:nvSpPr>
          <p:cNvPr id="11" name="Text 8"/>
          <p:cNvSpPr txBox="1"/>
          <p:nvPr/>
        </p:nvSpPr>
        <p:spPr>
          <a:xfrm>
            <a:off x="2468880" y="25237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ASP.NET Core</a:t>
            </a:r>
            <a:endParaRPr lang="en-US" sz="1250" dirty="0"/>
          </a:p>
        </p:txBody>
      </p:sp>
      <p:sp>
        <p:nvSpPr>
          <p:cNvPr id="12" name="Shape 9"/>
          <p:cNvSpPr/>
          <p:nvPr/>
        </p:nvSpPr>
        <p:spPr>
          <a:xfrm>
            <a:off x="585216" y="2907792"/>
            <a:ext cx="7973568" cy="0"/>
          </a:xfrm>
          <a:prstGeom prst="line">
            <a:avLst/>
          </a:prstGeom>
          <a:noFill/>
          <a:ln w="9525">
            <a:solidFill>
              <a:srgbClr val="333333"/>
            </a:solidFill>
            <a:prstDash val="solid"/>
          </a:ln>
        </p:spPr>
      </p:sp>
      <p:sp>
        <p:nvSpPr>
          <p:cNvPr id="13" name="Text 10"/>
          <p:cNvSpPr txBox="1"/>
          <p:nvPr/>
        </p:nvSpPr>
        <p:spPr>
          <a:xfrm>
            <a:off x="585216" y="31455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DATABASE</a:t>
            </a:r>
            <a:endParaRPr lang="en-US" sz="1100" dirty="0"/>
          </a:p>
        </p:txBody>
      </p:sp>
      <p:sp>
        <p:nvSpPr>
          <p:cNvPr id="14" name="Text 11"/>
          <p:cNvSpPr txBox="1"/>
          <p:nvPr/>
        </p:nvSpPr>
        <p:spPr>
          <a:xfrm>
            <a:off x="2468880" y="30906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SQLite via EF Core 10</a:t>
            </a:r>
            <a:endParaRPr lang="en-US" sz="2000" dirty="0"/>
          </a:p>
        </p:txBody>
      </p:sp>
      <p:sp>
        <p:nvSpPr>
          <p:cNvPr id="15" name="Text 12"/>
          <p:cNvSpPr txBox="1"/>
          <p:nvPr/>
        </p:nvSpPr>
        <p:spPr>
          <a:xfrm>
            <a:off x="2468880" y="3438144"/>
            <a:ext cx="6089904" cy="219456"/>
          </a:xfrm>
          <a:prstGeom prst="rect">
            <a:avLst/>
          </a:prstGeom>
          <a:noFill/>
          <a:ln/>
        </p:spPr>
        <p:txBody>
          <a:bodyPr wrap="square" lIns="0" tIns="0" rIns="0" bIns="0" rtlCol="0" anchor="t">
            <a:normAutofit/>
          </a:bodyPr>
          <a:lstStyle/>
          <a:p>
            <a:pPr indent="0" marL="0">
              <a:buNone/>
            </a:pPr>
            <a:r>
              <a:rPr lang="en-US" sz="1250" dirty="0">
                <a:solidFill>
                  <a:srgbClr val="A9ADB3"/>
                </a:solidFill>
                <a:latin typeface="Avenir Next" pitchFamily="34" charset="0"/>
                <a:ea typeface="Avenir Next" pitchFamily="34" charset="-122"/>
                <a:cs typeface="Avenir Next" pitchFamily="34" charset="-120"/>
              </a:rPr>
              <a:t>Code-first migrations</a:t>
            </a:r>
            <a:endParaRPr lang="en-US" sz="1250" dirty="0"/>
          </a:p>
        </p:txBody>
      </p:sp>
      <p:sp>
        <p:nvSpPr>
          <p:cNvPr id="16" name="Shape 13"/>
          <p:cNvSpPr/>
          <p:nvPr/>
        </p:nvSpPr>
        <p:spPr>
          <a:xfrm>
            <a:off x="585216" y="3822192"/>
            <a:ext cx="7973568" cy="0"/>
          </a:xfrm>
          <a:prstGeom prst="line">
            <a:avLst/>
          </a:prstGeom>
          <a:noFill/>
          <a:ln w="9525">
            <a:solidFill>
              <a:srgbClr val="333333"/>
            </a:solidFill>
            <a:prstDash val="solid"/>
          </a:ln>
        </p:spPr>
      </p:sp>
      <p:sp>
        <p:nvSpPr>
          <p:cNvPr id="17" name="Text 14"/>
          <p:cNvSpPr txBox="1"/>
          <p:nvPr/>
        </p:nvSpPr>
        <p:spPr>
          <a:xfrm>
            <a:off x="585216" y="4059936"/>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TESTING</a:t>
            </a:r>
            <a:endParaRPr lang="en-US" sz="1100" dirty="0"/>
          </a:p>
        </p:txBody>
      </p:sp>
      <p:sp>
        <p:nvSpPr>
          <p:cNvPr id="18" name="Text 15"/>
          <p:cNvSpPr txBox="1"/>
          <p:nvPr/>
        </p:nvSpPr>
        <p:spPr>
          <a:xfrm>
            <a:off x="2468880" y="4005072"/>
            <a:ext cx="6089904" cy="32918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xUnit, WebApplicationFactory, coverlet</a:t>
            </a:r>
            <a:endParaRPr lang="en-US" sz="2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Decisions and costs</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85216" y="1161288"/>
          <a:ext cx="7973568" cy="3346704"/>
        </p:xfrm>
        <a:graphic>
          <a:graphicData uri="http://schemas.openxmlformats.org/drawingml/2006/table">
            <a:tbl>
              <a:tblPr/>
              <a:tblGrid>
                <a:gridCol w="3977640"/>
                <a:gridCol w="3995928"/>
              </a:tblGrid>
              <a:tr h="384048">
                <a:tc>
                  <a:txBody>
                    <a:bodyPr/>
                    <a:lstStyle/>
                    <a:p>
                      <a:pPr indent="0" marL="0">
                        <a:buNone/>
                      </a:pPr>
                      <a:r>
                        <a:rPr lang="en-US" sz="1250" b="1" dirty="0">
                          <a:solidFill>
                            <a:srgbClr val="00F604"/>
                          </a:solidFill>
                          <a:latin typeface="Avenir Next" pitchFamily="34" charset="0"/>
                          <a:ea typeface="Avenir Next" pitchFamily="34" charset="-122"/>
                          <a:cs typeface="Avenir Next" pitchFamily="34" charset="-120"/>
                        </a:rPr>
                        <a:t>DECISION</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250" b="1" dirty="0">
                          <a:solidFill>
                            <a:srgbClr val="F67F00"/>
                          </a:solidFill>
                          <a:latin typeface="Avenir Next" pitchFamily="34" charset="0"/>
                          <a:ea typeface="Avenir Next" pitchFamily="34" charset="-122"/>
                          <a:cs typeface="Avenir Next" pitchFamily="34" charset="-120"/>
                        </a:rPr>
                        <a:t>COST</a:t>
                      </a:r>
                      <a:endParaRPr lang="en-US" sz="1250" dirty="0">
                        <a:latin typeface="Avenir Next" charset="0"/>
                        <a:ea typeface="Avenir Next" charset="0"/>
                        <a:cs typeface="Avenir Next" charset="0"/>
                      </a:endParaRPr>
                    </a:p>
                  </a:txBody>
                  <a:tcPr marL="91440" marR="91440" marT="91440" marB="91440">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Razor Pages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Full page reload per action</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Modular monolith</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One feature spans four projects</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SQLite + EF Core</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Single-writer ceiling</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r h="740664">
                <a:tc>
                  <a:txBody>
                    <a:bodyPr/>
                    <a:lstStyle/>
                    <a:p>
                      <a:pPr indent="0" marL="0">
                        <a:buNone/>
                      </a:pPr>
                      <a:r>
                        <a:rPr lang="en-US" sz="1700" b="1" dirty="0">
                          <a:solidFill>
                            <a:srgbClr val="F5F5F5"/>
                          </a:solidFill>
                          <a:latin typeface="Avenir Next" pitchFamily="34" charset="0"/>
                          <a:ea typeface="Avenir Next" pitchFamily="34" charset="-122"/>
                          <a:cs typeface="Avenir Next" pitchFamily="34" charset="-120"/>
                        </a:rPr>
                        <a:t>2-decimal USD</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c>
                  <a:txBody>
                    <a:bodyPr/>
                    <a:lstStyle/>
                    <a:p>
                      <a:pPr indent="0" marL="0">
                        <a:buNone/>
                      </a:pPr>
                      <a:r>
                        <a:rPr lang="en-US" sz="1700" dirty="0">
                          <a:solidFill>
                            <a:srgbClr val="A9ADB3"/>
                          </a:solidFill>
                          <a:latin typeface="Avenir Next" pitchFamily="34" charset="0"/>
                          <a:ea typeface="Avenir Next" pitchFamily="34" charset="-122"/>
                          <a:cs typeface="Avenir Next" pitchFamily="34" charset="-120"/>
                        </a:rPr>
                        <a:t>Single-currency support</a:t>
                      </a:r>
                      <a:endParaRPr lang="en-US" sz="1700" dirty="0">
                        <a:latin typeface="Avenir Next" charset="0"/>
                        <a:ea typeface="Avenir Next" charset="0"/>
                        <a:cs typeface="Avenir Next" charset="0"/>
                      </a:endParaRPr>
                    </a:p>
                  </a:txBody>
                  <a:tcPr marL="91440" marR="91440" marT="91440" marB="91440" anchor="ctr">
                    <a:lnL w="9525" cap="flat" cmpd="sng" algn="ctr">
                      <a:solidFill>
                        <a:srgbClr val="333333"/>
                      </a:solidFill>
                      <a:prstDash val="solid"/>
                      <a:round/>
                      <a:headEnd type="none" w="med" len="med"/>
                      <a:tailEnd type="none" w="med" len="med"/>
                    </a:lnL>
                    <a:lnR w="9525" cap="flat" cmpd="sng" algn="ctr">
                      <a:solidFill>
                        <a:srgbClr val="333333"/>
                      </a:solidFill>
                      <a:prstDash val="solid"/>
                      <a:round/>
                      <a:headEnd type="none" w="med" len="med"/>
                      <a:tailEnd type="none" w="med" len="med"/>
                    </a:lnR>
                    <a:lnT w="9525" cap="flat" cmpd="sng" algn="ctr">
                      <a:solidFill>
                        <a:srgbClr val="333333"/>
                      </a:solidFill>
                      <a:prstDash val="solid"/>
                      <a:round/>
                      <a:headEnd type="none" w="med" len="med"/>
                      <a:tailEnd type="none" w="med" len="med"/>
                    </a:lnT>
                    <a:lnB w="9525" cap="flat" cmpd="sng" algn="ctr">
                      <a:solidFill>
                        <a:srgbClr val="333333"/>
                      </a:solidFill>
                      <a:prstDash val="solid"/>
                      <a:round/>
                      <a:headEnd type="none" w="med" len="med"/>
                      <a:tailEnd type="none" w="med" len="med"/>
                    </a:lnB>
                    <a:solidFill>
                      <a:srgbClr val="121212"/>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Datastore choice</a:t>
            </a:r>
            <a:endParaRPr lang="en-US" sz="3200" dirty="0"/>
          </a:p>
        </p:txBody>
      </p:sp>
      <p:sp>
        <p:nvSpPr>
          <p:cNvPr id="5" name="Text 2"/>
          <p:cNvSpPr txBox="1"/>
          <p:nvPr/>
        </p:nvSpPr>
        <p:spPr>
          <a:xfrm>
            <a:off x="832104" y="896112"/>
            <a:ext cx="7726680" cy="237744"/>
          </a:xfrm>
          <a:prstGeom prst="rect">
            <a:avLst/>
          </a:prstGeom>
          <a:noFill/>
          <a:ln/>
        </p:spPr>
        <p:txBody>
          <a:bodyPr wrap="square" lIns="0" tIns="0" rIns="0" bIns="0" rtlCol="0" anchor="t"/>
          <a:lstStyle/>
          <a:p>
            <a:pPr indent="0" marL="0">
              <a:buNone/>
            </a:pPr>
            <a:r>
              <a:rPr lang="en-US" sz="1300" dirty="0">
                <a:solidFill>
                  <a:srgbClr val="A9ADB3"/>
                </a:solidFill>
                <a:latin typeface="Avenir Next" pitchFamily="34" charset="0"/>
                <a:ea typeface="Avenir Next" pitchFamily="34" charset="-122"/>
                <a:cs typeface="Avenir Next" pitchFamily="34" charset="-120"/>
              </a:rPr>
              <a:t>In-memory would suffice.</a:t>
            </a:r>
            <a:endParaRPr lang="en-US" sz="1300" dirty="0"/>
          </a:p>
        </p:txBody>
      </p:sp>
      <p:sp>
        <p:nvSpPr>
          <p:cNvPr id="6" name="Text 3"/>
          <p:cNvSpPr txBox="1"/>
          <p:nvPr/>
        </p:nvSpPr>
        <p:spPr>
          <a:xfrm>
            <a:off x="585216" y="153619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CHOSEN</a:t>
            </a:r>
            <a:endParaRPr lang="en-US" sz="1100" dirty="0"/>
          </a:p>
        </p:txBody>
      </p:sp>
      <p:sp>
        <p:nvSpPr>
          <p:cNvPr id="7" name="Text 4"/>
          <p:cNvSpPr txBox="1"/>
          <p:nvPr/>
        </p:nvSpPr>
        <p:spPr>
          <a:xfrm>
            <a:off x="2468880" y="148132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file</a:t>
            </a:r>
            <a:endParaRPr lang="en-US" sz="1900" dirty="0"/>
          </a:p>
        </p:txBody>
      </p:sp>
      <p:sp>
        <p:nvSpPr>
          <p:cNvPr id="8" name="Text 5"/>
          <p:cNvSpPr txBox="1"/>
          <p:nvPr/>
        </p:nvSpPr>
        <p:spPr>
          <a:xfrm>
            <a:off x="5577840" y="1517904"/>
            <a:ext cx="2980944" cy="292608"/>
          </a:xfrm>
          <a:prstGeom prst="rect">
            <a:avLst/>
          </a:prstGeom>
          <a:noFill/>
          <a:ln/>
        </p:spPr>
        <p:txBody>
          <a:bodyPr wrap="square" lIns="0" tIns="0" rIns="0" bIns="0" rtlCol="0" anchor="t">
            <a:normAutofit/>
          </a:bodyPr>
          <a:lstStyle/>
          <a:p>
            <a:pPr indent="0" marL="0">
              <a:buNone/>
            </a:pPr>
            <a:r>
              <a:rPr lang="en-US" sz="1500" dirty="0">
                <a:solidFill>
                  <a:srgbClr val="F5F5F5"/>
                </a:solidFill>
                <a:latin typeface="Avenir Next" pitchFamily="34" charset="0"/>
                <a:ea typeface="Avenir Next" pitchFamily="34" charset="-122"/>
                <a:cs typeface="Avenir Next" pitchFamily="34" charset="-120"/>
              </a:rPr>
              <a:t>Survives restarts</a:t>
            </a:r>
            <a:endParaRPr lang="en-US" sz="1500" dirty="0"/>
          </a:p>
        </p:txBody>
      </p:sp>
      <p:sp>
        <p:nvSpPr>
          <p:cNvPr id="9" name="Shape 6"/>
          <p:cNvSpPr/>
          <p:nvPr/>
        </p:nvSpPr>
        <p:spPr>
          <a:xfrm>
            <a:off x="585216" y="1965960"/>
            <a:ext cx="7973568" cy="0"/>
          </a:xfrm>
          <a:prstGeom prst="line">
            <a:avLst/>
          </a:prstGeom>
          <a:noFill/>
          <a:ln w="9525">
            <a:solidFill>
              <a:srgbClr val="333333"/>
            </a:solidFill>
            <a:prstDash val="solid"/>
          </a:ln>
        </p:spPr>
      </p:sp>
      <p:sp>
        <p:nvSpPr>
          <p:cNvPr id="10" name="Text 7"/>
          <p:cNvSpPr txBox="1"/>
          <p:nvPr/>
        </p:nvSpPr>
        <p:spPr>
          <a:xfrm>
            <a:off x="585216" y="2176272"/>
            <a:ext cx="173736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CONSIDERED</a:t>
            </a:r>
            <a:endParaRPr lang="en-US" sz="1100" dirty="0"/>
          </a:p>
        </p:txBody>
      </p:sp>
      <p:sp>
        <p:nvSpPr>
          <p:cNvPr id="11" name="Text 8"/>
          <p:cNvSpPr txBox="1"/>
          <p:nvPr/>
        </p:nvSpPr>
        <p:spPr>
          <a:xfrm>
            <a:off x="2468880" y="212140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SQLite in-memory</a:t>
            </a:r>
            <a:endParaRPr lang="en-US" sz="1900" dirty="0"/>
          </a:p>
        </p:txBody>
      </p:sp>
      <p:sp>
        <p:nvSpPr>
          <p:cNvPr id="12" name="Text 9"/>
          <p:cNvSpPr txBox="1"/>
          <p:nvPr/>
        </p:nvSpPr>
        <p:spPr>
          <a:xfrm>
            <a:off x="5577840" y="215798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Lost on restart</a:t>
            </a:r>
            <a:endParaRPr lang="en-US" sz="1500" dirty="0"/>
          </a:p>
        </p:txBody>
      </p:sp>
      <p:sp>
        <p:nvSpPr>
          <p:cNvPr id="13" name="Shape 10"/>
          <p:cNvSpPr/>
          <p:nvPr/>
        </p:nvSpPr>
        <p:spPr>
          <a:xfrm>
            <a:off x="585216" y="2606040"/>
            <a:ext cx="7973568" cy="0"/>
          </a:xfrm>
          <a:prstGeom prst="line">
            <a:avLst/>
          </a:prstGeom>
          <a:noFill/>
          <a:ln w="9525">
            <a:solidFill>
              <a:srgbClr val="333333"/>
            </a:solidFill>
            <a:prstDash val="solid"/>
          </a:ln>
        </p:spPr>
      </p:sp>
      <p:sp>
        <p:nvSpPr>
          <p:cNvPr id="14" name="Text 11"/>
          <p:cNvSpPr txBox="1"/>
          <p:nvPr/>
        </p:nvSpPr>
        <p:spPr>
          <a:xfrm>
            <a:off x="2468880" y="276148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Hand-written store</a:t>
            </a:r>
            <a:endParaRPr lang="en-US" sz="1900" dirty="0"/>
          </a:p>
        </p:txBody>
      </p:sp>
      <p:sp>
        <p:nvSpPr>
          <p:cNvPr id="15" name="Text 12"/>
          <p:cNvSpPr txBox="1"/>
          <p:nvPr/>
        </p:nvSpPr>
        <p:spPr>
          <a:xfrm>
            <a:off x="5577840" y="279806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Owns atomicity</a:t>
            </a:r>
            <a:endParaRPr lang="en-US" sz="1500" dirty="0"/>
          </a:p>
        </p:txBody>
      </p:sp>
      <p:sp>
        <p:nvSpPr>
          <p:cNvPr id="16" name="Shape 13"/>
          <p:cNvSpPr/>
          <p:nvPr/>
        </p:nvSpPr>
        <p:spPr>
          <a:xfrm>
            <a:off x="585216" y="3246120"/>
            <a:ext cx="7973568" cy="0"/>
          </a:xfrm>
          <a:prstGeom prst="line">
            <a:avLst/>
          </a:prstGeom>
          <a:noFill/>
          <a:ln w="9525">
            <a:solidFill>
              <a:srgbClr val="333333"/>
            </a:solidFill>
            <a:prstDash val="solid"/>
          </a:ln>
        </p:spPr>
      </p:sp>
      <p:sp>
        <p:nvSpPr>
          <p:cNvPr id="17" name="Text 14"/>
          <p:cNvSpPr txBox="1"/>
          <p:nvPr/>
        </p:nvSpPr>
        <p:spPr>
          <a:xfrm>
            <a:off x="2468880" y="340156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EF Core InMemory</a:t>
            </a:r>
            <a:endParaRPr lang="en-US" sz="1900" dirty="0"/>
          </a:p>
        </p:txBody>
      </p:sp>
      <p:sp>
        <p:nvSpPr>
          <p:cNvPr id="18" name="Text 15"/>
          <p:cNvSpPr txBox="1"/>
          <p:nvPr/>
        </p:nvSpPr>
        <p:spPr>
          <a:xfrm>
            <a:off x="5577840" y="343814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No transactions</a:t>
            </a:r>
            <a:endParaRPr lang="en-US" sz="1500" dirty="0"/>
          </a:p>
        </p:txBody>
      </p:sp>
      <p:sp>
        <p:nvSpPr>
          <p:cNvPr id="19" name="Shape 16"/>
          <p:cNvSpPr/>
          <p:nvPr/>
        </p:nvSpPr>
        <p:spPr>
          <a:xfrm>
            <a:off x="585216" y="3886200"/>
            <a:ext cx="7973568" cy="0"/>
          </a:xfrm>
          <a:prstGeom prst="line">
            <a:avLst/>
          </a:prstGeom>
          <a:noFill/>
          <a:ln w="9525">
            <a:solidFill>
              <a:srgbClr val="333333"/>
            </a:solidFill>
            <a:prstDash val="solid"/>
          </a:ln>
        </p:spPr>
      </p:sp>
      <p:sp>
        <p:nvSpPr>
          <p:cNvPr id="20" name="Text 17"/>
          <p:cNvSpPr txBox="1"/>
          <p:nvPr/>
        </p:nvSpPr>
        <p:spPr>
          <a:xfrm>
            <a:off x="2468880" y="4041648"/>
            <a:ext cx="3017520" cy="329184"/>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Redis</a:t>
            </a:r>
            <a:endParaRPr lang="en-US" sz="1900" dirty="0"/>
          </a:p>
        </p:txBody>
      </p:sp>
      <p:sp>
        <p:nvSpPr>
          <p:cNvPr id="21" name="Text 18"/>
          <p:cNvSpPr txBox="1"/>
          <p:nvPr/>
        </p:nvSpPr>
        <p:spPr>
          <a:xfrm>
            <a:off x="5577840" y="4078224"/>
            <a:ext cx="2980944" cy="292608"/>
          </a:xfrm>
          <a:prstGeom prst="rect">
            <a:avLst/>
          </a:prstGeom>
          <a:noFill/>
          <a:ln/>
        </p:spPr>
        <p:txBody>
          <a:bodyPr wrap="square" lIns="0" tIns="0" rIns="0" bIns="0" rtlCol="0" anchor="t">
            <a:normAutofit/>
          </a:bodyPr>
          <a:lstStyle/>
          <a:p>
            <a:pPr indent="0" marL="0">
              <a:buNone/>
            </a:pPr>
            <a:r>
              <a:rPr lang="en-US" sz="1500" dirty="0">
                <a:solidFill>
                  <a:srgbClr val="A9ADB3"/>
                </a:solidFill>
                <a:latin typeface="Avenir Next" pitchFamily="34" charset="0"/>
                <a:ea typeface="Avenir Next" pitchFamily="34" charset="-122"/>
                <a:cs typeface="Avenir Next" pitchFamily="34" charset="-120"/>
              </a:rPr>
              <a:t>Extra process</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Failure leaves no partial state</a:t>
            </a:r>
            <a:endParaRPr lang="en-US" sz="3200" dirty="0"/>
          </a:p>
        </p:txBody>
      </p:sp>
      <p:sp>
        <p:nvSpPr>
          <p:cNvPr id="5" name="Text 2"/>
          <p:cNvSpPr txBox="1"/>
          <p:nvPr/>
        </p:nvSpPr>
        <p:spPr>
          <a:xfrm>
            <a:off x="585216" y="130759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01</a:t>
            </a:r>
            <a:endParaRPr lang="en-US" sz="1300" dirty="0"/>
          </a:p>
        </p:txBody>
      </p:sp>
      <p:sp>
        <p:nvSpPr>
          <p:cNvPr id="6" name="Text 3"/>
          <p:cNvSpPr txBox="1"/>
          <p:nvPr/>
        </p:nvSpPr>
        <p:spPr>
          <a:xfrm>
            <a:off x="1115568" y="126187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Validate before mutation</a:t>
            </a:r>
            <a:endParaRPr lang="en-US" sz="2000" dirty="0"/>
          </a:p>
        </p:txBody>
      </p:sp>
      <p:sp>
        <p:nvSpPr>
          <p:cNvPr id="7" name="Text 4"/>
          <p:cNvSpPr txBox="1"/>
          <p:nvPr/>
        </p:nvSpPr>
        <p:spPr>
          <a:xfrm>
            <a:off x="585216" y="231343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02</a:t>
            </a:r>
            <a:endParaRPr lang="en-US" sz="1300" dirty="0"/>
          </a:p>
        </p:txBody>
      </p:sp>
      <p:sp>
        <p:nvSpPr>
          <p:cNvPr id="8" name="Text 5"/>
          <p:cNvSpPr txBox="1"/>
          <p:nvPr/>
        </p:nvSpPr>
        <p:spPr>
          <a:xfrm>
            <a:off x="1115568" y="226771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Commit balance and history together</a:t>
            </a:r>
            <a:endParaRPr lang="en-US" sz="2000" dirty="0"/>
          </a:p>
        </p:txBody>
      </p:sp>
      <p:sp>
        <p:nvSpPr>
          <p:cNvPr id="9" name="Text 6"/>
          <p:cNvSpPr txBox="1"/>
          <p:nvPr/>
        </p:nvSpPr>
        <p:spPr>
          <a:xfrm>
            <a:off x="585216" y="3319272"/>
            <a:ext cx="411480" cy="274320"/>
          </a:xfrm>
          <a:prstGeom prst="rect">
            <a:avLst/>
          </a:prstGeom>
          <a:noFill/>
          <a:ln/>
        </p:spPr>
        <p:txBody>
          <a:bodyPr wrap="square" lIns="0" tIns="0" rIns="0" bIns="0" rtlCol="0" anchor="t"/>
          <a:lstStyle/>
          <a:p>
            <a:pPr indent="0" marL="0">
              <a:buNone/>
            </a:pPr>
            <a:r>
              <a:rPr lang="en-US" sz="1300" b="1" dirty="0">
                <a:solidFill>
                  <a:srgbClr val="00F604"/>
                </a:solidFill>
                <a:latin typeface="Avenir Next" pitchFamily="34" charset="0"/>
                <a:ea typeface="Avenir Next" pitchFamily="34" charset="-122"/>
                <a:cs typeface="Avenir Next" pitchFamily="34" charset="-120"/>
              </a:rPr>
              <a:t>03</a:t>
            </a:r>
            <a:endParaRPr lang="en-US" sz="1300" dirty="0"/>
          </a:p>
        </p:txBody>
      </p:sp>
      <p:sp>
        <p:nvSpPr>
          <p:cNvPr id="10" name="Text 7"/>
          <p:cNvSpPr txBox="1"/>
          <p:nvPr/>
        </p:nvSpPr>
        <p:spPr>
          <a:xfrm>
            <a:off x="1115568" y="3273552"/>
            <a:ext cx="2743200" cy="512064"/>
          </a:xfrm>
          <a:prstGeom prst="rect">
            <a:avLst/>
          </a:prstGeom>
          <a:noFill/>
          <a:ln/>
        </p:spPr>
        <p:txBody>
          <a:bodyPr wrap="square" lIns="0" tIns="0" rIns="0" bIns="0" rtlCol="0" anchor="t">
            <a:normAutofit/>
          </a:bodyPr>
          <a:lstStyle/>
          <a:p>
            <a:pPr indent="0" marL="0">
              <a:buNone/>
            </a:pPr>
            <a:r>
              <a:rPr lang="en-US" sz="2000" b="1" dirty="0">
                <a:solidFill>
                  <a:srgbClr val="F5F5F5"/>
                </a:solidFill>
                <a:latin typeface="Avenir Next" pitchFamily="34" charset="0"/>
                <a:ea typeface="Avenir Next" pitchFamily="34" charset="-122"/>
                <a:cs typeface="Avenir Next" pitchFamily="34" charset="-120"/>
              </a:rPr>
              <a:t>Reject stale writes</a:t>
            </a:r>
            <a:endParaRPr lang="en-US" sz="2000" dirty="0"/>
          </a:p>
        </p:txBody>
      </p:sp>
      <p:sp>
        <p:nvSpPr>
          <p:cNvPr id="11" name="Shape 8"/>
          <p:cNvSpPr/>
          <p:nvPr/>
        </p:nvSpPr>
        <p:spPr>
          <a:xfrm>
            <a:off x="4233672" y="1133856"/>
            <a:ext cx="4325112" cy="3282696"/>
          </a:xfrm>
          <a:prstGeom prst="rect">
            <a:avLst/>
          </a:prstGeom>
          <a:solidFill>
            <a:srgbClr val="1B1B1B"/>
          </a:solidFill>
          <a:ln w="10160">
            <a:solidFill>
              <a:srgbClr val="333333"/>
            </a:solidFill>
            <a:prstDash val="solid"/>
          </a:ln>
        </p:spPr>
      </p:sp>
      <p:pic>
        <p:nvPicPr>
          <p:cNvPr id="12" name="Image 0" descr="/Users/john/theborg/repos/atm/design/screenshots/overdraft.png">    </p:cNvPr>
          <p:cNvPicPr>
            <a:picLocks noChangeAspect="1"/>
          </p:cNvPicPr>
          <p:nvPr/>
        </p:nvPicPr>
        <p:blipFill>
          <a:blip r:embed="rId1"/>
          <a:stretch>
            <a:fillRect/>
          </a:stretch>
        </p:blipFill>
        <p:spPr>
          <a:xfrm>
            <a:off x="4270248" y="1170432"/>
            <a:ext cx="4251960" cy="3209544"/>
          </a:xfrm>
          <a:prstGeom prst="rect">
            <a:avLst/>
          </a:prstGeom>
        </p:spPr>
      </p:pic>
      <p:sp>
        <p:nvSpPr>
          <p:cNvPr id="13" name="Text 9"/>
          <p:cNvSpPr txBox="1"/>
          <p:nvPr/>
        </p:nvSpPr>
        <p:spPr>
          <a:xfrm>
            <a:off x="4233672" y="4489704"/>
            <a:ext cx="4325112" cy="201168"/>
          </a:xfrm>
          <a:prstGeom prst="rect">
            <a:avLst/>
          </a:prstGeom>
          <a:noFill/>
          <a:ln/>
        </p:spPr>
        <p:txBody>
          <a:bodyPr wrap="square" lIns="0" tIns="0" rIns="0" bIns="0" rtlCol="0" anchor="t">
            <a:normAutofit/>
          </a:bodyPr>
          <a:lstStyle/>
          <a:p>
            <a:pPr algn="r" indent="0" marL="0">
              <a:buNone/>
            </a:pPr>
            <a:r>
              <a:rPr lang="en-US" sz="1150" b="1" dirty="0">
                <a:solidFill>
                  <a:srgbClr val="00F604"/>
                </a:solidFill>
                <a:latin typeface="Avenir Next" pitchFamily="34" charset="0"/>
                <a:ea typeface="Avenir Next" pitchFamily="34" charset="-122"/>
                <a:cs typeface="Avenir Next" pitchFamily="34" charset="-120"/>
              </a:rPr>
              <a:t>Rejected overdraft. Persisted state stays unchanged.</a:t>
            </a:r>
            <a:endParaRPr lang="en-US" sz="11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143 tests by layer</a:t>
            </a:r>
            <a:endParaRPr lang="en-US" sz="3200" dirty="0"/>
          </a:p>
        </p:txBody>
      </p:sp>
      <p:sp>
        <p:nvSpPr>
          <p:cNvPr id="5" name="Text 2"/>
          <p:cNvSpPr txBox="1"/>
          <p:nvPr/>
        </p:nvSpPr>
        <p:spPr>
          <a:xfrm>
            <a:off x="585216" y="1225296"/>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75</a:t>
            </a:r>
            <a:endParaRPr lang="en-US" sz="3400" dirty="0"/>
          </a:p>
        </p:txBody>
      </p:sp>
      <p:sp>
        <p:nvSpPr>
          <p:cNvPr id="6" name="Text 3"/>
          <p:cNvSpPr txBox="1"/>
          <p:nvPr/>
        </p:nvSpPr>
        <p:spPr>
          <a:xfrm>
            <a:off x="1508760" y="1243584"/>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Domain</a:t>
            </a:r>
            <a:endParaRPr lang="en-US" sz="1600" dirty="0"/>
          </a:p>
        </p:txBody>
      </p:sp>
      <p:sp>
        <p:nvSpPr>
          <p:cNvPr id="7" name="Text 4"/>
          <p:cNvSpPr txBox="1"/>
          <p:nvPr/>
        </p:nvSpPr>
        <p:spPr>
          <a:xfrm>
            <a:off x="1508760" y="1572768"/>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Invariants</a:t>
            </a:r>
            <a:endParaRPr lang="en-US" sz="1200" dirty="0"/>
          </a:p>
        </p:txBody>
      </p:sp>
      <p:sp>
        <p:nvSpPr>
          <p:cNvPr id="8" name="Text 5"/>
          <p:cNvSpPr txBox="1"/>
          <p:nvPr/>
        </p:nvSpPr>
        <p:spPr>
          <a:xfrm>
            <a:off x="585216" y="2203704"/>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33</a:t>
            </a:r>
            <a:endParaRPr lang="en-US" sz="3400" dirty="0"/>
          </a:p>
        </p:txBody>
      </p:sp>
      <p:sp>
        <p:nvSpPr>
          <p:cNvPr id="9" name="Text 6"/>
          <p:cNvSpPr txBox="1"/>
          <p:nvPr/>
        </p:nvSpPr>
        <p:spPr>
          <a:xfrm>
            <a:off x="1508760" y="2221992"/>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Application</a:t>
            </a:r>
            <a:endParaRPr lang="en-US" sz="1600" dirty="0"/>
          </a:p>
        </p:txBody>
      </p:sp>
      <p:sp>
        <p:nvSpPr>
          <p:cNvPr id="10" name="Text 7"/>
          <p:cNvSpPr txBox="1"/>
          <p:nvPr/>
        </p:nvSpPr>
        <p:spPr>
          <a:xfrm>
            <a:off x="1508760" y="2551176"/>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Orchestration</a:t>
            </a:r>
            <a:endParaRPr lang="en-US" sz="1200" dirty="0"/>
          </a:p>
        </p:txBody>
      </p:sp>
      <p:sp>
        <p:nvSpPr>
          <p:cNvPr id="11" name="Text 8"/>
          <p:cNvSpPr txBox="1"/>
          <p:nvPr/>
        </p:nvSpPr>
        <p:spPr>
          <a:xfrm>
            <a:off x="585216" y="3182112"/>
            <a:ext cx="841248" cy="475488"/>
          </a:xfrm>
          <a:prstGeom prst="rect">
            <a:avLst/>
          </a:prstGeom>
          <a:noFill/>
          <a:ln/>
        </p:spPr>
        <p:txBody>
          <a:bodyPr wrap="square" lIns="0" tIns="0" rIns="0" bIns="0" rtlCol="0" anchor="t"/>
          <a:lstStyle/>
          <a:p>
            <a:pPr indent="0" marL="0">
              <a:buNone/>
            </a:pPr>
            <a:r>
              <a:rPr lang="en-US" sz="3400" b="1" dirty="0">
                <a:solidFill>
                  <a:srgbClr val="00F604"/>
                </a:solidFill>
                <a:latin typeface="Avenir Next" pitchFamily="34" charset="0"/>
                <a:ea typeface="Avenir Next" pitchFamily="34" charset="-122"/>
                <a:cs typeface="Avenir Next" pitchFamily="34" charset="-120"/>
              </a:rPr>
              <a:t>35</a:t>
            </a:r>
            <a:endParaRPr lang="en-US" sz="3400" dirty="0"/>
          </a:p>
        </p:txBody>
      </p:sp>
      <p:sp>
        <p:nvSpPr>
          <p:cNvPr id="12" name="Text 9"/>
          <p:cNvSpPr txBox="1"/>
          <p:nvPr/>
        </p:nvSpPr>
        <p:spPr>
          <a:xfrm>
            <a:off x="1508760" y="3200400"/>
            <a:ext cx="2075688" cy="256032"/>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Integration + HTTP</a:t>
            </a:r>
            <a:endParaRPr lang="en-US" sz="1600" dirty="0"/>
          </a:p>
        </p:txBody>
      </p:sp>
      <p:sp>
        <p:nvSpPr>
          <p:cNvPr id="13" name="Text 10"/>
          <p:cNvSpPr txBox="1"/>
          <p:nvPr/>
        </p:nvSpPr>
        <p:spPr>
          <a:xfrm>
            <a:off x="1508760" y="3529584"/>
            <a:ext cx="2075688" cy="219456"/>
          </a:xfrm>
          <a:prstGeom prst="rect">
            <a:avLst/>
          </a:prstGeom>
          <a:noFill/>
          <a:ln/>
        </p:spPr>
        <p:txBody>
          <a:bodyPr wrap="square" lIns="0" tIns="0" rIns="0" bIns="0" rtlCol="0" anchor="t">
            <a:normAutofit/>
          </a:bodyPr>
          <a:lstStyle/>
          <a:p>
            <a:pPr indent="0" marL="0">
              <a:buNone/>
            </a:pPr>
            <a:r>
              <a:rPr lang="en-US" sz="1200" dirty="0">
                <a:solidFill>
                  <a:srgbClr val="A9ADB3"/>
                </a:solidFill>
                <a:latin typeface="Avenir Next" pitchFamily="34" charset="0"/>
                <a:ea typeface="Avenir Next" pitchFamily="34" charset="-122"/>
                <a:cs typeface="Avenir Next" pitchFamily="34" charset="-120"/>
              </a:rPr>
              <a:t>Persistence and HTTP</a:t>
            </a:r>
            <a:endParaRPr lang="en-US" sz="1200" dirty="0"/>
          </a:p>
        </p:txBody>
      </p:sp>
      <p:sp>
        <p:nvSpPr>
          <p:cNvPr id="14" name="Shape 11"/>
          <p:cNvSpPr/>
          <p:nvPr/>
        </p:nvSpPr>
        <p:spPr>
          <a:xfrm>
            <a:off x="4800600" y="1115568"/>
            <a:ext cx="3758184" cy="2926080"/>
          </a:xfrm>
          <a:prstGeom prst="rect">
            <a:avLst/>
          </a:prstGeom>
          <a:solidFill>
            <a:srgbClr val="1B1B1B"/>
          </a:solidFill>
          <a:ln w="10160">
            <a:solidFill>
              <a:srgbClr val="333333"/>
            </a:solidFill>
            <a:prstDash val="solid"/>
          </a:ln>
        </p:spPr>
      </p:sp>
      <p:pic>
        <p:nvPicPr>
          <p:cNvPr id="15" name="Image 0" descr="/Users/john/theborg/repos/atm/design/screenshots/receipt.png">    </p:cNvPr>
          <p:cNvPicPr>
            <a:picLocks noChangeAspect="1"/>
          </p:cNvPicPr>
          <p:nvPr/>
        </p:nvPicPr>
        <p:blipFill>
          <a:blip r:embed="rId1"/>
          <a:stretch>
            <a:fillRect/>
          </a:stretch>
        </p:blipFill>
        <p:spPr>
          <a:xfrm>
            <a:off x="4837176" y="1152144"/>
            <a:ext cx="3685032" cy="2852928"/>
          </a:xfrm>
          <a:prstGeom prst="rect">
            <a:avLst/>
          </a:prstGeom>
        </p:spPr>
      </p:pic>
      <p:sp>
        <p:nvSpPr>
          <p:cNvPr id="16" name="Text 12"/>
          <p:cNvSpPr txBox="1"/>
          <p:nvPr/>
        </p:nvSpPr>
        <p:spPr>
          <a:xfrm>
            <a:off x="4800600" y="4187952"/>
            <a:ext cx="3758184" cy="219456"/>
          </a:xfrm>
          <a:prstGeom prst="rect">
            <a:avLst/>
          </a:prstGeom>
          <a:noFill/>
          <a:ln/>
        </p:spPr>
        <p:txBody>
          <a:bodyPr wrap="square" lIns="0" tIns="0" rIns="0" bIns="0" rtlCol="0" anchor="t"/>
          <a:lstStyle/>
          <a:p>
            <a:pPr algn="r" indent="0" marL="0">
              <a:buNone/>
            </a:pPr>
            <a:r>
              <a:rPr lang="en-US" sz="1200" dirty="0">
                <a:solidFill>
                  <a:srgbClr val="00F604"/>
                </a:solidFill>
                <a:latin typeface="Avenir Next" pitchFamily="34" charset="0"/>
                <a:ea typeface="Avenir Next" pitchFamily="34" charset="-122"/>
                <a:cs typeface="Avenir Next" pitchFamily="34" charset="-120"/>
              </a:rPr>
              <a:t>Success receipt after Post/Redirect/Get.</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21212"/>
        </a:solidFill>
      </p:bgPr>
    </p:bg>
    <p:spTree>
      <p:nvGrpSpPr>
        <p:cNvPr id="1" name=""/>
        <p:cNvGrpSpPr/>
        <p:nvPr/>
      </p:nvGrpSpPr>
      <p:grpSpPr>
        <a:xfrm>
          <a:off x="0" y="0"/>
          <a:ext cx="0" cy="0"/>
          <a:chOff x="0" y="0"/>
          <a:chExt cx="0" cy="0"/>
        </a:xfrm>
      </p:grpSpPr>
      <p:sp>
        <p:nvSpPr>
          <p:cNvPr id="2" name="Shape 0"/>
          <p:cNvSpPr/>
          <p:nvPr/>
        </p:nvSpPr>
        <p:spPr>
          <a:xfrm>
            <a:off x="585216" y="356616"/>
            <a:ext cx="91440" cy="438912"/>
          </a:xfrm>
          <a:prstGeom prst="rect">
            <a:avLst/>
          </a:prstGeom>
          <a:solidFill>
            <a:srgbClr val="00F604"/>
          </a:solidFill>
          <a:ln w="12700">
            <a:solidFill>
              <a:srgbClr val="00F604">
                <a:alpha val="0"/>
              </a:srgbClr>
            </a:solidFill>
            <a:prstDash val="solid"/>
          </a:ln>
        </p:spPr>
      </p:sp>
      <p:sp>
        <p:nvSpPr>
          <p:cNvPr id="3" name="Text 1"/>
          <p:cNvSpPr txBox="1"/>
          <p:nvPr/>
        </p:nvSpPr>
        <p:spPr>
          <a:xfrm>
            <a:off x="832104" y="356616"/>
            <a:ext cx="7726680" cy="512064"/>
          </a:xfrm>
          <a:prstGeom prst="rect">
            <a:avLst/>
          </a:prstGeom>
          <a:noFill/>
          <a:ln/>
        </p:spPr>
        <p:txBody>
          <a:bodyPr wrap="square" lIns="0" tIns="0" rIns="0" bIns="0" rtlCol="0" anchor="t">
            <a:normAutofit/>
          </a:bodyPr>
          <a:lstStyle/>
          <a:p>
            <a:pPr indent="0" marL="0">
              <a:buNone/>
            </a:pPr>
            <a:r>
              <a:rPr lang="en-US" sz="3200" b="1" dirty="0">
                <a:solidFill>
                  <a:srgbClr val="F5F5F5"/>
                </a:solidFill>
                <a:latin typeface="Avenir Next" pitchFamily="34" charset="0"/>
                <a:ea typeface="Avenir Next" pitchFamily="34" charset="-122"/>
                <a:cs typeface="Avenir Next" pitchFamily="34" charset="-120"/>
              </a:rPr>
              <a:t>Tradeoffs and roadmap</a:t>
            </a:r>
            <a:endParaRPr lang="en-US" sz="3200" dirty="0"/>
          </a:p>
        </p:txBody>
      </p:sp>
      <p:sp>
        <p:nvSpPr>
          <p:cNvPr id="5" name="Text 2"/>
          <p:cNvSpPr txBox="1"/>
          <p:nvPr/>
        </p:nvSpPr>
        <p:spPr>
          <a:xfrm>
            <a:off x="585216" y="1188720"/>
            <a:ext cx="2240280" cy="228600"/>
          </a:xfrm>
          <a:prstGeom prst="rect">
            <a:avLst/>
          </a:prstGeom>
          <a:noFill/>
          <a:ln/>
        </p:spPr>
        <p:txBody>
          <a:bodyPr wrap="square" lIns="0" tIns="0" rIns="0" bIns="0" rtlCol="0" anchor="t">
            <a:normAutofit/>
          </a:bodyPr>
          <a:lstStyle/>
          <a:p>
            <a:pPr indent="0" marL="0">
              <a:buNone/>
            </a:pPr>
            <a:r>
              <a:rPr lang="en-US" sz="1100" b="1" spc="160" kern="0" dirty="0">
                <a:solidFill>
                  <a:srgbClr val="F67F00"/>
                </a:solidFill>
                <a:latin typeface="Avenir Next" pitchFamily="34" charset="0"/>
                <a:ea typeface="Avenir Next" pitchFamily="34" charset="-122"/>
                <a:cs typeface="Avenir Next" pitchFamily="34" charset="-120"/>
              </a:rPr>
              <a:t>OMITTED</a:t>
            </a:r>
            <a:endParaRPr lang="en-US" sz="1100" dirty="0"/>
          </a:p>
        </p:txBody>
      </p:sp>
      <p:sp>
        <p:nvSpPr>
          <p:cNvPr id="6" name="Text 3"/>
          <p:cNvSpPr txBox="1"/>
          <p:nvPr/>
        </p:nvSpPr>
        <p:spPr>
          <a:xfrm>
            <a:off x="585216" y="1627632"/>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Identity</a:t>
            </a:r>
            <a:endParaRPr lang="en-US" sz="1900" dirty="0"/>
          </a:p>
        </p:txBody>
      </p:sp>
      <p:sp>
        <p:nvSpPr>
          <p:cNvPr id="7" name="Text 4"/>
          <p:cNvSpPr txBox="1"/>
          <p:nvPr/>
        </p:nvSpPr>
        <p:spPr>
          <a:xfrm>
            <a:off x="585216" y="2286000"/>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Banking breadth</a:t>
            </a:r>
            <a:endParaRPr lang="en-US" sz="1900" dirty="0"/>
          </a:p>
        </p:txBody>
      </p:sp>
      <p:sp>
        <p:nvSpPr>
          <p:cNvPr id="8" name="Text 5"/>
          <p:cNvSpPr txBox="1"/>
          <p:nvPr/>
        </p:nvSpPr>
        <p:spPr>
          <a:xfrm>
            <a:off x="585216" y="2944368"/>
            <a:ext cx="2240280" cy="320040"/>
          </a:xfrm>
          <a:prstGeom prst="rect">
            <a:avLst/>
          </a:prstGeom>
          <a:noFill/>
          <a:ln/>
        </p:spPr>
        <p:txBody>
          <a:bodyPr wrap="square" lIns="0" tIns="0" rIns="0" bIns="0" rtlCol="0" anchor="t">
            <a:normAutofit/>
          </a:bodyPr>
          <a:lstStyle/>
          <a:p>
            <a:pPr indent="0" marL="0">
              <a:buNone/>
            </a:pPr>
            <a:r>
              <a:rPr lang="en-US" sz="1900" b="1" dirty="0">
                <a:solidFill>
                  <a:srgbClr val="F5F5F5"/>
                </a:solidFill>
                <a:latin typeface="Avenir Next" pitchFamily="34" charset="0"/>
                <a:ea typeface="Avenir Next" pitchFamily="34" charset="-122"/>
                <a:cs typeface="Avenir Next" pitchFamily="34" charset="-120"/>
              </a:rPr>
              <a:t>Distributed operations</a:t>
            </a:r>
            <a:endParaRPr lang="en-US" sz="1900" dirty="0"/>
          </a:p>
        </p:txBody>
      </p:sp>
      <p:sp>
        <p:nvSpPr>
          <p:cNvPr id="9" name="Shape 6"/>
          <p:cNvSpPr/>
          <p:nvPr/>
        </p:nvSpPr>
        <p:spPr>
          <a:xfrm>
            <a:off x="3054096" y="1179576"/>
            <a:ext cx="0" cy="3054096"/>
          </a:xfrm>
          <a:prstGeom prst="line">
            <a:avLst/>
          </a:prstGeom>
          <a:noFill/>
          <a:ln w="12700">
            <a:solidFill>
              <a:srgbClr val="333333"/>
            </a:solidFill>
            <a:prstDash val="solid"/>
          </a:ln>
        </p:spPr>
      </p:sp>
      <p:sp>
        <p:nvSpPr>
          <p:cNvPr id="10" name="Text 7"/>
          <p:cNvSpPr txBox="1"/>
          <p:nvPr/>
        </p:nvSpPr>
        <p:spPr>
          <a:xfrm>
            <a:off x="3383280" y="1188720"/>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NEXT</a:t>
            </a:r>
            <a:endParaRPr lang="en-US" sz="1100" dirty="0"/>
          </a:p>
        </p:txBody>
      </p:sp>
      <p:sp>
        <p:nvSpPr>
          <p:cNvPr id="11" name="Text 8"/>
          <p:cNvSpPr txBox="1"/>
          <p:nvPr/>
        </p:nvSpPr>
        <p:spPr>
          <a:xfrm>
            <a:off x="3383280" y="1536192"/>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Double-submit protection, auditing, authentication</a:t>
            </a:r>
            <a:endParaRPr lang="en-US" sz="1600" dirty="0"/>
          </a:p>
        </p:txBody>
      </p:sp>
      <p:sp>
        <p:nvSpPr>
          <p:cNvPr id="12" name="Text 9"/>
          <p:cNvSpPr txBox="1"/>
          <p:nvPr/>
        </p:nvSpPr>
        <p:spPr>
          <a:xfrm>
            <a:off x="3383280" y="2167128"/>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THEN</a:t>
            </a:r>
            <a:endParaRPr lang="en-US" sz="1100" dirty="0"/>
          </a:p>
        </p:txBody>
      </p:sp>
      <p:sp>
        <p:nvSpPr>
          <p:cNvPr id="13" name="Text 10"/>
          <p:cNvSpPr txBox="1"/>
          <p:nvPr/>
        </p:nvSpPr>
        <p:spPr>
          <a:xfrm>
            <a:off x="3383280" y="2514600"/>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Accessibility, observability, load tests</a:t>
            </a:r>
            <a:endParaRPr lang="en-US" sz="1600" dirty="0"/>
          </a:p>
        </p:txBody>
      </p:sp>
      <p:sp>
        <p:nvSpPr>
          <p:cNvPr id="14" name="Text 11"/>
          <p:cNvSpPr txBox="1"/>
          <p:nvPr/>
        </p:nvSpPr>
        <p:spPr>
          <a:xfrm>
            <a:off x="3383280" y="3145536"/>
            <a:ext cx="731520" cy="228600"/>
          </a:xfrm>
          <a:prstGeom prst="rect">
            <a:avLst/>
          </a:prstGeom>
          <a:noFill/>
          <a:ln/>
        </p:spPr>
        <p:txBody>
          <a:bodyPr wrap="square" lIns="0" tIns="0" rIns="0" bIns="0" rtlCol="0" anchor="t">
            <a:normAutofit/>
          </a:bodyPr>
          <a:lstStyle/>
          <a:p>
            <a:pPr indent="0" marL="0">
              <a:buNone/>
            </a:pPr>
            <a:r>
              <a:rPr lang="en-US" sz="1100" b="1" spc="160" kern="0" dirty="0">
                <a:solidFill>
                  <a:srgbClr val="00F604"/>
                </a:solidFill>
                <a:latin typeface="Avenir Next" pitchFamily="34" charset="0"/>
                <a:ea typeface="Avenir Next" pitchFamily="34" charset="-122"/>
                <a:cs typeface="Avenir Next" pitchFamily="34" charset="-120"/>
              </a:rPr>
              <a:t>LATER</a:t>
            </a:r>
            <a:endParaRPr lang="en-US" sz="1100" dirty="0"/>
          </a:p>
        </p:txBody>
      </p:sp>
      <p:sp>
        <p:nvSpPr>
          <p:cNvPr id="15" name="Text 12"/>
          <p:cNvSpPr txBox="1"/>
          <p:nvPr/>
        </p:nvSpPr>
        <p:spPr>
          <a:xfrm>
            <a:off x="3383280" y="3493008"/>
            <a:ext cx="2743200" cy="475488"/>
          </a:xfrm>
          <a:prstGeom prst="rect">
            <a:avLst/>
          </a:prstGeom>
          <a:noFill/>
          <a:ln/>
        </p:spPr>
        <p:txBody>
          <a:bodyPr wrap="square" lIns="0" tIns="0" rIns="0" bIns="0" rtlCol="0" anchor="t">
            <a:normAutofit/>
          </a:bodyPr>
          <a:lstStyle/>
          <a:p>
            <a:pPr indent="0" marL="0">
              <a:buNone/>
            </a:pPr>
            <a:r>
              <a:rPr lang="en-US" sz="1600" b="1" dirty="0">
                <a:solidFill>
                  <a:srgbClr val="F5F5F5"/>
                </a:solidFill>
                <a:latin typeface="Avenir Next" pitchFamily="34" charset="0"/>
                <a:ea typeface="Avenir Next" pitchFamily="34" charset="-122"/>
                <a:cs typeface="Avenir Next" pitchFamily="34" charset="-120"/>
              </a:rPr>
              <a:t>Deployment, browser coverage</a:t>
            </a:r>
            <a:endParaRPr lang="en-US" sz="1600" dirty="0"/>
          </a:p>
        </p:txBody>
      </p:sp>
      <p:sp>
        <p:nvSpPr>
          <p:cNvPr id="16" name="Shape 13"/>
          <p:cNvSpPr/>
          <p:nvPr/>
        </p:nvSpPr>
        <p:spPr>
          <a:xfrm>
            <a:off x="6986016" y="1078992"/>
            <a:ext cx="1005840" cy="3310128"/>
          </a:xfrm>
          <a:prstGeom prst="rect">
            <a:avLst/>
          </a:prstGeom>
          <a:solidFill>
            <a:srgbClr val="1B1B1B"/>
          </a:solidFill>
          <a:ln w="10160">
            <a:solidFill>
              <a:srgbClr val="333333"/>
            </a:solidFill>
            <a:prstDash val="solid"/>
          </a:ln>
        </p:spPr>
      </p:sp>
      <p:pic>
        <p:nvPicPr>
          <p:cNvPr id="17" name="Image 0" descr="/Users/john/theborg/repos/atm/design/screenshots/phone.png">    </p:cNvPr>
          <p:cNvPicPr>
            <a:picLocks noChangeAspect="1"/>
          </p:cNvPicPr>
          <p:nvPr/>
        </p:nvPicPr>
        <p:blipFill>
          <a:blip r:embed="rId1"/>
          <a:stretch>
            <a:fillRect/>
          </a:stretch>
        </p:blipFill>
        <p:spPr>
          <a:xfrm>
            <a:off x="7022592" y="1115568"/>
            <a:ext cx="932688" cy="3236976"/>
          </a:xfrm>
          <a:prstGeom prst="rect">
            <a:avLst/>
          </a:prstGeom>
        </p:spPr>
      </p:pic>
      <p:sp>
        <p:nvSpPr>
          <p:cNvPr id="18" name="Text 14"/>
          <p:cNvSpPr txBox="1"/>
          <p:nvPr/>
        </p:nvSpPr>
        <p:spPr>
          <a:xfrm>
            <a:off x="6309360" y="4489704"/>
            <a:ext cx="2359152" cy="164592"/>
          </a:xfrm>
          <a:prstGeom prst="rect">
            <a:avLst/>
          </a:prstGeom>
          <a:noFill/>
          <a:ln/>
        </p:spPr>
        <p:txBody>
          <a:bodyPr wrap="square" lIns="0" tIns="0" rIns="0" bIns="0" rtlCol="0" anchor="t">
            <a:normAutofit/>
          </a:bodyPr>
          <a:lstStyle/>
          <a:p>
            <a:pPr algn="ctr" indent="0" marL="0">
              <a:buNone/>
            </a:pPr>
            <a:r>
              <a:rPr lang="en-US" sz="1050" dirty="0">
                <a:solidFill>
                  <a:srgbClr val="00F604"/>
                </a:solidFill>
                <a:latin typeface="Avenir Next" pitchFamily="34" charset="0"/>
                <a:ea typeface="Avenir Next" pitchFamily="34" charset="-122"/>
                <a:cs typeface="Avenir Next" pitchFamily="34" charset="-120"/>
              </a:rPr>
              <a:t>Responsive at 380 px.</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venir N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N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ATM Coding Exercise</dc:title>
  <dc:subject>ATM coding exercise: architecture, correctness, and delivery</dc:subject>
  <dc:creator>John DiFini</dc:creator>
  <cp:lastModifiedBy>John DiFini</cp:lastModifiedBy>
  <cp:revision>1</cp:revision>
  <dcterms:created xsi:type="dcterms:W3CDTF">2026-09-26T22:40:49Z</dcterms:created>
  <dcterms:modified xsi:type="dcterms:W3CDTF">2026-09-26T22:40:49Z</dcterms:modified>
</cp:coreProperties>
</file>